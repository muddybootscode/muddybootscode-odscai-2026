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86" r:id="rId2"/>
    <p:sldId id="258" r:id="rId3"/>
    <p:sldId id="262" r:id="rId4"/>
    <p:sldId id="263" r:id="rId5"/>
    <p:sldId id="264" r:id="rId6"/>
    <p:sldId id="259" r:id="rId7"/>
    <p:sldId id="260" r:id="rId8"/>
    <p:sldId id="256" r:id="rId9"/>
    <p:sldId id="261" r:id="rId10"/>
    <p:sldId id="265" r:id="rId11"/>
    <p:sldId id="266" r:id="rId12"/>
    <p:sldId id="267" r:id="rId13"/>
    <p:sldId id="271" r:id="rId14"/>
    <p:sldId id="285" r:id="rId15"/>
    <p:sldId id="273" r:id="rId16"/>
    <p:sldId id="272" r:id="rId17"/>
    <p:sldId id="280" r:id="rId18"/>
    <p:sldId id="287" r:id="rId19"/>
    <p:sldId id="274" r:id="rId20"/>
    <p:sldId id="277" r:id="rId21"/>
    <p:sldId id="275" r:id="rId22"/>
    <p:sldId id="276" r:id="rId23"/>
    <p:sldId id="279" r:id="rId24"/>
    <p:sldId id="281" r:id="rId25"/>
    <p:sldId id="282" r:id="rId26"/>
    <p:sldId id="283" r:id="rId27"/>
    <p:sldId id="257" r:id="rId28"/>
    <p:sldId id="284" r:id="rId29"/>
  </p:sldIdLst>
  <p:sldSz cx="12192000" cy="6858000"/>
  <p:notesSz cx="6858000" cy="12192000"/>
  <p:embeddedFontLst>
    <p:embeddedFont>
      <p:font typeface="Inter" panose="02000503000000020004"/>
      <p:regular r:id="rId31"/>
      <p:bold r:id="rId32"/>
      <p:italic r:id="rId33"/>
      <p:boldItalic r:id="rId34"/>
    </p:embeddedFont>
    <p:embeddedFont>
      <p:font typeface="JetBrains Mono" panose="02000009000000000000"/>
      <p:regular r:id="rId35"/>
      <p:bold r:id="rId36"/>
    </p:embeddedFont>
    <p:embeddedFont>
      <p:font typeface="Oswald" pitchFamily="2" charset="77"/>
      <p:regular r:id="rId37"/>
      <p:bold r:id="rId3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2"/>
    <p:restoredTop sz="94589"/>
  </p:normalViewPr>
  <p:slideViewPr>
    <p:cSldViewPr snapToGrid="0" snapToObjects="1">
      <p:cViewPr varScale="1">
        <p:scale>
          <a:sx n="120" d="100"/>
          <a:sy n="120" d="100"/>
        </p:scale>
        <p:origin x="3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5602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ODSC title card (mandatory as slide 1), restyled to the deck’s colors and fonts. - Up while the room fills and the host introduces you. - Open with the one-line claim: a one-person shop shipping production software in three industries that share nothing. What makes it work isn’t the model. It’s the context I hand it. CUE Before 0:00 · Up during the introduction. Advance to “Context is the team.” when you start.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Moved from the desert to the Blanco River. A community devastated by flooding. Personal. - The question: when the river rises, what do people need to know, and how soon? - Lives depend on getting it right. - Close word for word: “Before I wrote a line of code, I had to learn to speak the language of the domain.” CUE 1:00–3:00 · Click to play (1:42, with audio, May 2015 event). The last line sets up “The language of flood management.”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language I had to learn before writing anything useful. - Stage: water-surface height against a gauge’s reference. Not depth. - Forecast crest: highest predicted stage for an event, with a time. - Flood stage of 13 ft: not the river’s. It belongs to one forecast point. - Why it matters: the system has to know what a forecast is for. A forecast nobody acts on is no warning. - How the ontology got built, by discovery: – I asked the LLM dumb questions. It read the data and asked me back. – Where neither of us knew → the people who watch this river, my brother included. – Every answer went into the ontology. CUE 7:30–8:30 · Three questions build. Optional: take one answer from the room only if ahead of time. Nothing here calculates a hydrologic forecast or issues an official warning.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Crayons and glue, applied. - 1 · The things: gauge, forecast point, observed stage, forecast crest, flood stage. – Stage = a height. Crest = a prediction with a time. Flood stage = belongs to a place. - 2 · The connections: – Readings are measured at gauges. – Each gauge is upstream of the next, and the edge carries a travel time. – Travel time + how fast upstream is rising = what makes a forecast possible. – A flood stage applies to one point. - 3 · The rule, FLOOD-01: a valid forecast at or above flood stage is forecast flooding, even while the observed stage is below. – Why: waiting for observed flooding loses the chance to warn. - Wimberley thresholds are real: action 10, minor 13, moderate 17, major 26 (NWS). Every point has its own. You can’t guess it. - Formal name: an ontology. Context the model can’t be expected to know or guess. CUE 8:30–10:00 · Cards left to right, then the threshold strip, then the formal-name line. Code stays closed. Thresholds are published; the next slide’s readings are invented. SOURCE · NWS water.noaa.gov/gauges/wmbt2 (USGS 08171000 → WMBT2); USGS rating-curve FAQ.</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one rule is worth. Same reading, two answers. - Noon: gauge reads 11 ft. Flood stage is 13. - Upstream gauges rising + known travel time → crest of 18 ft at 4 p.m. - Without the domain: is 11 above 13? No. No warning until the river rises 2 more feet. - With the ontology: a forecast at flood stage is flooding that hasn’t arrived. Warn at noon, 4 hours ahead. - Say: “An ontology doesn’t stop a flood. It stops software from throwing away a warning.” - Why minutes matter: May 2015, Wimberley went from ~5 ft at 9 p.m. to ~41 ft by 1 a.m. Below flood stage to major in 45 minutes. - Next: back home, oil and gas. CUE 10:00–11:30 · Builds: three numbers, four chain links, two answers. - Keep it honest: the graph captures upstream rise and travel time; official NWS crests also use rainfall and hydrologic models. - Don’t imply forecasters failed: NWS issued flash flood warnings at 4:13, 8:23 and 11:13 p.m. and a flash flood emergency at 11:24 p.m. SOURCE · 11 ft, 18 ft and 4 p.m. are invented teaching values; 13 ft is the published Wimberley flood stage (NWS WMBT2); 2015 figures from the NWS Austin/San Antonio event summary, weather.gov/media/ewx/wxevents/ewx-20150524.pdf.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Michael Porter. Marine → security contractor → federal agent → oil field hand. - Kept meeting people doing hard jobs with tools that made it harder. - Automated data entry → asked friends for their problems → bigger projects → Muddy Boots Code, 2018. - Mission: hand people better tools. - Every crew: somebody had your back, caught what you missed. - Now it’s me and a coding agent. What replaces the crew? Hold that question. CUE 3:00–3:45 · 30–45s. Don’t read the columns. Pays off on “Context is the team.”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Marine habit: break it down to crayons and glue. – What are the things? – How do they connect? – What has to be true, and why? - If I can make it clear to a person, I can make it clear to a coding agent. - How I learn a domain’s language → written down as an ontology → becomes a tool. - But first, a wrong turn. CUE 5:15–6:00 · Let the image land. It’s your method for making meaning clear, not a comment on the audience. Image supplied by Michael Porter.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just me. Solo developer. - This year: three domains, an LLM did most of the writing. - Four pieces, left to right: – Ontologies: one per project. The domain’s language, its rules, and why. – Hooks &amp; gates: lifecycle checks the model can’t talk past. – Verification: before/after screenshots for front end, data checks for back end. – Skill &amp; mod: the whole process, codified. - Today: how the ontologies get built, how the gates hold the model to them, real examples. - You leave with the skill and the mod. CUE 3:45–5:15 · Name each piece as it builds. Don’t explain yet; each gets its own section. ODSC title card precedes this slide if supplied.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Same corrections on every change: what a thing means, how it connects, which rule still holds. - On a crew, that’s the senior hand’s job. I was the senior hand on every change. - Ask: what do you keep correcting your agent about? Hold it; we come back to it at the end. - First diagnosis: it keeps forgetting. Years of Neo4j → built a memory graph, several versions. - Recall was good. It remembered what we’d discussed. Still correcting what it understood. - Lesson one: memory gave it our history, not the language. CUE 6:00–7:30 · Show of hands on the repeated correction. Memory isn’t useless; it solved a different problem. No benchmark claims.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Watch the family and the interests change. Each event adds something to keep track of. - Ignore the vocabulary. Watch the picture grow. - The answer at the end only makes sense because you watched how we got there. - Hand you the final value with no history → you can’t tell me whether it’s right. CUE 11:30–13:30 · Click to play (~2:06, silent). Cold open, like the flood video: show first, explain after. Don’t explain the ontology yet; that’s two slides on. SOURCE · the-landman-s-graph.mp4, 720p, no audio.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person I was trying to help: making sense of years of documents and relationships. - Understand the job before building anything. CUE 13:30–13:45 · Let the image carry the burden of the work. Illustrative AI-generated image supplied by Michael Porter, not a client photo.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Same move, new language. - The landman’s question: who owns what today, and how did they get it? - The things: people and families, mineral interests, documents. - As a graph it looked like a family tree. Follow the connections instead of holding them in my head. - River = intent: what the number is for. - Land = history: today’s answer only means something if you can trace how it was assembled. - Different thing to make explicit for the agent. Different thing to check. - Then a third world: higher education. CUE 13:45–14:45 · Domain overview, not a title opinion. Land the word “history” before advancing.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Also higher education and student outcomes. Another domain, another ontology, built the same way. One line; no detail. - Three domains: – Flood: intent. What a forecast is for decided what the code had to preserve. – Oil &amp; gas: history. The lineage was part of the answer. – Higher ed: same method, new language. - Same steps each time: – Crayons and glue → learn the language. – Ontology → write it down. - I handed it to the model. Was that enough? CUE 14:45–15:45 · Name higher ed in one sentence. “A client,” never named. Pause on the “?” box and let the room answer. Next slide: no.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Was writing it down enough? No. - Step 3: turn the written rules into checks the model can’t skip. CUE 15:45–16:00 · 15 seconds. Let the slide answer the question, then go to the lockout.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Big believer in mechanical gates. Comes from work where a missed step hurts somebody. - Lockout/tagout: – The tag says don’t operate it. – The lock physically stops you. - Smart people still get interrupted, switch jobs, carry five things in their head. - What replaces the crew? Part of it: the lock is the teammate who can’t forget. - I want that for me and the model, at the exact point of the mistake. - Next, the well. Then four parts: the file, the test it names, the moments it’s checked, what the model sees when it’s wrong. CUE 16:00–17:00 · Point to the lock and the tag in the photo. Conceptual analogy, not safety training. SOURCE · OSHA 29 CFR 1910.147(c)(7)(ii)(A). Photo: Y-12 National Security Complex, Scott McAlister.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Here’s how I found out. - Wellbore picture: a well is a series of holes. – Each deeper hole is narrower. – Each starts exactly where the one above ends. – Casing must be smaller than the hole it goes into. - Obvious once you see it. Can’t assume a person knows it, and certainly not the model. - Wrote it down. Handed the model the ontology. - It still accepted casing bigger than the hole. - Lesson two: a description the model can read is not a check the model can’t skip. CUE 17:00–18:00 · Walk surface-down. Point at the grey casing as the third relationship. Simplified teaching model, no dimensions, not to scale.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was doing all of this by hand on every project. Codified it into a skill. - Reads the repo first. Harvests rules the code enforces but never states: – a thrown error, a clamp, a sorted loop, a box drawn inside its parent. - Interviews me for what code can’t say: intent, what a word means here, out of scope, what a missing value means. - I confirm the wording → it writes the ontology → installs the hooks you just saw. - Watch where I supply the meaning. The model maps and implements; I confirm relationships, rules and scope. CUE 25:00–27:30 · Click to play (~2:28, silent). Narrate the workflow. SOURCE · Harvesting line from SKILL.md Phase 1a-ii (refusals, repairs, ordering and containment, projection). ontology-driven-development.mp4, 720p.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The map, before the file. How does a change find the rule it might break? - 1 A change lands: an edit, the end of the turn, a commit, CI. Same check every time. - 2 Is the file governed? The governs: list in the ontology says which files matter. Not governed → ignored. - 3–5 at the end of the turn: changed lines → functions (TypeScript compiler) → the rules whose gate files list those functions → run only those tests. - The gate files come from running each rule’s test with coverage. Nobody types the list. - Pass → CLEAN. Fail or not run → blocked, and the model reads the rule back. - Every step lands in the state log; the mod reads it. CUE · About 45 seconds. Walk the U, 1 to 6. Next slide: the file that holds governs: and the gate. SOURCE · ODSC-Workshop-Kit-V2: ontology/scripts/</a:t>
            </a:r>
            <a:r>
              <a:rPr dirty="0" err="1"/>
              <a:t>ontology_check.py</a:t>
            </a:r>
            <a:r>
              <a:rPr dirty="0"/>
              <a:t> (--touched, --changed), </a:t>
            </a:r>
            <a:r>
              <a:rPr dirty="0" err="1"/>
              <a:t>ontology_gates.py</a:t>
            </a:r>
            <a:r>
              <a:rPr dirty="0"/>
              <a:t> (</a:t>
            </a:r>
            <a:r>
              <a:rPr dirty="0" err="1"/>
              <a:t>gate_verdicts</a:t>
            </a:r>
            <a:r>
              <a:rPr dirty="0"/>
              <a:t>, --build), .</a:t>
            </a:r>
            <a:r>
              <a:rPr dirty="0" err="1"/>
              <a:t>claude</a:t>
            </a:r>
            <a:r>
              <a:rPr dirty="0"/>
              <a:t>/</a:t>
            </a:r>
            <a:r>
              <a:rPr dirty="0" err="1"/>
              <a:t>settings.json</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the model gets: one markdown file per domain. - Six required sections: intent, entities, relationships, invariants, vocabulary, out of scope. - Three parts do the enforcement: – governs: the code that must move with this file. Code changes, ontology doesn’t → turn blocked. – [gate: …] on every invariant names the test that enforces it. No gate = a wish. – Vocabulary: what a word does NOT mean here. Out of scope: where scope creep dies. - Not documentation. Docs describe what was built. An ontology constrains what may be built. - Every line is something the model could violate. - The wiring strip, left to right: – The gate names the test: fit.test.ts. – npm run gates:build runs that test alone with coverage on. – The function it runs through, fitsHole, is saved in ontology/gates/&lt;rule&gt;.json. Nobody types that list. - So when fitsHole changes, the checker knows which rule is at risk and which test to run. Next slide: that test. CUE 18:00–19:45 · File top to bottom, the three callouts, then the wiring strip. SOURCE · Six sections, governs and [gate: …] from the ontology-driven-dev skill (ONTOLOGY.template.md; ontology_lib.py REQUIRED_SECTIONS). The fit.md text is the kit’s ontology/fit.md (ODSC-Workshop-Kit-V2), trimmed: [confirmed: …], evidence and changelog left out. Wiring: ontology/gates/casing-must-be-strictly-584728.json; ontology/scripts/ontology_gates.py --build.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lock for the casing rule: an ordinary unit test. - Trace the chain from rule to test: – Invariant: casing is strictly smaller than its hole. – Vocabulary: “fit” = strictly smaller. Equal is not a fit. – The gate note points here: tests/fit.test.ts. – The test: fitsHole(15, 15) must be false. - Why equal diameters: it’s the boundary, exactly where a &lt; quietly becomes &lt;=. - The expected answer comes from the ontology, written before the code. Not from whatever the model writes. - Model’s code disagrees with the domain → test fails → gate fails → turn blocked. - Nothing exotic: npm test. Your agent can run it. So can you. - Next: making sure it runs when it matters, without anyone having to remember. CUE 19:45–20:30 · The test the anatomy slide’s gate names. Three supplied cases pass. One example is not complete validation.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Claude Code gives you lifecycle events. I hang a check on three. - SessionStart: ontology summary into context. Intent, entities, rule count. Never a blank page. - PostToolUse, on every Edit or Write: – Ungoverned file → silent. – Governed, but nothing a rule describes moved → logged. – Touches what a rule describes (a named declaration, a gate file, one side of a must-move-together pair) → exit 2, message goes straight back to the model. - Stop: maps the diff’s changed lines to functions → finds the rules whose gate files list those functions → runs those tests. Fail or not run → turn blocked. Governed code moved and the ontology didn’t → also blocked. – Same check runs as the git commit hook and in CI. Doesn’t depend on the agent. - Mid-task the model can query the file: entity, term, invariants, scope. - Every run writes a line to .claude/ontology-state.jsonl, test results included. The mod reads it; you’ll see that later. - “The model is persuasive. The gate is not.” CUE 20:30–22:30 · Three columns, one line each, then the bottom lines. SOURCE · assets/hooks.settings.json (SessionStart; PostToolUse matcher Edit|Write|MultiEdit; Stop); scripts/ontology_check.py (--touched, --changed, exit 2) in the ontology-driven-dev skill.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the model sees when it’s wrong, from the kit’s own run. - The change: casingOd &lt; holeId becomes &lt;=. Equal diameters now pass. - After the edit: src/fit.ts is governed, so the check logs it. No rule names that file directly, so nothing goes back to the model yet. - At Stop: the checker maps the changed lines to fitsHole, finds the casing rule, runs fit.test.ts. It fails → exit 2 → Claude Code hands the message to the model. The turn is blocked. - Two ways out: 1. Fix the code until the test passes. 2. If the rule itself is wrong, change the rule, its test and the Changelog together. - ontology-skip doesn’t clear a broken rule; the test has to pass. - Not on the list: editing the hook or the test to get green. - Honest limit: local hooks can be bypassed. The required CI check is the lock; the hooks are the tag. CUE 22:30–24:00 · Read the Stop message aloud, then the two ways out. SOURCE · ODSC-Workshop-Kit-V2: .claude/ontology-state.jsonl (2026-10-25 run: touched record for src/fit.ts; changed record, exit 2, casing rule fail); ontology/scripts/ontology_check.py changed(): skip honored only when no rule is broken. Rule text trimmed with “…” on the last line.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caught it? – The model had the domain context. – The test exposed the broken behavior. – The required gate made the failure matter. - Skill → understanding. Mod → visibility. Gate → acceptance. - Warning: if the model changes the test to get green, nothing was solved. - Rules and tests get reviewed as hard as the implementation. CUE 24:00–25:00 · Ask: why did equal diameters have to fail? Connect to the rule, then the test. A passed test covers its stated cases and scope, no more.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hooks write every check to a state log. The mod puts it in front of me while I work. - A Claude Code mod I built. - The demo: a 9.625-inch casing in an 8.5-inch hole. Breaks the rule from the diagram. - Watch what shows up, and where: – Observer: the rule and the failing check. – Explore issue → investigate. – Fix it → asks for a repair. – After: test passes, the input rejects the oversized casing. - Keeps my mental model straight: what changed, why it matters, what evidence we have. - A “relevant change” warning alone proves nothing. The test makes it concrete. CUE 27:30–28:45 · Click to play (60s, silent). Narrate the mod’s UI, not the rule. Don’t present the badge or CLEAN result as verified production coverage. SOURCE · Recording uses CasingPlacementInput.tsx and casingFitsHole.test.ts; current source uses different filenames.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Started with a river: learn the language before writing code. - That language → the ontology → guides the code and gives the checks their meaning. - Before: correcting constantly. Now: occasional intervention. My experience, not a benchmark. - What replaces the crew? – The ontology = the senior hand. Corrects the understanding before work starts. – The gate = the lock. Catches the mistake when nobody’s looking. - That’s “context is the team.” - Learn the language. Write it down. Hold the model to it. - I still define the work and review the result. That part doesn’t get delegated. CUE 28:45–29:45 · Three columns left to right. Pause on the last line. A synthesis, not a measured claim.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Back to the correction you held onto. - Name the things, how they connect, what must stay true. - One example that should pass, one that should fail. - Where does the check have to run? What still needs your judgment? - Start small enough to explain clearly. - 30 seconds. Write it down. CUE 29:45–30:45 · One sentence from the room if time permits. Carry straight into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Hard jobs deserve better tools. One level down, one vertical at a time. - Flood monitoring · oil &amp; gas · higher education. Three domains that share nothing. - Same method every time: build the ontology with the LLM, as discovery. – It reads the code and asks questions. – I supply what the work means. – Together: the domain’s language and the reason behind every rule. - That ontology becomes the context the model works inside. - Start with the one that made it personal. CUE 0:00–1:00 · One line per card.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does this look like in your domain? Tell me what you wrote; we’ll work out the rule and a check together. - One takeaway: a clear way to explain the job, and to get help doing it. Crayons and glue. CUE 30:45–60:00 · About 14:15 of slack before the 45-minute mark. Hand out the skill and the mod here. Ontology files and tests available as props.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5" y="1102296"/>
            <a:ext cx="10566422" cy="447020"/>
          </a:xfrm>
          <a:prstGeom prst="rect">
            <a:avLst/>
          </a:prstGeom>
          <a:noFill/>
          <a:ln/>
        </p:spPr>
        <p:txBody>
          <a:bodyPr wrap="square" lIns="0" tIns="0" rIns="0" bIns="0" rtlCol="0" anchor="t"/>
          <a:lstStyle>
            <a:lvl1pPr marL="0" indent="0" algn="l">
              <a:lnSpc>
                <a:spcPct val="115000"/>
              </a:lnSpc>
              <a:buNone/>
              <a:defRPr lang="en-US" sz="3200" dirty="0">
                <a:solidFill>
                  <a:srgbClr val="E8EEF4"/>
                </a:solidFill>
                <a:latin typeface="Oswald" pitchFamily="34" charset="0"/>
                <a:ea typeface="Oswald" pitchFamily="34" charset="-122"/>
                <a:cs typeface="Oswal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5" y="1854116"/>
            <a:ext cx="10566425" cy="4191084"/>
          </a:xfrm>
          <a:prstGeom prst="rect">
            <a:avLst/>
          </a:prstGeom>
          <a:noFill/>
          <a:ln/>
        </p:spPr>
        <p:txBody>
          <a:bodyPr wrap="square" lIns="0" tIns="0" rIns="0" bIns="0" rtlCol="0" anchor="t"/>
          <a:lstStyle>
            <a:lvl1pPr marL="0" indent="0" algn="l">
              <a:lnSpc>
                <a:spcPct val="140000"/>
              </a:lnSpc>
              <a:buNone/>
              <a:defRPr lang="en-US" sz="1600" dirty="0">
                <a:solidFill>
                  <a:srgbClr val="E8EEF4"/>
                </a:solidFill>
                <a:latin typeface="Oswald" pitchFamily="34" charset="0"/>
                <a:ea typeface="Oswald" pitchFamily="34" charset="-122"/>
                <a:cs typeface="Oswald"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5" y="1102296"/>
            <a:ext cx="10566422" cy="447020"/>
          </a:xfrm>
          <a:prstGeom prst="rect">
            <a:avLst/>
          </a:prstGeom>
          <a:noFill/>
          <a:ln/>
        </p:spPr>
        <p:txBody>
          <a:bodyPr wrap="square" lIns="0" tIns="0" rIns="0" bIns="0" rtlCol="0" anchor="t"/>
          <a:lstStyle>
            <a:lvl1pPr marL="0" indent="0" algn="l">
              <a:lnSpc>
                <a:spcPct val="115000"/>
              </a:lnSpc>
              <a:buNone/>
              <a:defRPr lang="en-US" sz="3200" dirty="0">
                <a:solidFill>
                  <a:srgbClr val="E8EEF4"/>
                </a:solidFill>
                <a:latin typeface="Oswald" pitchFamily="34" charset="0"/>
                <a:ea typeface="Oswald" pitchFamily="34" charset="-122"/>
                <a:cs typeface="Oswal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5" y="1854116"/>
            <a:ext cx="10566425" cy="4191084"/>
          </a:xfrm>
          <a:prstGeom prst="rect">
            <a:avLst/>
          </a:prstGeom>
          <a:noFill/>
          <a:ln/>
        </p:spPr>
        <p:txBody>
          <a:bodyPr wrap="square" lIns="0" tIns="0" rIns="0" bIns="0" rtlCol="0" anchor="t"/>
          <a:lstStyle>
            <a:lvl1pPr marL="0" indent="0" algn="l">
              <a:lnSpc>
                <a:spcPct val="140000"/>
              </a:lnSpc>
              <a:buNone/>
              <a:defRPr lang="en-US" sz="1600" dirty="0">
                <a:solidFill>
                  <a:srgbClr val="E8EEF4"/>
                </a:solidFill>
                <a:latin typeface="Oswald" pitchFamily="34" charset="0"/>
                <a:ea typeface="Oswald" pitchFamily="34" charset="-122"/>
                <a:cs typeface="Oswald"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jp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3.jpeg"/><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0.jpeg"/><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24.jpeg"/><Relationship Id="rId5" Type="http://schemas.openxmlformats.org/officeDocument/2006/relationships/image" Target="../media/image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9906000" y="355600"/>
            <a:ext cx="1905000" cy="831850"/>
          </a:xfrm>
          <a:prstGeom prst="rect">
            <a:avLst/>
          </a:prstGeom>
        </p:spPr>
      </p:pic>
      <p:sp>
        <p:nvSpPr>
          <p:cNvPr id="3" name="Kicker"/>
          <p:cNvSpPr txBox="1"/>
          <p:nvPr/>
        </p:nvSpPr>
        <p:spPr>
          <a:xfrm>
            <a:off x="812800" y="1270000"/>
            <a:ext cx="7620000" cy="215444"/>
          </a:xfrm>
          <a:prstGeom prst="rect">
            <a:avLst/>
          </a:prstGeom>
          <a:noFill/>
        </p:spPr>
        <p:txBody>
          <a:bodyPr wrap="square" lIns="0" tIns="0" rIns="0" bIns="0">
            <a:spAutoFit/>
          </a:bodyPr>
          <a:lstStyle/>
          <a:p>
            <a:r>
              <a:rPr sz="1400" b="0" spc="300" dirty="0">
                <a:solidFill>
                  <a:srgbClr val="C9682C"/>
                </a:solidFill>
                <a:latin typeface="Oswald"/>
                <a:ea typeface="Oswald"/>
                <a:cs typeface="Oswald"/>
              </a:rPr>
              <a:t> </a:t>
            </a:r>
          </a:p>
        </p:txBody>
      </p:sp>
      <p:sp>
        <p:nvSpPr>
          <p:cNvPr id="4" name="Title"/>
          <p:cNvSpPr txBox="1"/>
          <p:nvPr/>
        </p:nvSpPr>
        <p:spPr>
          <a:xfrm>
            <a:off x="812800" y="1714500"/>
            <a:ext cx="7874000" cy="1460500"/>
          </a:xfrm>
          <a:prstGeom prst="rect">
            <a:avLst/>
          </a:prstGeom>
          <a:noFill/>
        </p:spPr>
        <p:txBody>
          <a:bodyPr wrap="square" lIns="0" tIns="0" rIns="0" bIns="0">
            <a:spAutoFit/>
          </a:bodyPr>
          <a:lstStyle/>
          <a:p>
            <a:pPr>
              <a:lnSpc>
                <a:spcPct val="100000"/>
              </a:lnSpc>
            </a:pPr>
            <a:r>
              <a:rPr sz="5200" b="1">
                <a:solidFill>
                  <a:srgbClr val="E8EEF4"/>
                </a:solidFill>
                <a:latin typeface="Oswald"/>
                <a:ea typeface="Oswald"/>
                <a:cs typeface="Oswald"/>
              </a:rPr>
              <a:t>CONTEXT IS</a:t>
            </a:r>
          </a:p>
          <a:p>
            <a:pPr>
              <a:lnSpc>
                <a:spcPct val="100000"/>
              </a:lnSpc>
            </a:pPr>
            <a:r>
              <a:rPr sz="5200" b="1">
                <a:solidFill>
                  <a:srgbClr val="E8EEF4"/>
                </a:solidFill>
                <a:latin typeface="Oswald"/>
                <a:ea typeface="Oswald"/>
                <a:cs typeface="Oswald"/>
              </a:rPr>
              <a:t>THE TEAM.</a:t>
            </a:r>
          </a:p>
        </p:txBody>
      </p:sp>
      <p:sp>
        <p:nvSpPr>
          <p:cNvPr id="5" name="Subtitle"/>
          <p:cNvSpPr txBox="1"/>
          <p:nvPr/>
        </p:nvSpPr>
        <p:spPr>
          <a:xfrm>
            <a:off x="812800" y="3302000"/>
            <a:ext cx="7874000" cy="635000"/>
          </a:xfrm>
          <a:prstGeom prst="rect">
            <a:avLst/>
          </a:prstGeom>
          <a:noFill/>
        </p:spPr>
        <p:txBody>
          <a:bodyPr wrap="square" lIns="0" tIns="0" rIns="0" bIns="0">
            <a:spAutoFit/>
          </a:bodyPr>
          <a:lstStyle/>
          <a:p>
            <a:pPr>
              <a:lnSpc>
                <a:spcPct val="115000"/>
              </a:lnSpc>
            </a:pPr>
            <a:r>
              <a:rPr sz="1800" b="0" dirty="0">
                <a:solidFill>
                  <a:srgbClr val="B8C7D3"/>
                </a:solidFill>
                <a:latin typeface="Inter"/>
                <a:ea typeface="Inter"/>
                <a:cs typeface="Inter"/>
              </a:rPr>
              <a:t>How graph ontologies let a solo engineer ship across dams, education, and oil wells</a:t>
            </a:r>
          </a:p>
        </p:txBody>
      </p:sp>
      <p:sp>
        <p:nvSpPr>
          <p:cNvPr id="6" name="Accent rule"/>
          <p:cNvSpPr/>
          <p:nvPr/>
        </p:nvSpPr>
        <p:spPr>
          <a:xfrm>
            <a:off x="812800" y="4775200"/>
            <a:ext cx="609600" cy="38100"/>
          </a:xfrm>
          <a:prstGeom prst="rect">
            <a:avLst/>
          </a:prstGeom>
          <a:solidFill>
            <a:srgbClr val="C9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peaker"/>
          <p:cNvSpPr txBox="1"/>
          <p:nvPr/>
        </p:nvSpPr>
        <p:spPr>
          <a:xfrm>
            <a:off x="812800" y="5080000"/>
            <a:ext cx="6350000" cy="355600"/>
          </a:xfrm>
          <a:prstGeom prst="rect">
            <a:avLst/>
          </a:prstGeom>
          <a:noFill/>
        </p:spPr>
        <p:txBody>
          <a:bodyPr wrap="square" lIns="0" tIns="0" rIns="0" bIns="0">
            <a:spAutoFit/>
          </a:bodyPr>
          <a:lstStyle/>
          <a:p>
            <a:r>
              <a:rPr sz="2000" b="1">
                <a:solidFill>
                  <a:srgbClr val="E8EEF4"/>
                </a:solidFill>
                <a:latin typeface="Inter"/>
                <a:ea typeface="Inter"/>
                <a:cs typeface="Inter"/>
              </a:rPr>
              <a:t>Michael Porter</a:t>
            </a:r>
          </a:p>
        </p:txBody>
      </p:sp>
      <p:sp>
        <p:nvSpPr>
          <p:cNvPr id="8" name="Speaker role"/>
          <p:cNvSpPr txBox="1"/>
          <p:nvPr/>
        </p:nvSpPr>
        <p:spPr>
          <a:xfrm>
            <a:off x="812800" y="5461000"/>
            <a:ext cx="6350000" cy="292100"/>
          </a:xfrm>
          <a:prstGeom prst="rect">
            <a:avLst/>
          </a:prstGeom>
          <a:noFill/>
        </p:spPr>
        <p:txBody>
          <a:bodyPr wrap="square" lIns="0" tIns="0" rIns="0" bIns="0">
            <a:spAutoFit/>
          </a:bodyPr>
          <a:lstStyle/>
          <a:p>
            <a:r>
              <a:rPr sz="1500" b="0">
                <a:solidFill>
                  <a:srgbClr val="B8C7D3"/>
                </a:solidFill>
                <a:latin typeface="Inter"/>
                <a:ea typeface="Inter"/>
                <a:cs typeface="Inter"/>
              </a:rPr>
              <a:t>Founder, Muddy Boots Code</a:t>
            </a:r>
          </a:p>
        </p:txBody>
      </p:sp>
      <p:sp>
        <p:nvSpPr>
          <p:cNvPr id="9" name="Footer"/>
          <p:cNvSpPr txBox="1"/>
          <p:nvPr/>
        </p:nvSpPr>
        <p:spPr>
          <a:xfrm>
            <a:off x="812800" y="6235700"/>
            <a:ext cx="5715000" cy="241300"/>
          </a:xfrm>
          <a:prstGeom prst="rect">
            <a:avLst/>
          </a:prstGeom>
          <a:noFill/>
        </p:spPr>
        <p:txBody>
          <a:bodyPr wrap="square" lIns="0" tIns="0" rIns="0" bIns="0">
            <a:spAutoFit/>
          </a:bodyPr>
          <a:lstStyle/>
          <a:p>
            <a:r>
              <a:rPr sz="1200" b="0">
                <a:solidFill>
                  <a:srgbClr val="6E8597"/>
                </a:solidFill>
                <a:latin typeface="Inter"/>
                <a:ea typeface="Inter"/>
                <a:cs typeface="Inter"/>
              </a:rPr>
              <a:t>muddybootscode.io</a:t>
            </a:r>
          </a:p>
        </p:txBody>
      </p:sp>
      <p:pic>
        <p:nvPicPr>
          <p:cNvPr id="10" name="Headshot" descr="Headshot of Michael Porter"/>
          <p:cNvPicPr>
            <a:picLocks noChangeAspect="1"/>
          </p:cNvPicPr>
          <p:nvPr/>
        </p:nvPicPr>
        <p:blipFill>
          <a:blip r:embed="rId4"/>
          <a:stretch>
            <a:fillRect/>
          </a:stretch>
        </p:blipFill>
        <p:spPr>
          <a:xfrm>
            <a:off x="9144000" y="2159000"/>
            <a:ext cx="2235200" cy="2235200"/>
          </a:xfrm>
          <a:prstGeom prst="ellipse">
            <a:avLst/>
          </a:prstGeom>
          <a:ln w="28575">
            <a:solidFill>
              <a:srgbClr val="C9682C"/>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5"/>
          <a:srcRect l="-58" r="-58"/>
          <a:stretch/>
        </p:blipFill>
        <p:spPr>
          <a:xfrm>
            <a:off x="10413987" y="177783"/>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FLOOD MANAGEMENT</a:t>
            </a:r>
            <a:endParaRPr lang="en-US" sz="1200" dirty="0"/>
          </a:p>
        </p:txBody>
      </p:sp>
      <p:sp>
        <p:nvSpPr>
          <p:cNvPr id="4" name="Text 1"/>
          <p:cNvSpPr>
            <a:spLocks noGrp="1"/>
          </p:cNvSpPr>
          <p:nvPr>
            <p:ph type="title"/>
          </p:nvPr>
        </p:nvSpPr>
        <p:spPr>
          <a:xfrm>
            <a:off x="812775" y="1102297"/>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HOW MUCH WARNING DO WE HAVE?</a:t>
            </a:r>
            <a:endParaRPr lang="en-US" sz="3200" dirty="0"/>
          </a:p>
        </p:txBody>
      </p:sp>
      <p:pic>
        <p:nvPicPr>
          <p:cNvPr id="8" name="Video · Watching the Blanco" descr="Watching the Blanco: May 2015 Blanco River flood, from rainfall and gauges to flood simulation and forecast">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501876" y="1924027"/>
            <a:ext cx="7188188" cy="4025870"/>
          </a:xfrm>
          <a:prstGeom prst="roundRect">
            <a:avLst>
              <a:gd name="adj" fmla="val 2050"/>
            </a:avLst>
          </a:prstGeom>
        </p:spPr>
      </p:pic>
      <p:sp>
        <p:nvSpPr>
          <p:cNvPr id="6" name="Shape 2"/>
          <p:cNvSpPr/>
          <p:nvPr/>
        </p:nvSpPr>
        <p:spPr>
          <a:xfrm>
            <a:off x="2492351" y="1914502"/>
            <a:ext cx="7207238" cy="4044920"/>
          </a:xfrm>
          <a:prstGeom prst="roundRect">
            <a:avLst>
              <a:gd name="adj" fmla="val 2276"/>
            </a:avLst>
          </a:prstGeom>
          <a:noFill/>
          <a:ln w="19050">
            <a:solidFill>
              <a:srgbClr val="C9682C"/>
            </a:solidFill>
            <a:prstDash val="solid"/>
          </a:ln>
        </p:spPr>
        <p:txBody>
          <a:bodyPr/>
          <a:lstStyle/>
          <a:p>
            <a:endParaRPr lang="en-US"/>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name="Slide 7">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1"/>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VERTICAL 1 · FLOOD MONITORING</a:t>
            </a:r>
            <a:endParaRPr lang="en-US" sz="1200" dirty="0"/>
          </a:p>
        </p:txBody>
      </p:sp>
      <p:sp>
        <p:nvSpPr>
          <p:cNvPr id="4" name="Text 1"/>
          <p:cNvSpPr>
            <a:spLocks noGrp="1"/>
          </p:cNvSpPr>
          <p:nvPr>
            <p:ph type="title"/>
          </p:nvPr>
        </p:nvSpPr>
        <p:spPr>
          <a:xfrm>
            <a:off x="812775" y="1102299"/>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THE LANGUAGE OF FLOOD MANAGEMENT</a:t>
            </a:r>
            <a:endParaRPr lang="en-US" sz="3200" dirty="0"/>
          </a:p>
        </p:txBody>
      </p:sp>
      <p:sp>
        <p:nvSpPr>
          <p:cNvPr id="5" name="Text 2"/>
          <p:cNvSpPr/>
          <p:nvPr/>
        </p:nvSpPr>
        <p:spPr>
          <a:xfrm>
            <a:off x="812775" y="2095497"/>
            <a:ext cx="5232369" cy="360649"/>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E8EEF4"/>
                </a:solidFill>
                <a:latin typeface="Oswald" pitchFamily="34" charset="0"/>
                <a:ea typeface="Oswald" pitchFamily="34" charset="-122"/>
                <a:cs typeface="Oswald" pitchFamily="34" charset="-120"/>
              </a:rPr>
              <a:t>WHAT IS A STAGE?</a:t>
            </a:r>
            <a:endParaRPr lang="en-US" sz="2200" dirty="0"/>
          </a:p>
        </p:txBody>
      </p:sp>
      <p:sp>
        <p:nvSpPr>
          <p:cNvPr id="6" name="Text 3"/>
          <p:cNvSpPr/>
          <p:nvPr/>
        </p:nvSpPr>
        <p:spPr>
          <a:xfrm>
            <a:off x="812775" y="2608529"/>
            <a:ext cx="5232369" cy="360649"/>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E8EEF4"/>
                </a:solidFill>
                <a:latin typeface="Oswald" pitchFamily="34" charset="0"/>
                <a:ea typeface="Oswald" pitchFamily="34" charset="-122"/>
                <a:cs typeface="Oswald" pitchFamily="34" charset="-120"/>
              </a:rPr>
              <a:t>WHAT IS A FORECAST CREST?</a:t>
            </a:r>
            <a:endParaRPr lang="en-US" sz="2200" dirty="0"/>
          </a:p>
        </p:txBody>
      </p:sp>
      <p:sp>
        <p:nvSpPr>
          <p:cNvPr id="7" name="Text 4"/>
          <p:cNvSpPr/>
          <p:nvPr/>
        </p:nvSpPr>
        <p:spPr>
          <a:xfrm>
            <a:off x="812775" y="3121561"/>
            <a:ext cx="5232369" cy="360649"/>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E8EEF4"/>
                </a:solidFill>
                <a:latin typeface="Oswald" pitchFamily="34" charset="0"/>
                <a:ea typeface="Oswald" pitchFamily="34" charset="-122"/>
                <a:cs typeface="Oswald" pitchFamily="34" charset="-120"/>
              </a:rPr>
              <a:t>WHAT HAPPENS AT FLOOD STAGE 13 FEET?</a:t>
            </a:r>
            <a:endParaRPr lang="en-US" sz="2200" dirty="0"/>
          </a:p>
        </p:txBody>
      </p:sp>
      <p:sp>
        <p:nvSpPr>
          <p:cNvPr id="8" name="Shape 5"/>
          <p:cNvSpPr/>
          <p:nvPr/>
        </p:nvSpPr>
        <p:spPr>
          <a:xfrm>
            <a:off x="6502389" y="2095497"/>
            <a:ext cx="4876776" cy="1991116"/>
          </a:xfrm>
          <a:prstGeom prst="roundRect">
            <a:avLst>
              <a:gd name="adj" fmla="val 5103"/>
            </a:avLst>
          </a:prstGeom>
          <a:solidFill>
            <a:srgbClr val="0B3042"/>
          </a:solidFill>
          <a:ln/>
        </p:spPr>
        <p:txBody>
          <a:bodyPr/>
          <a:lstStyle/>
          <a:p>
            <a:endParaRPr lang="en-US"/>
          </a:p>
        </p:txBody>
      </p:sp>
      <p:sp>
        <p:nvSpPr>
          <p:cNvPr id="9" name="Shape 6"/>
          <p:cNvSpPr/>
          <p:nvPr/>
        </p:nvSpPr>
        <p:spPr>
          <a:xfrm>
            <a:off x="6502389" y="2095497"/>
            <a:ext cx="4876776" cy="1991116"/>
          </a:xfrm>
          <a:custGeom>
            <a:avLst/>
            <a:gdLst/>
            <a:ahLst/>
            <a:cxnLst/>
            <a:rect l="l" t="t" r="r" b="b"/>
            <a:pathLst>
              <a:path w="4876776" h="1991116">
                <a:moveTo>
                  <a:pt x="101600" y="1991116"/>
                </a:moveTo>
                <a:lnTo>
                  <a:pt x="101600" y="1991116"/>
                </a:lnTo>
                <a:arcTo wR="101600" hR="101600" stAng="5400000" swAng="5400000"/>
                <a:lnTo>
                  <a:pt x="0" y="101600"/>
                </a:lnTo>
                <a:arcTo wR="101600" hR="101600" stAng="10800000" swAng="5400000"/>
                <a:lnTo>
                  <a:pt x="101600" y="0"/>
                </a:lnTo>
                <a:arcTo wR="50800" hR="101600" stAng="16200000" swAng="-5400000"/>
                <a:lnTo>
                  <a:pt x="50800" y="1889516"/>
                </a:lnTo>
                <a:arcTo wR="50800" hR="101600" stAng="10800000" swAng="-5400000"/>
                <a:close/>
              </a:path>
            </a:pathLst>
          </a:custGeom>
          <a:solidFill>
            <a:srgbClr val="C9682C"/>
          </a:solidFill>
          <a:ln/>
        </p:spPr>
        <p:txBody>
          <a:bodyPr/>
          <a:lstStyle/>
          <a:p>
            <a:endParaRPr lang="en-US"/>
          </a:p>
        </p:txBody>
      </p:sp>
      <p:sp>
        <p:nvSpPr>
          <p:cNvPr id="10" name="Text 7"/>
          <p:cNvSpPr/>
          <p:nvPr/>
        </p:nvSpPr>
        <p:spPr>
          <a:xfrm>
            <a:off x="6806692" y="2349481"/>
            <a:ext cx="4448043" cy="238752"/>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6E8597"/>
                </a:solidFill>
                <a:latin typeface="Oswald" pitchFamily="34" charset="0"/>
                <a:ea typeface="Oswald" pitchFamily="34" charset="-122"/>
                <a:cs typeface="Oswald" pitchFamily="34" charset="-120"/>
              </a:rPr>
              <a:t>WHY THIS ANSWERS THE FIRST QUESTION</a:t>
            </a:r>
            <a:endParaRPr lang="en-US" sz="1200" dirty="0"/>
          </a:p>
        </p:txBody>
      </p:sp>
      <p:sp>
        <p:nvSpPr>
          <p:cNvPr id="11" name="Text 8"/>
          <p:cNvSpPr/>
          <p:nvPr/>
        </p:nvSpPr>
        <p:spPr>
          <a:xfrm>
            <a:off x="6806692" y="2664414"/>
            <a:ext cx="4448043" cy="82537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EEF4"/>
                </a:solidFill>
                <a:latin typeface="Inter" pitchFamily="34" charset="0"/>
                <a:ea typeface="Inter" pitchFamily="34" charset="-122"/>
                <a:cs typeface="Inter" pitchFamily="34" charset="-120"/>
              </a:rPr>
              <a:t>Before anyone can say how much warning we have, the system has to how to create the </a:t>
            </a:r>
            <a:r>
              <a:rPr lang="en-US" sz="1500" dirty="0" err="1">
                <a:solidFill>
                  <a:srgbClr val="E8EEF4"/>
                </a:solidFill>
                <a:latin typeface="Inter" pitchFamily="34" charset="0"/>
                <a:ea typeface="Inter" pitchFamily="34" charset="-122"/>
                <a:cs typeface="Inter" pitchFamily="34" charset="-120"/>
              </a:rPr>
              <a:t>forcast</a:t>
            </a:r>
            <a:r>
              <a:rPr lang="en-US" sz="1500" dirty="0">
                <a:solidFill>
                  <a:srgbClr val="E8EEF4"/>
                </a:solidFill>
                <a:latin typeface="Inter" pitchFamily="34" charset="0"/>
                <a:ea typeface="Inter" pitchFamily="34" charset="-122"/>
                <a:cs typeface="Inter" pitchFamily="34" charset="-120"/>
              </a:rPr>
              <a:t>.</a:t>
            </a:r>
            <a:endParaRPr lang="en-US" sz="1500" dirty="0"/>
          </a:p>
        </p:txBody>
      </p:sp>
      <p:sp>
        <p:nvSpPr>
          <p:cNvPr id="12" name="Text 9"/>
          <p:cNvSpPr/>
          <p:nvPr/>
        </p:nvSpPr>
        <p:spPr>
          <a:xfrm>
            <a:off x="6806692" y="3565971"/>
            <a:ext cx="4448043" cy="292058"/>
          </a:xfrm>
          <a:prstGeom prst="rect">
            <a:avLst/>
          </a:prstGeom>
          <a:noFill/>
          <a:ln/>
        </p:spPr>
        <p:txBody>
          <a:bodyPr wrap="square" lIns="0" tIns="0" rIns="0" bIns="0" rtlCol="0" anchor="t">
            <a:normAutofit/>
          </a:bodyPr>
          <a:lstStyle/>
          <a:p>
            <a:pPr marL="0" indent="0" algn="l">
              <a:lnSpc>
                <a:spcPts val="2100"/>
              </a:lnSpc>
              <a:buNone/>
            </a:pPr>
            <a:endParaRPr lang="en-US" sz="1500" dirty="0"/>
          </a:p>
        </p:txBody>
      </p:sp>
      <p:sp>
        <p:nvSpPr>
          <p:cNvPr id="13" name="Text 10"/>
          <p:cNvSpPr/>
          <p:nvPr/>
        </p:nvSpPr>
        <p:spPr>
          <a:xfrm>
            <a:off x="812775" y="4952978"/>
            <a:ext cx="10883382" cy="29205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7D3"/>
                </a:solidFill>
                <a:latin typeface="Inter" pitchFamily="34" charset="0"/>
                <a:ea typeface="Inter" pitchFamily="34" charset="-122"/>
                <a:cs typeface="Inter" pitchFamily="34" charset="-120"/>
              </a:rPr>
              <a:t>I didn’t figure this out alone. I worked it out with the LLM and the people who watch this river for a living.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1"/>
            <a:ext cx="1396977" cy="609581"/>
          </a:xfrm>
          <a:prstGeom prst="rect">
            <a:avLst/>
          </a:prstGeom>
        </p:spPr>
      </p:pic>
      <p:sp>
        <p:nvSpPr>
          <p:cNvPr id="3" name="Text 0"/>
          <p:cNvSpPr/>
          <p:nvPr/>
        </p:nvSpPr>
        <p:spPr>
          <a:xfrm>
            <a:off x="812775" y="812772"/>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VERTICAL 1 · FLOOD MONITORING · CRAYONS AND GLUE, APPLIED</a:t>
            </a:r>
            <a:endParaRPr lang="en-US" sz="1200" dirty="0"/>
          </a:p>
        </p:txBody>
      </p:sp>
      <p:sp>
        <p:nvSpPr>
          <p:cNvPr id="4" name="Text 1"/>
          <p:cNvSpPr>
            <a:spLocks noGrp="1"/>
          </p:cNvSpPr>
          <p:nvPr>
            <p:ph type="title"/>
          </p:nvPr>
        </p:nvSpPr>
        <p:spPr>
          <a:xfrm>
            <a:off x="812775" y="1102296"/>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THE LANGUAGE OF FLOOD MANAGEMENT</a:t>
            </a:r>
            <a:endParaRPr lang="en-US" sz="2800" dirty="0"/>
          </a:p>
        </p:txBody>
      </p:sp>
      <p:sp>
        <p:nvSpPr>
          <p:cNvPr id="5" name="Shape 2"/>
          <p:cNvSpPr/>
          <p:nvPr/>
        </p:nvSpPr>
        <p:spPr>
          <a:xfrm>
            <a:off x="812775" y="1777984"/>
            <a:ext cx="3174993" cy="2222489"/>
          </a:xfrm>
          <a:prstGeom prst="roundRect">
            <a:avLst>
              <a:gd name="adj" fmla="val 4571"/>
            </a:avLst>
          </a:prstGeom>
          <a:solidFill>
            <a:srgbClr val="0B3042"/>
          </a:solidFill>
          <a:ln/>
        </p:spPr>
        <p:txBody>
          <a:bodyPr/>
          <a:lstStyle/>
          <a:p>
            <a:endParaRPr lang="en-US"/>
          </a:p>
        </p:txBody>
      </p:sp>
      <p:sp>
        <p:nvSpPr>
          <p:cNvPr id="6" name="Shape 3"/>
          <p:cNvSpPr/>
          <p:nvPr/>
        </p:nvSpPr>
        <p:spPr>
          <a:xfrm>
            <a:off x="812775" y="1777984"/>
            <a:ext cx="3174993" cy="2222489"/>
          </a:xfrm>
          <a:custGeom>
            <a:avLst/>
            <a:gdLst/>
            <a:ahLst/>
            <a:cxnLst/>
            <a:rect l="l" t="t" r="r" b="b"/>
            <a:pathLst>
              <a:path w="3174993" h="2222489">
                <a:moveTo>
                  <a:pt x="101600" y="2222489"/>
                </a:moveTo>
                <a:lnTo>
                  <a:pt x="101600" y="2222489"/>
                </a:lnTo>
                <a:arcTo wR="101600" hR="101600" stAng="5400000" swAng="5400000"/>
                <a:lnTo>
                  <a:pt x="0" y="101600"/>
                </a:lnTo>
                <a:arcTo wR="101600" hR="101600" stAng="10800000" swAng="5400000"/>
                <a:lnTo>
                  <a:pt x="101600" y="0"/>
                </a:lnTo>
                <a:arcTo wR="50800" hR="101600" stAng="16200000" swAng="-5400000"/>
                <a:lnTo>
                  <a:pt x="50800" y="2120889"/>
                </a:lnTo>
                <a:arcTo wR="50800" hR="101600" stAng="10800000" swAng="-5400000"/>
                <a:close/>
              </a:path>
            </a:pathLst>
          </a:custGeom>
          <a:solidFill>
            <a:srgbClr val="C9682C"/>
          </a:solidFill>
          <a:ln/>
        </p:spPr>
        <p:txBody>
          <a:bodyPr/>
          <a:lstStyle/>
          <a:p>
            <a:endParaRPr lang="en-US"/>
          </a:p>
        </p:txBody>
      </p:sp>
      <p:sp>
        <p:nvSpPr>
          <p:cNvPr id="7" name="Text 4"/>
          <p:cNvSpPr/>
          <p:nvPr/>
        </p:nvSpPr>
        <p:spPr>
          <a:xfrm>
            <a:off x="1066288" y="1955766"/>
            <a:ext cx="2799835"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1 · THE THINGS</a:t>
            </a:r>
            <a:endParaRPr lang="en-US" sz="1100" dirty="0"/>
          </a:p>
        </p:txBody>
      </p:sp>
      <p:sp>
        <p:nvSpPr>
          <p:cNvPr id="8" name="Text 5"/>
          <p:cNvSpPr/>
          <p:nvPr/>
        </p:nvSpPr>
        <p:spPr>
          <a:xfrm>
            <a:off x="1066288" y="2227489"/>
            <a:ext cx="2799835" cy="739707"/>
          </a:xfrm>
          <a:prstGeom prst="rect">
            <a:avLst/>
          </a:prstGeom>
          <a:noFill/>
          <a:ln/>
        </p:spPr>
        <p:txBody>
          <a:bodyPr wrap="square" lIns="0" tIns="0" rIns="0" bIns="0" rtlCol="0" anchor="t">
            <a:normAutofit/>
          </a:bodyPr>
          <a:lstStyle/>
          <a:p>
            <a:pPr marL="0" indent="0" algn="l">
              <a:lnSpc>
                <a:spcPts val="1875"/>
              </a:lnSpc>
              <a:buNone/>
            </a:pPr>
            <a:r>
              <a:rPr lang="en-US" sz="1500" kern="0" spc="100" dirty="0">
                <a:solidFill>
                  <a:srgbClr val="E8EEF4"/>
                </a:solidFill>
                <a:latin typeface="Oswald" pitchFamily="34" charset="0"/>
                <a:ea typeface="Oswald" pitchFamily="34" charset="-122"/>
                <a:cs typeface="Oswald" pitchFamily="34" charset="-120"/>
              </a:rPr>
              <a:t>GAUGE · FORECAST POINT · OBSERVED STAGE · FORECAST CREST · FLOOD STAGE</a:t>
            </a:r>
            <a:endParaRPr lang="en-US" sz="1500" dirty="0"/>
          </a:p>
        </p:txBody>
      </p:sp>
      <p:sp>
        <p:nvSpPr>
          <p:cNvPr id="9" name="Text 6"/>
          <p:cNvSpPr/>
          <p:nvPr/>
        </p:nvSpPr>
        <p:spPr>
          <a:xfrm>
            <a:off x="1066288" y="3017965"/>
            <a:ext cx="2799835" cy="665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A stage is a height. A crest is a prediction with a time. A flood stage belongs to a place.</a:t>
            </a:r>
            <a:endParaRPr lang="en-US" sz="1200" dirty="0"/>
          </a:p>
        </p:txBody>
      </p:sp>
      <p:pic>
        <p:nvPicPr>
          <p:cNvPr id="10" name="Image 1" descr="connector"/>
          <p:cNvPicPr>
            <a:picLocks noChangeAspect="1"/>
          </p:cNvPicPr>
          <p:nvPr/>
        </p:nvPicPr>
        <p:blipFill>
          <a:blip r:embed="rId4"/>
          <a:srcRect l="-3" r="-3"/>
          <a:stretch/>
        </p:blipFill>
        <p:spPr>
          <a:xfrm>
            <a:off x="3924272" y="2762219"/>
            <a:ext cx="647698" cy="126992"/>
          </a:xfrm>
          <a:prstGeom prst="rect">
            <a:avLst/>
          </a:prstGeom>
        </p:spPr>
      </p:pic>
      <p:sp>
        <p:nvSpPr>
          <p:cNvPr id="11" name="Shape 7"/>
          <p:cNvSpPr/>
          <p:nvPr/>
        </p:nvSpPr>
        <p:spPr>
          <a:xfrm>
            <a:off x="4508474" y="1777984"/>
            <a:ext cx="3174993" cy="2222489"/>
          </a:xfrm>
          <a:prstGeom prst="roundRect">
            <a:avLst>
              <a:gd name="adj" fmla="val 4571"/>
            </a:avLst>
          </a:prstGeom>
          <a:solidFill>
            <a:srgbClr val="0B3042"/>
          </a:solidFill>
          <a:ln/>
        </p:spPr>
        <p:txBody>
          <a:bodyPr/>
          <a:lstStyle/>
          <a:p>
            <a:endParaRPr lang="en-US"/>
          </a:p>
        </p:txBody>
      </p:sp>
      <p:sp>
        <p:nvSpPr>
          <p:cNvPr id="12" name="Shape 8"/>
          <p:cNvSpPr/>
          <p:nvPr/>
        </p:nvSpPr>
        <p:spPr>
          <a:xfrm>
            <a:off x="4508474" y="1777984"/>
            <a:ext cx="3174993" cy="2222489"/>
          </a:xfrm>
          <a:custGeom>
            <a:avLst/>
            <a:gdLst/>
            <a:ahLst/>
            <a:cxnLst/>
            <a:rect l="l" t="t" r="r" b="b"/>
            <a:pathLst>
              <a:path w="3174993" h="2222489">
                <a:moveTo>
                  <a:pt x="101600" y="2222489"/>
                </a:moveTo>
                <a:lnTo>
                  <a:pt x="101600" y="2222489"/>
                </a:lnTo>
                <a:arcTo wR="101600" hR="101600" stAng="5400000" swAng="5400000"/>
                <a:lnTo>
                  <a:pt x="0" y="101600"/>
                </a:lnTo>
                <a:arcTo wR="101600" hR="101600" stAng="10800000" swAng="5400000"/>
                <a:lnTo>
                  <a:pt x="101600" y="0"/>
                </a:lnTo>
                <a:arcTo wR="50800" hR="101600" stAng="16200000" swAng="-5400000"/>
                <a:lnTo>
                  <a:pt x="50800" y="2120889"/>
                </a:lnTo>
                <a:arcTo wR="50800" hR="101600" stAng="10800000" swAng="-5400000"/>
                <a:close/>
              </a:path>
            </a:pathLst>
          </a:custGeom>
          <a:solidFill>
            <a:srgbClr val="C9682C"/>
          </a:solidFill>
          <a:ln/>
        </p:spPr>
        <p:txBody>
          <a:bodyPr/>
          <a:lstStyle/>
          <a:p>
            <a:endParaRPr lang="en-US"/>
          </a:p>
        </p:txBody>
      </p:sp>
      <p:sp>
        <p:nvSpPr>
          <p:cNvPr id="13" name="Text 9"/>
          <p:cNvSpPr/>
          <p:nvPr/>
        </p:nvSpPr>
        <p:spPr>
          <a:xfrm>
            <a:off x="4761986" y="1955766"/>
            <a:ext cx="2799835"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2 · THE CONNECTIONS</a:t>
            </a:r>
            <a:endParaRPr lang="en-US" sz="1100" dirty="0"/>
          </a:p>
        </p:txBody>
      </p:sp>
      <p:sp>
        <p:nvSpPr>
          <p:cNvPr id="14" name="Text 10"/>
          <p:cNvSpPr/>
          <p:nvPr/>
        </p:nvSpPr>
        <p:spPr>
          <a:xfrm>
            <a:off x="4761986" y="2227489"/>
            <a:ext cx="2799835" cy="501605"/>
          </a:xfrm>
          <a:prstGeom prst="rect">
            <a:avLst/>
          </a:prstGeom>
          <a:noFill/>
          <a:ln/>
        </p:spPr>
        <p:txBody>
          <a:bodyPr wrap="square" lIns="0" tIns="0" rIns="0" bIns="0" rtlCol="0" anchor="t">
            <a:normAutofit/>
          </a:bodyPr>
          <a:lstStyle/>
          <a:p>
            <a:pPr marL="0" indent="0" algn="l">
              <a:lnSpc>
                <a:spcPts val="1875"/>
              </a:lnSpc>
              <a:buNone/>
            </a:pPr>
            <a:r>
              <a:rPr lang="en-US" sz="1500" kern="0" spc="100" dirty="0">
                <a:solidFill>
                  <a:srgbClr val="E8EEF4"/>
                </a:solidFill>
                <a:latin typeface="Oswald" pitchFamily="34" charset="0"/>
                <a:ea typeface="Oswald" pitchFamily="34" charset="-122"/>
                <a:cs typeface="Oswald" pitchFamily="34" charset="-120"/>
              </a:rPr>
              <a:t>MEASURED AT · UPSTREAM OF · APPLIES TO</a:t>
            </a:r>
            <a:endParaRPr lang="en-US" sz="1500" dirty="0"/>
          </a:p>
        </p:txBody>
      </p:sp>
      <p:sp>
        <p:nvSpPr>
          <p:cNvPr id="15" name="Text 11"/>
          <p:cNvSpPr/>
          <p:nvPr/>
        </p:nvSpPr>
        <p:spPr>
          <a:xfrm>
            <a:off x="4761986" y="2779861"/>
            <a:ext cx="2799835" cy="8788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Readings are measured at gauges. Each gauge is upstream of the next, with a travel time. A flood stage applies to one point.</a:t>
            </a:r>
            <a:endParaRPr lang="en-US" sz="1200" dirty="0"/>
          </a:p>
        </p:txBody>
      </p:sp>
      <p:pic>
        <p:nvPicPr>
          <p:cNvPr id="16" name="Image 2" descr="connector"/>
          <p:cNvPicPr>
            <a:picLocks noChangeAspect="1"/>
          </p:cNvPicPr>
          <p:nvPr/>
        </p:nvPicPr>
        <p:blipFill>
          <a:blip r:embed="rId4"/>
          <a:srcRect l="-3" r="-3"/>
          <a:stretch/>
        </p:blipFill>
        <p:spPr>
          <a:xfrm>
            <a:off x="7619971" y="2762219"/>
            <a:ext cx="647698" cy="126992"/>
          </a:xfrm>
          <a:prstGeom prst="rect">
            <a:avLst/>
          </a:prstGeom>
        </p:spPr>
      </p:pic>
      <p:sp>
        <p:nvSpPr>
          <p:cNvPr id="17" name="Shape 12"/>
          <p:cNvSpPr/>
          <p:nvPr/>
        </p:nvSpPr>
        <p:spPr>
          <a:xfrm>
            <a:off x="8204172" y="1777984"/>
            <a:ext cx="3174993" cy="2222489"/>
          </a:xfrm>
          <a:prstGeom prst="roundRect">
            <a:avLst>
              <a:gd name="adj" fmla="val 4571"/>
            </a:avLst>
          </a:prstGeom>
          <a:solidFill>
            <a:srgbClr val="0B3042"/>
          </a:solidFill>
          <a:ln/>
        </p:spPr>
        <p:txBody>
          <a:bodyPr/>
          <a:lstStyle/>
          <a:p>
            <a:endParaRPr lang="en-US"/>
          </a:p>
        </p:txBody>
      </p:sp>
      <p:sp>
        <p:nvSpPr>
          <p:cNvPr id="18" name="Shape 13"/>
          <p:cNvSpPr/>
          <p:nvPr/>
        </p:nvSpPr>
        <p:spPr>
          <a:xfrm>
            <a:off x="8204172" y="1777984"/>
            <a:ext cx="3174993" cy="2222489"/>
          </a:xfrm>
          <a:custGeom>
            <a:avLst/>
            <a:gdLst/>
            <a:ahLst/>
            <a:cxnLst/>
            <a:rect l="l" t="t" r="r" b="b"/>
            <a:pathLst>
              <a:path w="3174993" h="2222489">
                <a:moveTo>
                  <a:pt x="101600" y="2222489"/>
                </a:moveTo>
                <a:lnTo>
                  <a:pt x="101600" y="2222489"/>
                </a:lnTo>
                <a:arcTo wR="101600" hR="101600" stAng="5400000" swAng="5400000"/>
                <a:lnTo>
                  <a:pt x="0" y="101600"/>
                </a:lnTo>
                <a:arcTo wR="101600" hR="101600" stAng="10800000" swAng="5400000"/>
                <a:lnTo>
                  <a:pt x="101600" y="0"/>
                </a:lnTo>
                <a:arcTo wR="50800" hR="101600" stAng="16200000" swAng="-5400000"/>
                <a:lnTo>
                  <a:pt x="50800" y="2120889"/>
                </a:lnTo>
                <a:arcTo wR="50800" hR="101600" stAng="10800000" swAng="-5400000"/>
                <a:close/>
              </a:path>
            </a:pathLst>
          </a:custGeom>
          <a:solidFill>
            <a:srgbClr val="C9682C"/>
          </a:solidFill>
          <a:ln/>
        </p:spPr>
        <p:txBody>
          <a:bodyPr/>
          <a:lstStyle/>
          <a:p>
            <a:endParaRPr lang="en-US"/>
          </a:p>
        </p:txBody>
      </p:sp>
      <p:sp>
        <p:nvSpPr>
          <p:cNvPr id="19" name="Text 14"/>
          <p:cNvSpPr/>
          <p:nvPr/>
        </p:nvSpPr>
        <p:spPr>
          <a:xfrm>
            <a:off x="8457685" y="1955766"/>
            <a:ext cx="2799835"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3 · THE RULE · FLOOD-01</a:t>
            </a:r>
            <a:endParaRPr lang="en-US" sz="1100" dirty="0"/>
          </a:p>
        </p:txBody>
      </p:sp>
      <p:sp>
        <p:nvSpPr>
          <p:cNvPr id="20" name="Text 15"/>
          <p:cNvSpPr/>
          <p:nvPr/>
        </p:nvSpPr>
        <p:spPr>
          <a:xfrm>
            <a:off x="8457685" y="2227489"/>
            <a:ext cx="2799835" cy="501605"/>
          </a:xfrm>
          <a:prstGeom prst="rect">
            <a:avLst/>
          </a:prstGeom>
          <a:noFill/>
          <a:ln/>
        </p:spPr>
        <p:txBody>
          <a:bodyPr wrap="square" lIns="0" tIns="0" rIns="0" bIns="0" rtlCol="0" anchor="t">
            <a:normAutofit/>
          </a:bodyPr>
          <a:lstStyle/>
          <a:p>
            <a:pPr marL="0" indent="0" algn="l">
              <a:lnSpc>
                <a:spcPts val="1875"/>
              </a:lnSpc>
              <a:buNone/>
            </a:pPr>
            <a:r>
              <a:rPr lang="en-US" sz="1500" kern="0" spc="100" dirty="0">
                <a:solidFill>
                  <a:srgbClr val="E8EEF4"/>
                </a:solidFill>
                <a:latin typeface="Oswald" pitchFamily="34" charset="0"/>
                <a:ea typeface="Oswald" pitchFamily="34" charset="-122"/>
                <a:cs typeface="Oswald" pitchFamily="34" charset="-120"/>
              </a:rPr>
              <a:t>A FORECAST AT FLOOD STAGE IS FORECAST FLOODING</a:t>
            </a:r>
            <a:endParaRPr lang="en-US" sz="1500" dirty="0"/>
          </a:p>
        </p:txBody>
      </p:sp>
      <p:sp>
        <p:nvSpPr>
          <p:cNvPr id="21" name="Text 16"/>
          <p:cNvSpPr/>
          <p:nvPr/>
        </p:nvSpPr>
        <p:spPr>
          <a:xfrm>
            <a:off x="8457685" y="2779861"/>
            <a:ext cx="2799835" cy="8788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Even while the observed stage is below it. </a:t>
            </a:r>
            <a:r>
              <a:rPr lang="en-US" sz="1200" b="1" dirty="0">
                <a:solidFill>
                  <a:srgbClr val="B8C7D3"/>
                </a:solidFill>
                <a:latin typeface="Inter" pitchFamily="34" charset="0"/>
                <a:ea typeface="Inter" pitchFamily="34" charset="-122"/>
                <a:cs typeface="Inter" pitchFamily="34" charset="-120"/>
              </a:rPr>
              <a:t>Why:</a:t>
            </a:r>
            <a:r>
              <a:rPr lang="en-US" sz="1200" dirty="0">
                <a:solidFill>
                  <a:srgbClr val="B8C7D3"/>
                </a:solidFill>
                <a:latin typeface="Inter" pitchFamily="34" charset="0"/>
                <a:ea typeface="Inter" pitchFamily="34" charset="-122"/>
                <a:cs typeface="Inter" pitchFamily="34" charset="-120"/>
              </a:rPr>
              <a:t> waiting for observed flooding loses the chance to warn before the water arrives.</a:t>
            </a:r>
            <a:endParaRPr lang="en-US" sz="1200" dirty="0"/>
          </a:p>
        </p:txBody>
      </p:sp>
      <p:sp>
        <p:nvSpPr>
          <p:cNvPr id="22" name="Shape 17"/>
          <p:cNvSpPr/>
          <p:nvPr/>
        </p:nvSpPr>
        <p:spPr>
          <a:xfrm>
            <a:off x="812775" y="4063966"/>
            <a:ext cx="10566390" cy="645088"/>
          </a:xfrm>
          <a:prstGeom prst="roundRect">
            <a:avLst>
              <a:gd name="adj" fmla="val 15750"/>
            </a:avLst>
          </a:prstGeom>
          <a:solidFill>
            <a:srgbClr val="0F1F2A"/>
          </a:solidFill>
          <a:ln/>
        </p:spPr>
        <p:txBody>
          <a:bodyPr/>
          <a:lstStyle/>
          <a:p>
            <a:endParaRPr lang="en-US"/>
          </a:p>
        </p:txBody>
      </p:sp>
      <p:sp>
        <p:nvSpPr>
          <p:cNvPr id="23" name="Text 18"/>
          <p:cNvSpPr/>
          <p:nvPr/>
        </p:nvSpPr>
        <p:spPr>
          <a:xfrm>
            <a:off x="1015969" y="4190960"/>
            <a:ext cx="1962126" cy="416503"/>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BLANCO RIVER AT WIMBERLEY</a:t>
            </a:r>
            <a:endParaRPr lang="en-US" sz="1100" dirty="0"/>
          </a:p>
        </p:txBody>
      </p:sp>
      <p:sp>
        <p:nvSpPr>
          <p:cNvPr id="24" name="Text 19"/>
          <p:cNvSpPr/>
          <p:nvPr/>
        </p:nvSpPr>
        <p:spPr>
          <a:xfrm>
            <a:off x="3073317" y="4253170"/>
            <a:ext cx="5435661" cy="292058"/>
          </a:xfrm>
          <a:prstGeom prst="rect">
            <a:avLst/>
          </a:prstGeom>
          <a:noFill/>
          <a:ln/>
        </p:spPr>
        <p:txBody>
          <a:bodyPr wrap="square" lIns="0" tIns="0" rIns="0" bIns="0" rtlCol="0" anchor="t">
            <a:normAutofit/>
          </a:bodyPr>
          <a:lstStyle/>
          <a:p>
            <a:pPr marL="0" indent="0" algn="l">
              <a:lnSpc>
                <a:spcPts val="2100"/>
              </a:lnSpc>
              <a:buNone/>
            </a:pPr>
            <a:r>
              <a:rPr lang="en-US" sz="1500" kern="0" spc="50" dirty="0">
                <a:solidFill>
                  <a:srgbClr val="E8EEF4"/>
                </a:solidFill>
                <a:latin typeface="Oswald" pitchFamily="34" charset="0"/>
                <a:ea typeface="Oswald" pitchFamily="34" charset="-122"/>
                <a:cs typeface="Oswald" pitchFamily="34" charset="-120"/>
              </a:rPr>
              <a:t>ACTION 10 FT · MINOR 13 FT · MODERATE 17 FT · MAJOR 26 FT</a:t>
            </a:r>
            <a:endParaRPr lang="en-US" sz="1500" dirty="0"/>
          </a:p>
        </p:txBody>
      </p:sp>
      <p:sp>
        <p:nvSpPr>
          <p:cNvPr id="25" name="Text 20"/>
          <p:cNvSpPr/>
          <p:nvPr/>
        </p:nvSpPr>
        <p:spPr>
          <a:xfrm>
            <a:off x="8508978" y="4204925"/>
            <a:ext cx="2747003" cy="388576"/>
          </a:xfrm>
          <a:prstGeom prst="rect">
            <a:avLst/>
          </a:prstGeom>
          <a:noFill/>
          <a:ln/>
        </p:spPr>
        <p:txBody>
          <a:bodyPr wrap="square" lIns="0" tIns="0" rIns="0" bIns="0" rtlCol="0" anchor="t">
            <a:normAutofit/>
          </a:bodyPr>
          <a:lstStyle/>
          <a:p>
            <a:pPr marL="0" indent="0" algn="l">
              <a:lnSpc>
                <a:spcPts val="1430"/>
              </a:lnSpc>
              <a:buNone/>
            </a:pPr>
            <a:r>
              <a:rPr lang="en-US" sz="1100" dirty="0">
                <a:solidFill>
                  <a:srgbClr val="B8C7D3"/>
                </a:solidFill>
                <a:latin typeface="Inter" pitchFamily="34" charset="0"/>
                <a:ea typeface="Inter" pitchFamily="34" charset="-122"/>
                <a:cs typeface="Inter" pitchFamily="34" charset="-120"/>
              </a:rPr>
              <a:t>Published per forecast point by the NWS. Not a universal number.</a:t>
            </a:r>
            <a:endParaRPr lang="en-US" sz="1100" dirty="0"/>
          </a:p>
        </p:txBody>
      </p:sp>
      <p:sp>
        <p:nvSpPr>
          <p:cNvPr id="26" name="Text 21"/>
          <p:cNvSpPr/>
          <p:nvPr/>
        </p:nvSpPr>
        <p:spPr>
          <a:xfrm>
            <a:off x="812775" y="5034238"/>
            <a:ext cx="1322955" cy="274321"/>
          </a:xfrm>
          <a:prstGeom prst="rect">
            <a:avLst/>
          </a:prstGeom>
          <a:noFill/>
          <a:ln/>
        </p:spPr>
        <p:txBody>
          <a:bodyPr wrap="none" lIns="0" tIns="0" rIns="0" bIns="0" rtlCol="0" anchor="t">
            <a:normAutofit/>
          </a:bodyPr>
          <a:lstStyle/>
          <a:p>
            <a:pPr marL="0" indent="0" algn="l">
              <a:lnSpc>
                <a:spcPts val="1960"/>
              </a:lnSpc>
              <a:buNone/>
            </a:pPr>
            <a:r>
              <a:rPr lang="en-US" sz="1400" kern="0" spc="200" dirty="0">
                <a:solidFill>
                  <a:srgbClr val="C9682C"/>
                </a:solidFill>
                <a:latin typeface="Oswald" pitchFamily="34" charset="0"/>
                <a:ea typeface="Oswald" pitchFamily="34" charset="-122"/>
                <a:cs typeface="Oswald" pitchFamily="34" charset="-120"/>
              </a:rPr>
              <a:t>FORMAL NAME</a:t>
            </a:r>
            <a:endParaRPr lang="en-US" sz="1400" dirty="0"/>
          </a:p>
        </p:txBody>
      </p:sp>
      <p:sp>
        <p:nvSpPr>
          <p:cNvPr id="27" name="Text 22"/>
          <p:cNvSpPr/>
          <p:nvPr/>
        </p:nvSpPr>
        <p:spPr>
          <a:xfrm>
            <a:off x="2288124" y="5016472"/>
            <a:ext cx="8856657" cy="30985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EF4"/>
                </a:solidFill>
                <a:latin typeface="Inter" pitchFamily="34" charset="0"/>
                <a:ea typeface="Inter" pitchFamily="34" charset="-122"/>
                <a:cs typeface="Inter" pitchFamily="34" charset="-120"/>
              </a:rPr>
              <a:t>An ontology provides context the LLM cannot be expected to know or guess.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1"/>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VERTICAL 1 · FLOOD MONITORING · HOW MUCH WARNING DO WE HAVE?</a:t>
            </a:r>
            <a:endParaRPr lang="en-US" sz="1200" dirty="0"/>
          </a:p>
        </p:txBody>
      </p:sp>
      <p:sp>
        <p:nvSpPr>
          <p:cNvPr id="4" name="Text 1"/>
          <p:cNvSpPr>
            <a:spLocks noGrp="1"/>
          </p:cNvSpPr>
          <p:nvPr>
            <p:ph type="title"/>
          </p:nvPr>
        </p:nvSpPr>
        <p:spPr>
          <a:xfrm>
            <a:off x="812775" y="1102296"/>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SAME READING. TWO ANSWERS.</a:t>
            </a:r>
            <a:endParaRPr lang="en-US" sz="3200" dirty="0"/>
          </a:p>
        </p:txBody>
      </p:sp>
      <p:sp>
        <p:nvSpPr>
          <p:cNvPr id="5" name="Shape 2"/>
          <p:cNvSpPr/>
          <p:nvPr/>
        </p:nvSpPr>
        <p:spPr>
          <a:xfrm>
            <a:off x="812775" y="1663700"/>
            <a:ext cx="3420549" cy="627853"/>
          </a:xfrm>
          <a:prstGeom prst="roundRect">
            <a:avLst>
              <a:gd name="adj" fmla="val 16182"/>
            </a:avLst>
          </a:prstGeom>
          <a:solidFill>
            <a:srgbClr val="0F1F2A"/>
          </a:solidFill>
          <a:ln/>
        </p:spPr>
        <p:txBody>
          <a:bodyPr/>
          <a:lstStyle/>
          <a:p>
            <a:endParaRPr lang="en-US"/>
          </a:p>
        </p:txBody>
      </p:sp>
      <p:sp>
        <p:nvSpPr>
          <p:cNvPr id="6" name="Text 3"/>
          <p:cNvSpPr/>
          <p:nvPr/>
        </p:nvSpPr>
        <p:spPr>
          <a:xfrm>
            <a:off x="1698481" y="1976617"/>
            <a:ext cx="969581"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RIVER NOW</a:t>
            </a:r>
            <a:endParaRPr lang="en-US" sz="1200" dirty="0"/>
          </a:p>
        </p:txBody>
      </p:sp>
      <p:sp>
        <p:nvSpPr>
          <p:cNvPr id="7" name="Text 4"/>
          <p:cNvSpPr/>
          <p:nvPr/>
        </p:nvSpPr>
        <p:spPr>
          <a:xfrm>
            <a:off x="2668062" y="1765281"/>
            <a:ext cx="815467" cy="431788"/>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8EEF4"/>
                </a:solidFill>
                <a:latin typeface="Oswald" pitchFamily="34" charset="0"/>
                <a:ea typeface="Oswald" pitchFamily="34" charset="-122"/>
                <a:cs typeface="Oswald" pitchFamily="34" charset="-120"/>
              </a:rPr>
              <a:t>11 ft</a:t>
            </a:r>
            <a:endParaRPr lang="en-US" sz="3200" dirty="0"/>
          </a:p>
        </p:txBody>
      </p:sp>
      <p:sp>
        <p:nvSpPr>
          <p:cNvPr id="8" name="Shape 5"/>
          <p:cNvSpPr/>
          <p:nvPr/>
        </p:nvSpPr>
        <p:spPr>
          <a:xfrm>
            <a:off x="4385696" y="1663700"/>
            <a:ext cx="3420549" cy="627853"/>
          </a:xfrm>
          <a:prstGeom prst="roundRect">
            <a:avLst>
              <a:gd name="adj" fmla="val 16182"/>
            </a:avLst>
          </a:prstGeom>
          <a:solidFill>
            <a:srgbClr val="0F1F2A"/>
          </a:solidFill>
          <a:ln/>
        </p:spPr>
        <p:txBody>
          <a:bodyPr/>
          <a:lstStyle/>
          <a:p>
            <a:endParaRPr lang="en-US"/>
          </a:p>
        </p:txBody>
      </p:sp>
      <p:sp>
        <p:nvSpPr>
          <p:cNvPr id="9" name="Text 6"/>
          <p:cNvSpPr/>
          <p:nvPr/>
        </p:nvSpPr>
        <p:spPr>
          <a:xfrm>
            <a:off x="5171959" y="1976617"/>
            <a:ext cx="1118619"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FLOOD STAGE</a:t>
            </a:r>
            <a:endParaRPr lang="en-US" sz="1200" dirty="0"/>
          </a:p>
        </p:txBody>
      </p:sp>
      <p:sp>
        <p:nvSpPr>
          <p:cNvPr id="10" name="Text 7"/>
          <p:cNvSpPr/>
          <p:nvPr/>
        </p:nvSpPr>
        <p:spPr>
          <a:xfrm>
            <a:off x="6290578" y="1765281"/>
            <a:ext cx="875246" cy="431788"/>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8EEF4"/>
                </a:solidFill>
                <a:latin typeface="Oswald" pitchFamily="34" charset="0"/>
                <a:ea typeface="Oswald" pitchFamily="34" charset="-122"/>
                <a:cs typeface="Oswald" pitchFamily="34" charset="-120"/>
              </a:rPr>
              <a:t>13 ft</a:t>
            </a:r>
            <a:endParaRPr lang="en-US" sz="3200" dirty="0"/>
          </a:p>
        </p:txBody>
      </p:sp>
      <p:sp>
        <p:nvSpPr>
          <p:cNvPr id="11" name="Shape 8"/>
          <p:cNvSpPr/>
          <p:nvPr/>
        </p:nvSpPr>
        <p:spPr>
          <a:xfrm>
            <a:off x="7958617" y="1663700"/>
            <a:ext cx="3420549" cy="627853"/>
          </a:xfrm>
          <a:prstGeom prst="roundRect">
            <a:avLst>
              <a:gd name="adj" fmla="val 16182"/>
            </a:avLst>
          </a:prstGeom>
          <a:solidFill>
            <a:srgbClr val="0F1F2A"/>
          </a:solidFill>
          <a:ln/>
        </p:spPr>
        <p:txBody>
          <a:bodyPr/>
          <a:lstStyle/>
          <a:p>
            <a:endParaRPr lang="en-US"/>
          </a:p>
        </p:txBody>
      </p:sp>
      <p:sp>
        <p:nvSpPr>
          <p:cNvPr id="12" name="Text 9"/>
          <p:cNvSpPr/>
          <p:nvPr/>
        </p:nvSpPr>
        <p:spPr>
          <a:xfrm>
            <a:off x="8317798" y="1976617"/>
            <a:ext cx="1968662"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FORECAST CREST, 4 P.M.</a:t>
            </a:r>
            <a:endParaRPr lang="en-US" sz="1200" dirty="0"/>
          </a:p>
        </p:txBody>
      </p:sp>
      <p:sp>
        <p:nvSpPr>
          <p:cNvPr id="13" name="Text 10"/>
          <p:cNvSpPr/>
          <p:nvPr/>
        </p:nvSpPr>
        <p:spPr>
          <a:xfrm>
            <a:off x="10286460" y="1765281"/>
            <a:ext cx="880227" cy="431788"/>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8EEF4"/>
                </a:solidFill>
                <a:latin typeface="Oswald" pitchFamily="34" charset="0"/>
                <a:ea typeface="Oswald" pitchFamily="34" charset="-122"/>
                <a:cs typeface="Oswald" pitchFamily="34" charset="-120"/>
              </a:rPr>
              <a:t>18 ft</a:t>
            </a:r>
            <a:endParaRPr lang="en-US" sz="3200" dirty="0"/>
          </a:p>
        </p:txBody>
      </p:sp>
      <p:sp>
        <p:nvSpPr>
          <p:cNvPr id="14" name="Shape 11"/>
          <p:cNvSpPr/>
          <p:nvPr/>
        </p:nvSpPr>
        <p:spPr>
          <a:xfrm>
            <a:off x="812775" y="2539969"/>
            <a:ext cx="2374892" cy="711194"/>
          </a:xfrm>
          <a:prstGeom prst="roundRect">
            <a:avLst>
              <a:gd name="adj" fmla="val 10714"/>
            </a:avLst>
          </a:prstGeom>
          <a:solidFill>
            <a:srgbClr val="0B3042"/>
          </a:solidFill>
          <a:ln/>
        </p:spPr>
        <p:txBody>
          <a:bodyPr/>
          <a:lstStyle/>
          <a:p>
            <a:endParaRPr lang="en-US"/>
          </a:p>
        </p:txBody>
      </p:sp>
      <p:sp>
        <p:nvSpPr>
          <p:cNvPr id="15" name="Shape 12"/>
          <p:cNvSpPr/>
          <p:nvPr/>
        </p:nvSpPr>
        <p:spPr>
          <a:xfrm>
            <a:off x="812775" y="2539969"/>
            <a:ext cx="2374892" cy="711194"/>
          </a:xfrm>
          <a:custGeom>
            <a:avLst/>
            <a:gdLst/>
            <a:ahLst/>
            <a:cxnLst/>
            <a:rect l="l" t="t" r="r" b="b"/>
            <a:pathLst>
              <a:path w="2374892" h="711194">
                <a:moveTo>
                  <a:pt x="76200" y="711194"/>
                </a:moveTo>
                <a:lnTo>
                  <a:pt x="76200" y="711194"/>
                </a:lnTo>
                <a:arcTo wR="76200" hR="76200" stAng="5400000" swAng="5400000"/>
                <a:lnTo>
                  <a:pt x="0" y="76200"/>
                </a:lnTo>
                <a:arcTo wR="76200" hR="76200" stAng="10800000" swAng="5400000"/>
                <a:lnTo>
                  <a:pt x="76200" y="0"/>
                </a:lnTo>
                <a:arcTo wR="38100" hR="76200" stAng="16200000" swAng="-5400000"/>
                <a:lnTo>
                  <a:pt x="38100" y="634994"/>
                </a:lnTo>
                <a:arcTo wR="38100" hR="76200" stAng="10800000" swAng="-5400000"/>
                <a:close/>
              </a:path>
            </a:pathLst>
          </a:custGeom>
          <a:solidFill>
            <a:srgbClr val="6E8597"/>
          </a:solidFill>
          <a:ln/>
        </p:spPr>
        <p:txBody>
          <a:bodyPr/>
          <a:lstStyle/>
          <a:p>
            <a:endParaRPr lang="en-US"/>
          </a:p>
        </p:txBody>
      </p:sp>
      <p:sp>
        <p:nvSpPr>
          <p:cNvPr id="16" name="Text 13"/>
          <p:cNvSpPr/>
          <p:nvPr/>
        </p:nvSpPr>
        <p:spPr>
          <a:xfrm>
            <a:off x="1001376" y="2641550"/>
            <a:ext cx="2094936" cy="218436"/>
          </a:xfrm>
          <a:prstGeom prst="rect">
            <a:avLst/>
          </a:prstGeom>
          <a:noFill/>
          <a:ln/>
        </p:spPr>
        <p:txBody>
          <a:bodyPr wrap="square" lIns="0" tIns="0" rIns="0" bIns="0" rtlCol="0" anchor="t">
            <a:normAutofit/>
          </a:bodyPr>
          <a:lstStyle/>
          <a:p>
            <a:pPr marL="0" indent="0" algn="l">
              <a:lnSpc>
                <a:spcPts val="1523"/>
              </a:lnSpc>
              <a:buNone/>
            </a:pPr>
            <a:r>
              <a:rPr lang="en-US" sz="1088" kern="0" spc="100" dirty="0">
                <a:solidFill>
                  <a:srgbClr val="6E8597"/>
                </a:solidFill>
                <a:latin typeface="Oswald" pitchFamily="34" charset="0"/>
                <a:ea typeface="Oswald" pitchFamily="34" charset="-122"/>
                <a:cs typeface="Oswald" pitchFamily="34" charset="-120"/>
              </a:rPr>
              <a:t>NOON · GAUGE READS</a:t>
            </a:r>
            <a:endParaRPr lang="en-US" sz="1088" dirty="0"/>
          </a:p>
        </p:txBody>
      </p:sp>
      <p:sp>
        <p:nvSpPr>
          <p:cNvPr id="17" name="Text 14"/>
          <p:cNvSpPr/>
          <p:nvPr/>
        </p:nvSpPr>
        <p:spPr>
          <a:xfrm>
            <a:off x="1001376" y="2859968"/>
            <a:ext cx="2094936" cy="315016"/>
          </a:xfrm>
          <a:prstGeom prst="rect">
            <a:avLst/>
          </a:prstGeom>
          <a:noFill/>
          <a:ln/>
        </p:spPr>
        <p:txBody>
          <a:bodyPr wrap="square" lIns="0" tIns="0" rIns="0" bIns="0" rtlCol="0" anchor="t">
            <a:normAutofit/>
          </a:bodyPr>
          <a:lstStyle/>
          <a:p>
            <a:pPr marL="0" indent="0" algn="l">
              <a:lnSpc>
                <a:spcPts val="2323"/>
              </a:lnSpc>
              <a:buNone/>
            </a:pPr>
            <a:r>
              <a:rPr lang="en-US" sz="1659" b="1" dirty="0">
                <a:solidFill>
                  <a:srgbClr val="E8EEF4"/>
                </a:solidFill>
                <a:latin typeface="Oswald" pitchFamily="34" charset="0"/>
                <a:ea typeface="Oswald" pitchFamily="34" charset="-122"/>
                <a:cs typeface="Oswald" pitchFamily="34" charset="-120"/>
              </a:rPr>
              <a:t>11 FT</a:t>
            </a:r>
            <a:endParaRPr lang="en-US" sz="1659" dirty="0"/>
          </a:p>
        </p:txBody>
      </p:sp>
      <p:pic>
        <p:nvPicPr>
          <p:cNvPr id="18" name="Image 1" descr="arrow-right"/>
          <p:cNvPicPr>
            <a:picLocks noChangeAspect="1"/>
          </p:cNvPicPr>
          <p:nvPr/>
        </p:nvPicPr>
        <p:blipFill>
          <a:blip r:embed="rId4"/>
          <a:srcRect t="-4" b="-4"/>
          <a:stretch/>
        </p:blipFill>
        <p:spPr>
          <a:xfrm>
            <a:off x="3251195" y="2793988"/>
            <a:ext cx="228573" cy="203194"/>
          </a:xfrm>
          <a:prstGeom prst="rect">
            <a:avLst/>
          </a:prstGeom>
        </p:spPr>
      </p:pic>
      <p:sp>
        <p:nvSpPr>
          <p:cNvPr id="19" name="Shape 15"/>
          <p:cNvSpPr/>
          <p:nvPr/>
        </p:nvSpPr>
        <p:spPr>
          <a:xfrm>
            <a:off x="3543295" y="2539969"/>
            <a:ext cx="2374892" cy="711194"/>
          </a:xfrm>
          <a:prstGeom prst="roundRect">
            <a:avLst>
              <a:gd name="adj" fmla="val 10714"/>
            </a:avLst>
          </a:prstGeom>
          <a:solidFill>
            <a:srgbClr val="0B3042"/>
          </a:solidFill>
          <a:ln/>
        </p:spPr>
        <p:txBody>
          <a:bodyPr/>
          <a:lstStyle/>
          <a:p>
            <a:endParaRPr lang="en-US"/>
          </a:p>
        </p:txBody>
      </p:sp>
      <p:sp>
        <p:nvSpPr>
          <p:cNvPr id="20" name="Shape 16"/>
          <p:cNvSpPr/>
          <p:nvPr/>
        </p:nvSpPr>
        <p:spPr>
          <a:xfrm>
            <a:off x="3543295" y="2539969"/>
            <a:ext cx="2374892" cy="711194"/>
          </a:xfrm>
          <a:custGeom>
            <a:avLst/>
            <a:gdLst/>
            <a:ahLst/>
            <a:cxnLst/>
            <a:rect l="l" t="t" r="r" b="b"/>
            <a:pathLst>
              <a:path w="2374892" h="711194">
                <a:moveTo>
                  <a:pt x="76200" y="711194"/>
                </a:moveTo>
                <a:lnTo>
                  <a:pt x="76200" y="711194"/>
                </a:lnTo>
                <a:arcTo wR="76200" hR="76200" stAng="5400000" swAng="5400000"/>
                <a:lnTo>
                  <a:pt x="0" y="76200"/>
                </a:lnTo>
                <a:arcTo wR="76200" hR="76200" stAng="10800000" swAng="5400000"/>
                <a:lnTo>
                  <a:pt x="76200" y="0"/>
                </a:lnTo>
                <a:arcTo wR="38100" hR="76200" stAng="16200000" swAng="-5400000"/>
                <a:lnTo>
                  <a:pt x="38100" y="634994"/>
                </a:lnTo>
                <a:arcTo wR="38100" hR="76200" stAng="10800000" swAng="-5400000"/>
                <a:close/>
              </a:path>
            </a:pathLst>
          </a:custGeom>
          <a:solidFill>
            <a:srgbClr val="B8C7D3"/>
          </a:solidFill>
          <a:ln/>
        </p:spPr>
        <p:txBody>
          <a:bodyPr/>
          <a:lstStyle/>
          <a:p>
            <a:endParaRPr lang="en-US"/>
          </a:p>
        </p:txBody>
      </p:sp>
      <p:sp>
        <p:nvSpPr>
          <p:cNvPr id="21" name="Text 17"/>
          <p:cNvSpPr/>
          <p:nvPr/>
        </p:nvSpPr>
        <p:spPr>
          <a:xfrm>
            <a:off x="3731897" y="2641550"/>
            <a:ext cx="2094936" cy="218436"/>
          </a:xfrm>
          <a:prstGeom prst="rect">
            <a:avLst/>
          </a:prstGeom>
          <a:noFill/>
          <a:ln/>
        </p:spPr>
        <p:txBody>
          <a:bodyPr wrap="square" lIns="0" tIns="0" rIns="0" bIns="0" rtlCol="0" anchor="t">
            <a:normAutofit/>
          </a:bodyPr>
          <a:lstStyle/>
          <a:p>
            <a:pPr marL="0" indent="0" algn="l">
              <a:lnSpc>
                <a:spcPts val="1523"/>
              </a:lnSpc>
              <a:buNone/>
            </a:pPr>
            <a:r>
              <a:rPr lang="en-US" sz="1088" kern="0" spc="100" dirty="0">
                <a:solidFill>
                  <a:srgbClr val="6E8597"/>
                </a:solidFill>
                <a:latin typeface="Oswald" pitchFamily="34" charset="0"/>
                <a:ea typeface="Oswald" pitchFamily="34" charset="-122"/>
                <a:cs typeface="Oswald" pitchFamily="34" charset="-120"/>
              </a:rPr>
              <a:t>+2 FT → 13 FT</a:t>
            </a:r>
            <a:endParaRPr lang="en-US" sz="1088" dirty="0"/>
          </a:p>
        </p:txBody>
      </p:sp>
      <p:sp>
        <p:nvSpPr>
          <p:cNvPr id="22" name="Text 18"/>
          <p:cNvSpPr/>
          <p:nvPr/>
        </p:nvSpPr>
        <p:spPr>
          <a:xfrm>
            <a:off x="3731897" y="2859968"/>
            <a:ext cx="2094936" cy="315016"/>
          </a:xfrm>
          <a:prstGeom prst="rect">
            <a:avLst/>
          </a:prstGeom>
          <a:noFill/>
          <a:ln/>
        </p:spPr>
        <p:txBody>
          <a:bodyPr wrap="square" lIns="0" tIns="0" rIns="0" bIns="0" rtlCol="0" anchor="t">
            <a:normAutofit/>
          </a:bodyPr>
          <a:lstStyle/>
          <a:p>
            <a:pPr marL="0" indent="0" algn="l">
              <a:lnSpc>
                <a:spcPts val="2323"/>
              </a:lnSpc>
              <a:buNone/>
            </a:pPr>
            <a:r>
              <a:rPr lang="en-US" sz="1659" b="1" dirty="0">
                <a:solidFill>
                  <a:srgbClr val="E8EEF4"/>
                </a:solidFill>
                <a:latin typeface="Oswald" pitchFamily="34" charset="0"/>
                <a:ea typeface="Oswald" pitchFamily="34" charset="-122"/>
                <a:cs typeface="Oswald" pitchFamily="34" charset="-120"/>
              </a:rPr>
              <a:t>FLOOD STAGE</a:t>
            </a:r>
            <a:endParaRPr lang="en-US" sz="1659" dirty="0"/>
          </a:p>
        </p:txBody>
      </p:sp>
      <p:pic>
        <p:nvPicPr>
          <p:cNvPr id="23" name="Image 2" descr="arrow-right"/>
          <p:cNvPicPr>
            <a:picLocks noChangeAspect="1"/>
          </p:cNvPicPr>
          <p:nvPr/>
        </p:nvPicPr>
        <p:blipFill>
          <a:blip r:embed="rId4"/>
          <a:srcRect t="-4" b="-4"/>
          <a:stretch/>
        </p:blipFill>
        <p:spPr>
          <a:xfrm>
            <a:off x="5981683" y="2793988"/>
            <a:ext cx="228573" cy="203194"/>
          </a:xfrm>
          <a:prstGeom prst="rect">
            <a:avLst/>
          </a:prstGeom>
        </p:spPr>
      </p:pic>
      <p:sp>
        <p:nvSpPr>
          <p:cNvPr id="24" name="Shape 19"/>
          <p:cNvSpPr/>
          <p:nvPr/>
        </p:nvSpPr>
        <p:spPr>
          <a:xfrm>
            <a:off x="6273784" y="2539969"/>
            <a:ext cx="2374892" cy="711194"/>
          </a:xfrm>
          <a:prstGeom prst="roundRect">
            <a:avLst>
              <a:gd name="adj" fmla="val 10714"/>
            </a:avLst>
          </a:prstGeom>
          <a:solidFill>
            <a:srgbClr val="0B3042"/>
          </a:solidFill>
          <a:ln/>
        </p:spPr>
        <p:txBody>
          <a:bodyPr/>
          <a:lstStyle/>
          <a:p>
            <a:endParaRPr lang="en-US"/>
          </a:p>
        </p:txBody>
      </p:sp>
      <p:sp>
        <p:nvSpPr>
          <p:cNvPr id="25" name="Shape 20"/>
          <p:cNvSpPr/>
          <p:nvPr/>
        </p:nvSpPr>
        <p:spPr>
          <a:xfrm>
            <a:off x="6273784" y="2539969"/>
            <a:ext cx="2374892" cy="711194"/>
          </a:xfrm>
          <a:custGeom>
            <a:avLst/>
            <a:gdLst/>
            <a:ahLst/>
            <a:cxnLst/>
            <a:rect l="l" t="t" r="r" b="b"/>
            <a:pathLst>
              <a:path w="2374892" h="711194">
                <a:moveTo>
                  <a:pt x="76200" y="711194"/>
                </a:moveTo>
                <a:lnTo>
                  <a:pt x="76200" y="711194"/>
                </a:lnTo>
                <a:arcTo wR="76200" hR="76200" stAng="5400000" swAng="5400000"/>
                <a:lnTo>
                  <a:pt x="0" y="76200"/>
                </a:lnTo>
                <a:arcTo wR="76200" hR="76200" stAng="10800000" swAng="5400000"/>
                <a:lnTo>
                  <a:pt x="76200" y="0"/>
                </a:lnTo>
                <a:arcTo wR="38100" hR="76200" stAng="16200000" swAng="-5400000"/>
                <a:lnTo>
                  <a:pt x="38100" y="634994"/>
                </a:lnTo>
                <a:arcTo wR="38100" hR="76200" stAng="10800000" swAng="-5400000"/>
                <a:close/>
              </a:path>
            </a:pathLst>
          </a:custGeom>
          <a:solidFill>
            <a:srgbClr val="C9682C"/>
          </a:solidFill>
          <a:ln/>
        </p:spPr>
        <p:txBody>
          <a:bodyPr/>
          <a:lstStyle/>
          <a:p>
            <a:endParaRPr lang="en-US"/>
          </a:p>
        </p:txBody>
      </p:sp>
      <p:sp>
        <p:nvSpPr>
          <p:cNvPr id="26" name="Text 21"/>
          <p:cNvSpPr/>
          <p:nvPr/>
        </p:nvSpPr>
        <p:spPr>
          <a:xfrm>
            <a:off x="6462386" y="2641550"/>
            <a:ext cx="2094936" cy="218436"/>
          </a:xfrm>
          <a:prstGeom prst="rect">
            <a:avLst/>
          </a:prstGeom>
          <a:noFill/>
          <a:ln/>
        </p:spPr>
        <p:txBody>
          <a:bodyPr wrap="square" lIns="0" tIns="0" rIns="0" bIns="0" rtlCol="0" anchor="t">
            <a:normAutofit/>
          </a:bodyPr>
          <a:lstStyle/>
          <a:p>
            <a:pPr marL="0" indent="0" algn="l">
              <a:lnSpc>
                <a:spcPts val="1523"/>
              </a:lnSpc>
              <a:buNone/>
            </a:pPr>
            <a:r>
              <a:rPr lang="en-US" sz="1088" kern="0" spc="100" dirty="0">
                <a:solidFill>
                  <a:srgbClr val="6E8597"/>
                </a:solidFill>
                <a:latin typeface="Oswald" pitchFamily="34" charset="0"/>
                <a:ea typeface="Oswald" pitchFamily="34" charset="-122"/>
                <a:cs typeface="Oswald" pitchFamily="34" charset="-120"/>
              </a:rPr>
              <a:t>UPSTREAM GAUGES RISING</a:t>
            </a:r>
            <a:endParaRPr lang="en-US" sz="1088" dirty="0"/>
          </a:p>
        </p:txBody>
      </p:sp>
      <p:sp>
        <p:nvSpPr>
          <p:cNvPr id="27" name="Text 22"/>
          <p:cNvSpPr/>
          <p:nvPr/>
        </p:nvSpPr>
        <p:spPr>
          <a:xfrm>
            <a:off x="6462386" y="2859968"/>
            <a:ext cx="2094936" cy="315016"/>
          </a:xfrm>
          <a:prstGeom prst="rect">
            <a:avLst/>
          </a:prstGeom>
          <a:noFill/>
          <a:ln/>
        </p:spPr>
        <p:txBody>
          <a:bodyPr wrap="square" lIns="0" tIns="0" rIns="0" bIns="0" rtlCol="0" anchor="t">
            <a:normAutofit/>
          </a:bodyPr>
          <a:lstStyle/>
          <a:p>
            <a:pPr marL="0" indent="0" algn="l">
              <a:lnSpc>
                <a:spcPts val="2323"/>
              </a:lnSpc>
              <a:buNone/>
            </a:pPr>
            <a:r>
              <a:rPr lang="en-US" sz="1659" b="1" dirty="0">
                <a:solidFill>
                  <a:srgbClr val="E8EEF4"/>
                </a:solidFill>
                <a:latin typeface="Oswald" pitchFamily="34" charset="0"/>
                <a:ea typeface="Oswald" pitchFamily="34" charset="-122"/>
                <a:cs typeface="Oswald" pitchFamily="34" charset="-120"/>
              </a:rPr>
              <a:t>18 FT AT 4 P.M.</a:t>
            </a:r>
            <a:endParaRPr lang="en-US" sz="1659" dirty="0"/>
          </a:p>
        </p:txBody>
      </p:sp>
      <p:pic>
        <p:nvPicPr>
          <p:cNvPr id="28" name="Image 3" descr="arrow-right"/>
          <p:cNvPicPr>
            <a:picLocks noChangeAspect="1"/>
          </p:cNvPicPr>
          <p:nvPr/>
        </p:nvPicPr>
        <p:blipFill>
          <a:blip r:embed="rId5"/>
          <a:srcRect t="-4" b="-4"/>
          <a:stretch/>
        </p:blipFill>
        <p:spPr>
          <a:xfrm>
            <a:off x="8712172" y="2793988"/>
            <a:ext cx="228573" cy="203194"/>
          </a:xfrm>
          <a:prstGeom prst="rect">
            <a:avLst/>
          </a:prstGeom>
        </p:spPr>
      </p:pic>
      <p:sp>
        <p:nvSpPr>
          <p:cNvPr id="29" name="Shape 23"/>
          <p:cNvSpPr/>
          <p:nvPr/>
        </p:nvSpPr>
        <p:spPr>
          <a:xfrm>
            <a:off x="9004274" y="2539969"/>
            <a:ext cx="2374892" cy="711194"/>
          </a:xfrm>
          <a:prstGeom prst="roundRect">
            <a:avLst>
              <a:gd name="adj" fmla="val 10714"/>
            </a:avLst>
          </a:prstGeom>
          <a:solidFill>
            <a:srgbClr val="C9682C"/>
          </a:solidFill>
          <a:ln/>
        </p:spPr>
        <p:txBody>
          <a:bodyPr/>
          <a:lstStyle/>
          <a:p>
            <a:endParaRPr lang="en-US"/>
          </a:p>
        </p:txBody>
      </p:sp>
      <p:sp>
        <p:nvSpPr>
          <p:cNvPr id="30" name="Text 24"/>
          <p:cNvSpPr/>
          <p:nvPr/>
        </p:nvSpPr>
        <p:spPr>
          <a:xfrm>
            <a:off x="9156645" y="2641550"/>
            <a:ext cx="2132253" cy="218436"/>
          </a:xfrm>
          <a:prstGeom prst="rect">
            <a:avLst/>
          </a:prstGeom>
          <a:noFill/>
          <a:ln/>
        </p:spPr>
        <p:txBody>
          <a:bodyPr wrap="square" lIns="0" tIns="0" rIns="0" bIns="0" rtlCol="0" anchor="t">
            <a:normAutofit/>
          </a:bodyPr>
          <a:lstStyle/>
          <a:p>
            <a:pPr marL="0" indent="0" algn="l">
              <a:lnSpc>
                <a:spcPts val="1523"/>
              </a:lnSpc>
              <a:buNone/>
            </a:pPr>
            <a:r>
              <a:rPr lang="en-US" sz="1088" kern="0" spc="100" dirty="0">
                <a:solidFill>
                  <a:srgbClr val="0F1F2A"/>
                </a:solidFill>
                <a:latin typeface="Oswald" pitchFamily="34" charset="0"/>
                <a:ea typeface="Oswald" pitchFamily="34" charset="-122"/>
                <a:cs typeface="Oswald" pitchFamily="34" charset="-120"/>
              </a:rPr>
              <a:t>THE TRIGGER FIRES</a:t>
            </a:r>
            <a:endParaRPr lang="en-US" sz="1088" dirty="0"/>
          </a:p>
        </p:txBody>
      </p:sp>
      <p:sp>
        <p:nvSpPr>
          <p:cNvPr id="31" name="Text 25"/>
          <p:cNvSpPr/>
          <p:nvPr/>
        </p:nvSpPr>
        <p:spPr>
          <a:xfrm>
            <a:off x="9156645" y="2859968"/>
            <a:ext cx="2132253" cy="315016"/>
          </a:xfrm>
          <a:prstGeom prst="rect">
            <a:avLst/>
          </a:prstGeom>
          <a:noFill/>
          <a:ln/>
        </p:spPr>
        <p:txBody>
          <a:bodyPr wrap="square" lIns="0" tIns="0" rIns="0" bIns="0" rtlCol="0" anchor="t">
            <a:normAutofit/>
          </a:bodyPr>
          <a:lstStyle/>
          <a:p>
            <a:pPr marL="0" indent="0" algn="l">
              <a:lnSpc>
                <a:spcPts val="2323"/>
              </a:lnSpc>
              <a:buNone/>
            </a:pPr>
            <a:r>
              <a:rPr lang="en-US" sz="1659" b="1" dirty="0">
                <a:solidFill>
                  <a:srgbClr val="0F1F2A"/>
                </a:solidFill>
                <a:latin typeface="Oswald" pitchFamily="34" charset="0"/>
                <a:ea typeface="Oswald" pitchFamily="34" charset="-122"/>
                <a:cs typeface="Oswald" pitchFamily="34" charset="-120"/>
              </a:rPr>
              <a:t>WARN AT NOON</a:t>
            </a:r>
            <a:endParaRPr lang="en-US" sz="1659" dirty="0"/>
          </a:p>
        </p:txBody>
      </p:sp>
      <p:sp>
        <p:nvSpPr>
          <p:cNvPr id="32" name="Shape 26"/>
          <p:cNvSpPr/>
          <p:nvPr/>
        </p:nvSpPr>
        <p:spPr>
          <a:xfrm>
            <a:off x="812775" y="3505181"/>
            <a:ext cx="5130792" cy="2158993"/>
          </a:xfrm>
          <a:prstGeom prst="roundRect">
            <a:avLst>
              <a:gd name="adj" fmla="val 4706"/>
            </a:avLst>
          </a:prstGeom>
          <a:solidFill>
            <a:srgbClr val="0B3042"/>
          </a:solidFill>
          <a:ln/>
        </p:spPr>
        <p:txBody>
          <a:bodyPr/>
          <a:lstStyle/>
          <a:p>
            <a:endParaRPr lang="en-US"/>
          </a:p>
        </p:txBody>
      </p:sp>
      <p:sp>
        <p:nvSpPr>
          <p:cNvPr id="33" name="Shape 27"/>
          <p:cNvSpPr/>
          <p:nvPr/>
        </p:nvSpPr>
        <p:spPr>
          <a:xfrm>
            <a:off x="812775" y="3505181"/>
            <a:ext cx="5130792" cy="2158993"/>
          </a:xfrm>
          <a:custGeom>
            <a:avLst/>
            <a:gdLst/>
            <a:ahLst/>
            <a:cxnLst/>
            <a:rect l="l" t="t" r="r" b="b"/>
            <a:pathLst>
              <a:path w="5130792" h="2158993">
                <a:moveTo>
                  <a:pt x="0" y="101600"/>
                </a:moveTo>
                <a:lnTo>
                  <a:pt x="0" y="101600"/>
                </a:lnTo>
                <a:arcTo wR="101600" hR="101600" stAng="10800000" swAng="5400000"/>
                <a:lnTo>
                  <a:pt x="5029192" y="0"/>
                </a:lnTo>
                <a:arcTo wR="101600" hR="101600" stAng="16200000" swAng="5400000"/>
                <a:lnTo>
                  <a:pt x="5130792" y="101600"/>
                </a:lnTo>
                <a:arcTo wR="101600" hR="50800" stAng="0" swAng="-5400000"/>
                <a:lnTo>
                  <a:pt x="101600" y="50800"/>
                </a:lnTo>
                <a:arcTo wR="101600" hR="50800" stAng="16200000" swAng="-5400000"/>
                <a:close/>
              </a:path>
            </a:pathLst>
          </a:custGeom>
          <a:solidFill>
            <a:srgbClr val="6E8597"/>
          </a:solidFill>
          <a:ln/>
        </p:spPr>
        <p:txBody>
          <a:bodyPr/>
          <a:lstStyle/>
          <a:p>
            <a:endParaRPr lang="en-US"/>
          </a:p>
        </p:txBody>
      </p:sp>
      <p:sp>
        <p:nvSpPr>
          <p:cNvPr id="34" name="Text 28"/>
          <p:cNvSpPr/>
          <p:nvPr/>
        </p:nvSpPr>
        <p:spPr>
          <a:xfrm>
            <a:off x="1066759" y="3859330"/>
            <a:ext cx="4761508" cy="274321"/>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6E8597"/>
                </a:solidFill>
                <a:latin typeface="Oswald" pitchFamily="34" charset="0"/>
                <a:ea typeface="Oswald" pitchFamily="34" charset="-122"/>
                <a:cs typeface="Oswald" pitchFamily="34" charset="-120"/>
              </a:rPr>
              <a:t>WITHOUT THE DOMAIN</a:t>
            </a:r>
            <a:endParaRPr lang="en-US" sz="1400" dirty="0"/>
          </a:p>
        </p:txBody>
      </p:sp>
      <p:sp>
        <p:nvSpPr>
          <p:cNvPr id="35" name="Text 29"/>
          <p:cNvSpPr/>
          <p:nvPr/>
        </p:nvSpPr>
        <p:spPr>
          <a:xfrm>
            <a:off x="1066759" y="4184421"/>
            <a:ext cx="4761508" cy="29205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7D3"/>
                </a:solidFill>
                <a:latin typeface="Inter" pitchFamily="34" charset="0"/>
                <a:ea typeface="Inter" pitchFamily="34" charset="-122"/>
                <a:cs typeface="Inter" pitchFamily="34" charset="-120"/>
              </a:rPr>
              <a:t>Is 11 above 13? No.</a:t>
            </a:r>
            <a:endParaRPr lang="en-US" sz="1500" dirty="0"/>
          </a:p>
        </p:txBody>
      </p:sp>
      <p:sp>
        <p:nvSpPr>
          <p:cNvPr id="36" name="Text 30"/>
          <p:cNvSpPr/>
          <p:nvPr/>
        </p:nvSpPr>
        <p:spPr>
          <a:xfrm>
            <a:off x="1066759" y="4527246"/>
            <a:ext cx="4761508"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E8EEF4"/>
                </a:solidFill>
                <a:latin typeface="Oswald" pitchFamily="34" charset="0"/>
                <a:ea typeface="Oswald" pitchFamily="34" charset="-122"/>
                <a:cs typeface="Oswald" pitchFamily="34" charset="-120"/>
              </a:rPr>
              <a:t>NO WARNING</a:t>
            </a:r>
            <a:endParaRPr lang="en-US" sz="4000" dirty="0"/>
          </a:p>
        </p:txBody>
      </p:sp>
      <p:sp>
        <p:nvSpPr>
          <p:cNvPr id="37" name="Text 31"/>
          <p:cNvSpPr/>
          <p:nvPr/>
        </p:nvSpPr>
        <p:spPr>
          <a:xfrm>
            <a:off x="1066759" y="5111421"/>
            <a:ext cx="4761508" cy="27432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7D3"/>
                </a:solidFill>
                <a:latin typeface="Inter" pitchFamily="34" charset="0"/>
                <a:ea typeface="Inter" pitchFamily="34" charset="-122"/>
                <a:cs typeface="Inter" pitchFamily="34" charset="-120"/>
              </a:rPr>
              <a:t>until the river itself rises 2 more feet.</a:t>
            </a:r>
            <a:endParaRPr lang="en-US" sz="1400" dirty="0"/>
          </a:p>
        </p:txBody>
      </p:sp>
      <p:sp>
        <p:nvSpPr>
          <p:cNvPr id="38" name="Shape 32"/>
          <p:cNvSpPr/>
          <p:nvPr/>
        </p:nvSpPr>
        <p:spPr>
          <a:xfrm>
            <a:off x="6248373" y="3505181"/>
            <a:ext cx="5130792" cy="2158993"/>
          </a:xfrm>
          <a:prstGeom prst="roundRect">
            <a:avLst>
              <a:gd name="adj" fmla="val 4706"/>
            </a:avLst>
          </a:prstGeom>
          <a:solidFill>
            <a:srgbClr val="0B3042"/>
          </a:solidFill>
          <a:ln/>
        </p:spPr>
        <p:txBody>
          <a:bodyPr/>
          <a:lstStyle/>
          <a:p>
            <a:endParaRPr lang="en-US"/>
          </a:p>
        </p:txBody>
      </p:sp>
      <p:sp>
        <p:nvSpPr>
          <p:cNvPr id="39" name="Shape 33"/>
          <p:cNvSpPr/>
          <p:nvPr/>
        </p:nvSpPr>
        <p:spPr>
          <a:xfrm>
            <a:off x="6248373" y="3505181"/>
            <a:ext cx="5130792" cy="2158993"/>
          </a:xfrm>
          <a:custGeom>
            <a:avLst/>
            <a:gdLst/>
            <a:ahLst/>
            <a:cxnLst/>
            <a:rect l="l" t="t" r="r" b="b"/>
            <a:pathLst>
              <a:path w="5130792" h="2158993">
                <a:moveTo>
                  <a:pt x="0" y="101600"/>
                </a:moveTo>
                <a:lnTo>
                  <a:pt x="0" y="101600"/>
                </a:lnTo>
                <a:arcTo wR="101600" hR="101600" stAng="10800000" swAng="5400000"/>
                <a:lnTo>
                  <a:pt x="5029192" y="0"/>
                </a:lnTo>
                <a:arcTo wR="101600" hR="101600" stAng="16200000" swAng="5400000"/>
                <a:lnTo>
                  <a:pt x="5130792"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sp>
        <p:nvSpPr>
          <p:cNvPr id="40" name="Text 34"/>
          <p:cNvSpPr/>
          <p:nvPr/>
        </p:nvSpPr>
        <p:spPr>
          <a:xfrm>
            <a:off x="6502358" y="3758692"/>
            <a:ext cx="4761508" cy="263754"/>
          </a:xfrm>
          <a:prstGeom prst="rect">
            <a:avLst/>
          </a:prstGeom>
          <a:noFill/>
          <a:ln/>
        </p:spPr>
        <p:txBody>
          <a:bodyPr wrap="square" lIns="0" tIns="0" rIns="0" bIns="0" rtlCol="0" anchor="t">
            <a:normAutofit/>
          </a:bodyPr>
          <a:lstStyle/>
          <a:p>
            <a:pPr marL="0" indent="0" algn="l">
              <a:lnSpc>
                <a:spcPts val="1923"/>
              </a:lnSpc>
              <a:buNone/>
            </a:pPr>
            <a:r>
              <a:rPr lang="en-US" sz="1374" kern="0" spc="150" dirty="0">
                <a:solidFill>
                  <a:srgbClr val="C9682C"/>
                </a:solidFill>
                <a:latin typeface="Oswald" pitchFamily="34" charset="0"/>
                <a:ea typeface="Oswald" pitchFamily="34" charset="-122"/>
                <a:cs typeface="Oswald" pitchFamily="34" charset="-120"/>
              </a:rPr>
              <a:t>WITH THE ONTOLOGY</a:t>
            </a:r>
            <a:endParaRPr lang="en-US" sz="1374" dirty="0"/>
          </a:p>
        </p:txBody>
      </p:sp>
      <p:sp>
        <p:nvSpPr>
          <p:cNvPr id="41" name="Text 35"/>
          <p:cNvSpPr/>
          <p:nvPr/>
        </p:nvSpPr>
        <p:spPr>
          <a:xfrm>
            <a:off x="6502358" y="4073215"/>
            <a:ext cx="4761508" cy="536073"/>
          </a:xfrm>
          <a:prstGeom prst="rect">
            <a:avLst/>
          </a:prstGeom>
          <a:noFill/>
          <a:ln/>
        </p:spPr>
        <p:txBody>
          <a:bodyPr wrap="square" lIns="0" tIns="0" rIns="0" bIns="0" rtlCol="0" anchor="t">
            <a:normAutofit/>
          </a:bodyPr>
          <a:lstStyle/>
          <a:p>
            <a:pPr marL="0" indent="0" algn="l">
              <a:lnSpc>
                <a:spcPts val="2008"/>
              </a:lnSpc>
              <a:buNone/>
            </a:pPr>
            <a:r>
              <a:rPr lang="en-US" sz="1434" dirty="0">
                <a:solidFill>
                  <a:srgbClr val="B8C7D3"/>
                </a:solidFill>
                <a:latin typeface="Inter" pitchFamily="34" charset="0"/>
                <a:ea typeface="Inter" pitchFamily="34" charset="-122"/>
                <a:cs typeface="Inter" pitchFamily="34" charset="-120"/>
              </a:rPr>
              <a:t>A forecast at flood stage is flooding. It just hasn’t arrived.</a:t>
            </a:r>
            <a:endParaRPr lang="en-US" sz="1434" dirty="0"/>
          </a:p>
        </p:txBody>
      </p:sp>
      <p:sp>
        <p:nvSpPr>
          <p:cNvPr id="42" name="Text 36"/>
          <p:cNvSpPr/>
          <p:nvPr/>
        </p:nvSpPr>
        <p:spPr>
          <a:xfrm>
            <a:off x="6502358" y="4660057"/>
            <a:ext cx="4761508" cy="511794"/>
          </a:xfrm>
          <a:prstGeom prst="rect">
            <a:avLst/>
          </a:prstGeom>
          <a:noFill/>
          <a:ln/>
        </p:spPr>
        <p:txBody>
          <a:bodyPr wrap="square" lIns="0" tIns="0" rIns="0" bIns="0" rtlCol="0" anchor="t">
            <a:normAutofit/>
          </a:bodyPr>
          <a:lstStyle/>
          <a:p>
            <a:pPr marL="0" indent="0" algn="l">
              <a:lnSpc>
                <a:spcPts val="3875"/>
              </a:lnSpc>
              <a:buNone/>
            </a:pPr>
            <a:r>
              <a:rPr lang="en-US" sz="3875" b="1" dirty="0">
                <a:solidFill>
                  <a:srgbClr val="C9682C"/>
                </a:solidFill>
                <a:latin typeface="Oswald" pitchFamily="34" charset="0"/>
                <a:ea typeface="Oswald" pitchFamily="34" charset="-122"/>
                <a:cs typeface="Oswald" pitchFamily="34" charset="-120"/>
              </a:rPr>
              <a:t>4 HOURS</a:t>
            </a:r>
            <a:endParaRPr lang="en-US" sz="3875" dirty="0"/>
          </a:p>
        </p:txBody>
      </p:sp>
      <p:sp>
        <p:nvSpPr>
          <p:cNvPr id="43" name="Text 37"/>
          <p:cNvSpPr/>
          <p:nvPr/>
        </p:nvSpPr>
        <p:spPr>
          <a:xfrm>
            <a:off x="6502358" y="5222627"/>
            <a:ext cx="4761508" cy="263754"/>
          </a:xfrm>
          <a:prstGeom prst="rect">
            <a:avLst/>
          </a:prstGeom>
          <a:noFill/>
          <a:ln/>
        </p:spPr>
        <p:txBody>
          <a:bodyPr wrap="square" lIns="0" tIns="0" rIns="0" bIns="0" rtlCol="0" anchor="t">
            <a:normAutofit/>
          </a:bodyPr>
          <a:lstStyle/>
          <a:p>
            <a:pPr marL="0" indent="0" algn="l">
              <a:lnSpc>
                <a:spcPts val="1923"/>
              </a:lnSpc>
              <a:buNone/>
            </a:pPr>
            <a:r>
              <a:rPr lang="en-US" sz="1374" dirty="0">
                <a:solidFill>
                  <a:srgbClr val="B8C7D3"/>
                </a:solidFill>
                <a:latin typeface="Inter" pitchFamily="34" charset="0"/>
                <a:ea typeface="Inter" pitchFamily="34" charset="-122"/>
                <a:cs typeface="Inter" pitchFamily="34" charset="-120"/>
              </a:rPr>
              <a:t>before the crest, warned at noon.</a:t>
            </a:r>
            <a:endParaRPr lang="en-US" sz="1374" dirty="0"/>
          </a:p>
        </p:txBody>
      </p:sp>
      <p:sp>
        <p:nvSpPr>
          <p:cNvPr id="44" name="Text 38"/>
          <p:cNvSpPr/>
          <p:nvPr/>
        </p:nvSpPr>
        <p:spPr>
          <a:xfrm>
            <a:off x="812775" y="6238249"/>
            <a:ext cx="9289487" cy="23875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8597"/>
                </a:solidFill>
                <a:latin typeface="Inter" pitchFamily="34" charset="0"/>
                <a:ea typeface="Inter" pitchFamily="34" charset="-122"/>
                <a:cs typeface="Inter" pitchFamily="34" charset="-120"/>
              </a:rPr>
              <a:t>Teaching values; the flood stage is Wimberley’s published value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3"/>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HOW I GOT HERE</a:t>
            </a:r>
            <a:endParaRPr lang="en-US" sz="1200" dirty="0"/>
          </a:p>
        </p:txBody>
      </p:sp>
      <p:sp>
        <p:nvSpPr>
          <p:cNvPr id="4" name="Text 1"/>
          <p:cNvSpPr>
            <a:spLocks noGrp="1"/>
          </p:cNvSpPr>
          <p:nvPr>
            <p:ph type="title"/>
          </p:nvPr>
        </p:nvSpPr>
        <p:spPr>
          <a:xfrm>
            <a:off x="812775" y="1102297"/>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THE FIELD TAUGHT ME THE PROBLEM. THE CODE CAME LATER.</a:t>
            </a:r>
            <a:endParaRPr lang="en-US" sz="2800" dirty="0"/>
          </a:p>
        </p:txBody>
      </p:sp>
      <p:sp>
        <p:nvSpPr>
          <p:cNvPr id="5" name="Shape 2"/>
          <p:cNvSpPr/>
          <p:nvPr/>
        </p:nvSpPr>
        <p:spPr>
          <a:xfrm>
            <a:off x="812775" y="1714489"/>
            <a:ext cx="3047969" cy="3428977"/>
          </a:xfrm>
          <a:prstGeom prst="roundRect">
            <a:avLst>
              <a:gd name="adj" fmla="val 3333"/>
            </a:avLst>
          </a:prstGeom>
          <a:solidFill>
            <a:srgbClr val="0B3042"/>
          </a:solidFill>
          <a:ln/>
        </p:spPr>
        <p:txBody>
          <a:bodyPr/>
          <a:lstStyle/>
          <a:p>
            <a:endParaRPr lang="en-US"/>
          </a:p>
        </p:txBody>
      </p:sp>
      <p:sp>
        <p:nvSpPr>
          <p:cNvPr id="6" name="Shape 3"/>
          <p:cNvSpPr/>
          <p:nvPr/>
        </p:nvSpPr>
        <p:spPr>
          <a:xfrm>
            <a:off x="812775" y="1714489"/>
            <a:ext cx="3047969" cy="3428977"/>
          </a:xfrm>
          <a:custGeom>
            <a:avLst/>
            <a:gdLst/>
            <a:ahLst/>
            <a:cxnLst/>
            <a:rect l="l" t="t" r="r" b="b"/>
            <a:pathLst>
              <a:path w="3047969" h="3428977">
                <a:moveTo>
                  <a:pt x="101600" y="3428977"/>
                </a:moveTo>
                <a:lnTo>
                  <a:pt x="101600" y="3428977"/>
                </a:lnTo>
                <a:arcTo wR="101600" hR="101600" stAng="5400000" swAng="5400000"/>
                <a:lnTo>
                  <a:pt x="0" y="101600"/>
                </a:lnTo>
                <a:arcTo wR="101600" hR="101600" stAng="10800000" swAng="5400000"/>
                <a:lnTo>
                  <a:pt x="101600" y="0"/>
                </a:lnTo>
                <a:arcTo wR="50800" hR="101600" stAng="16200000" swAng="-5400000"/>
                <a:lnTo>
                  <a:pt x="50800" y="3327377"/>
                </a:lnTo>
                <a:arcTo wR="50800" hR="101600" stAng="10800000" swAng="-5400000"/>
                <a:close/>
              </a:path>
            </a:pathLst>
          </a:custGeom>
          <a:solidFill>
            <a:srgbClr val="C9682C"/>
          </a:solidFill>
          <a:ln/>
        </p:spPr>
        <p:txBody>
          <a:bodyPr/>
          <a:lstStyle/>
          <a:p>
            <a:endParaRPr lang="en-US"/>
          </a:p>
        </p:txBody>
      </p:sp>
      <p:sp>
        <p:nvSpPr>
          <p:cNvPr id="7" name="Text 4"/>
          <p:cNvSpPr/>
          <p:nvPr/>
        </p:nvSpPr>
        <p:spPr>
          <a:xfrm>
            <a:off x="1091667" y="1943063"/>
            <a:ext cx="2616719" cy="238752"/>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6E8597"/>
                </a:solidFill>
                <a:latin typeface="Oswald" pitchFamily="34" charset="0"/>
                <a:ea typeface="Oswald" pitchFamily="34" charset="-122"/>
                <a:cs typeface="Oswald" pitchFamily="34" charset="-120"/>
              </a:rPr>
              <a:t>WHERE I COME FROM</a:t>
            </a:r>
            <a:endParaRPr lang="en-US" sz="1200" dirty="0"/>
          </a:p>
        </p:txBody>
      </p:sp>
      <p:sp>
        <p:nvSpPr>
          <p:cNvPr id="8" name="Text 5"/>
          <p:cNvSpPr/>
          <p:nvPr/>
        </p:nvSpPr>
        <p:spPr>
          <a:xfrm>
            <a:off x="1091667" y="2257996"/>
            <a:ext cx="2616719" cy="314953"/>
          </a:xfrm>
          <a:prstGeom prst="rect">
            <a:avLst/>
          </a:prstGeom>
          <a:noFill/>
          <a:ln/>
        </p:spPr>
        <p:txBody>
          <a:bodyPr wrap="square" lIns="0" tIns="0" rIns="0" bIns="0" rtlCol="0" anchor="t">
            <a:normAutofit/>
          </a:bodyPr>
          <a:lstStyle/>
          <a:p>
            <a:pPr marL="0" indent="0" algn="l">
              <a:lnSpc>
                <a:spcPts val="2280"/>
              </a:lnSpc>
              <a:buNone/>
            </a:pPr>
            <a:r>
              <a:rPr lang="en-US" sz="1900" kern="0" spc="100" dirty="0">
                <a:solidFill>
                  <a:srgbClr val="C9682C"/>
                </a:solidFill>
                <a:latin typeface="Oswald" pitchFamily="34" charset="0"/>
                <a:ea typeface="Oswald" pitchFamily="34" charset="-122"/>
                <a:cs typeface="Oswald" pitchFamily="34" charset="-120"/>
              </a:rPr>
              <a:t>THE PATH</a:t>
            </a:r>
            <a:endParaRPr lang="en-US" sz="1900" dirty="0"/>
          </a:p>
        </p:txBody>
      </p:sp>
      <p:sp>
        <p:nvSpPr>
          <p:cNvPr id="9" name="Text 6"/>
          <p:cNvSpPr/>
          <p:nvPr/>
        </p:nvSpPr>
        <p:spPr>
          <a:xfrm>
            <a:off x="1091667" y="2649130"/>
            <a:ext cx="2616719" cy="1465588"/>
          </a:xfrm>
          <a:prstGeom prst="rect">
            <a:avLst/>
          </a:prstGeom>
          <a:noFill/>
          <a:ln/>
        </p:spPr>
        <p:txBody>
          <a:bodyPr wrap="square" lIns="0" tIns="0" rIns="0" bIns="0" rtlCol="0" anchor="t">
            <a:normAutofit/>
          </a:bodyPr>
          <a:lstStyle/>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MARINE</a:t>
            </a:r>
            <a:endParaRPr lang="en-US" sz="1200" dirty="0"/>
          </a:p>
          <a:p>
            <a:pPr marL="0" indent="0" algn="l">
              <a:lnSpc>
                <a:spcPts val="1620"/>
              </a:lnSpc>
              <a:buNone/>
            </a:pPr>
            <a:r>
              <a:rPr lang="en-US" sz="1200" kern="0" spc="50" dirty="0">
                <a:solidFill>
                  <a:srgbClr val="C9682C"/>
                </a:solidFill>
                <a:latin typeface="Oswald" pitchFamily="34" charset="0"/>
                <a:ea typeface="Oswald" pitchFamily="34" charset="-122"/>
                <a:cs typeface="Oswald" pitchFamily="34" charset="-120"/>
              </a:rPr>
              <a:t>↓</a:t>
            </a:r>
            <a:endParaRPr lang="en-US" sz="1200" dirty="0"/>
          </a:p>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SECURITY CONTRACTOR</a:t>
            </a:r>
            <a:endParaRPr lang="en-US" sz="1200" dirty="0"/>
          </a:p>
          <a:p>
            <a:pPr marL="0" indent="0" algn="l">
              <a:lnSpc>
                <a:spcPts val="1620"/>
              </a:lnSpc>
              <a:buNone/>
            </a:pPr>
            <a:r>
              <a:rPr lang="en-US" sz="1200" kern="0" spc="50" dirty="0">
                <a:solidFill>
                  <a:srgbClr val="C9682C"/>
                </a:solidFill>
                <a:latin typeface="Oswald" pitchFamily="34" charset="0"/>
                <a:ea typeface="Oswald" pitchFamily="34" charset="-122"/>
                <a:cs typeface="Oswald" pitchFamily="34" charset="-120"/>
              </a:rPr>
              <a:t>↓</a:t>
            </a:r>
            <a:endParaRPr lang="en-US" sz="1200" dirty="0"/>
          </a:p>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FEDERAL AGENT</a:t>
            </a:r>
            <a:endParaRPr lang="en-US" sz="1200" dirty="0"/>
          </a:p>
          <a:p>
            <a:pPr marL="0" indent="0" algn="l">
              <a:lnSpc>
                <a:spcPts val="1620"/>
              </a:lnSpc>
              <a:buNone/>
            </a:pPr>
            <a:r>
              <a:rPr lang="en-US" sz="1200" kern="0" spc="50" dirty="0">
                <a:solidFill>
                  <a:srgbClr val="C9682C"/>
                </a:solidFill>
                <a:latin typeface="Oswald" pitchFamily="34" charset="0"/>
                <a:ea typeface="Oswald" pitchFamily="34" charset="-122"/>
                <a:cs typeface="Oswald" pitchFamily="34" charset="-120"/>
              </a:rPr>
              <a:t>↓</a:t>
            </a:r>
            <a:endParaRPr lang="en-US" sz="1200" dirty="0"/>
          </a:p>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OIL FIELD HAND</a:t>
            </a:r>
            <a:endParaRPr lang="en-US" sz="1200" dirty="0"/>
          </a:p>
        </p:txBody>
      </p:sp>
      <p:pic>
        <p:nvPicPr>
          <p:cNvPr id="10" name="Image 1" descr="connector"/>
          <p:cNvPicPr>
            <a:picLocks noChangeAspect="1"/>
          </p:cNvPicPr>
          <p:nvPr/>
        </p:nvPicPr>
        <p:blipFill>
          <a:blip r:embed="rId4"/>
          <a:srcRect l="-2" r="-2"/>
          <a:stretch/>
        </p:blipFill>
        <p:spPr>
          <a:xfrm>
            <a:off x="3797280" y="3365481"/>
            <a:ext cx="685783" cy="126992"/>
          </a:xfrm>
          <a:prstGeom prst="rect">
            <a:avLst/>
          </a:prstGeom>
        </p:spPr>
      </p:pic>
      <p:sp>
        <p:nvSpPr>
          <p:cNvPr id="11" name="Shape 7"/>
          <p:cNvSpPr/>
          <p:nvPr/>
        </p:nvSpPr>
        <p:spPr>
          <a:xfrm>
            <a:off x="4419598" y="1714489"/>
            <a:ext cx="3047969" cy="3428977"/>
          </a:xfrm>
          <a:prstGeom prst="roundRect">
            <a:avLst>
              <a:gd name="adj" fmla="val 3333"/>
            </a:avLst>
          </a:prstGeom>
          <a:solidFill>
            <a:srgbClr val="0B3042"/>
          </a:solidFill>
          <a:ln/>
        </p:spPr>
        <p:txBody>
          <a:bodyPr/>
          <a:lstStyle/>
          <a:p>
            <a:endParaRPr lang="en-US"/>
          </a:p>
        </p:txBody>
      </p:sp>
      <p:sp>
        <p:nvSpPr>
          <p:cNvPr id="12" name="Shape 8"/>
          <p:cNvSpPr/>
          <p:nvPr/>
        </p:nvSpPr>
        <p:spPr>
          <a:xfrm>
            <a:off x="4419598" y="1714489"/>
            <a:ext cx="3047969" cy="3428977"/>
          </a:xfrm>
          <a:custGeom>
            <a:avLst/>
            <a:gdLst/>
            <a:ahLst/>
            <a:cxnLst/>
            <a:rect l="l" t="t" r="r" b="b"/>
            <a:pathLst>
              <a:path w="3047969" h="3428977">
                <a:moveTo>
                  <a:pt x="101600" y="3428977"/>
                </a:moveTo>
                <a:lnTo>
                  <a:pt x="101600" y="3428977"/>
                </a:lnTo>
                <a:arcTo wR="101600" hR="101600" stAng="5400000" swAng="5400000"/>
                <a:lnTo>
                  <a:pt x="0" y="101600"/>
                </a:lnTo>
                <a:arcTo wR="101600" hR="101600" stAng="10800000" swAng="5400000"/>
                <a:lnTo>
                  <a:pt x="101600" y="0"/>
                </a:lnTo>
                <a:arcTo wR="50800" hR="101600" stAng="16200000" swAng="-5400000"/>
                <a:lnTo>
                  <a:pt x="50800" y="3327377"/>
                </a:lnTo>
                <a:arcTo wR="50800" hR="101600" stAng="10800000" swAng="-5400000"/>
                <a:close/>
              </a:path>
            </a:pathLst>
          </a:custGeom>
          <a:solidFill>
            <a:srgbClr val="C9682C"/>
          </a:solidFill>
          <a:ln/>
        </p:spPr>
        <p:txBody>
          <a:bodyPr/>
          <a:lstStyle/>
          <a:p>
            <a:endParaRPr lang="en-US"/>
          </a:p>
        </p:txBody>
      </p:sp>
      <p:sp>
        <p:nvSpPr>
          <p:cNvPr id="13" name="Text 9"/>
          <p:cNvSpPr/>
          <p:nvPr/>
        </p:nvSpPr>
        <p:spPr>
          <a:xfrm>
            <a:off x="4698490" y="1943063"/>
            <a:ext cx="2616719" cy="238752"/>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6E8597"/>
                </a:solidFill>
                <a:latin typeface="Oswald" pitchFamily="34" charset="0"/>
                <a:ea typeface="Oswald" pitchFamily="34" charset="-122"/>
                <a:cs typeface="Oswald" pitchFamily="34" charset="-120"/>
              </a:rPr>
              <a:t>HOW I GOT STARTED</a:t>
            </a:r>
            <a:endParaRPr lang="en-US" sz="1200" dirty="0"/>
          </a:p>
        </p:txBody>
      </p:sp>
      <p:sp>
        <p:nvSpPr>
          <p:cNvPr id="14" name="Text 10"/>
          <p:cNvSpPr/>
          <p:nvPr/>
        </p:nvSpPr>
        <p:spPr>
          <a:xfrm>
            <a:off x="4698490" y="2257996"/>
            <a:ext cx="2616719" cy="314953"/>
          </a:xfrm>
          <a:prstGeom prst="rect">
            <a:avLst/>
          </a:prstGeom>
          <a:noFill/>
          <a:ln/>
        </p:spPr>
        <p:txBody>
          <a:bodyPr wrap="square" lIns="0" tIns="0" rIns="0" bIns="0" rtlCol="0" anchor="t">
            <a:normAutofit/>
          </a:bodyPr>
          <a:lstStyle/>
          <a:p>
            <a:pPr marL="0" indent="0" algn="l">
              <a:lnSpc>
                <a:spcPts val="2280"/>
              </a:lnSpc>
              <a:buNone/>
            </a:pPr>
            <a:r>
              <a:rPr lang="en-US" sz="1900" kern="0" spc="100" dirty="0">
                <a:solidFill>
                  <a:srgbClr val="C9682C"/>
                </a:solidFill>
                <a:latin typeface="Oswald" pitchFamily="34" charset="0"/>
                <a:ea typeface="Oswald" pitchFamily="34" charset="-122"/>
                <a:cs typeface="Oswald" pitchFamily="34" charset="-120"/>
              </a:rPr>
              <a:t>THE SHOP</a:t>
            </a:r>
            <a:endParaRPr lang="en-US" sz="1900" dirty="0"/>
          </a:p>
        </p:txBody>
      </p:sp>
      <p:sp>
        <p:nvSpPr>
          <p:cNvPr id="15" name="Text 11"/>
          <p:cNvSpPr/>
          <p:nvPr/>
        </p:nvSpPr>
        <p:spPr>
          <a:xfrm>
            <a:off x="4698490" y="2649130"/>
            <a:ext cx="2616719" cy="1465588"/>
          </a:xfrm>
          <a:prstGeom prst="rect">
            <a:avLst/>
          </a:prstGeom>
          <a:noFill/>
          <a:ln/>
        </p:spPr>
        <p:txBody>
          <a:bodyPr wrap="square" lIns="0" tIns="0" rIns="0" bIns="0" rtlCol="0" anchor="t">
            <a:normAutofit/>
          </a:bodyPr>
          <a:lstStyle/>
          <a:p>
            <a:pPr>
              <a:lnSpc>
                <a:spcPts val="1620"/>
              </a:lnSpc>
            </a:pPr>
            <a:r>
              <a:rPr lang="en-US" sz="1200" kern="0" spc="50" dirty="0">
                <a:solidFill>
                  <a:srgbClr val="E8EEF4"/>
                </a:solidFill>
                <a:latin typeface="Oswald" pitchFamily="34" charset="0"/>
                <a:ea typeface="Oswald" pitchFamily="34" charset="-122"/>
                <a:cs typeface="Oswald" pitchFamily="34" charset="-120"/>
              </a:rPr>
              <a:t>AUTOMATED DATA ENTRY</a:t>
            </a:r>
            <a:endParaRPr lang="en-US" sz="1200" dirty="0"/>
          </a:p>
          <a:p>
            <a:pPr marL="0" indent="0" algn="l">
              <a:lnSpc>
                <a:spcPts val="1620"/>
              </a:lnSpc>
              <a:buNone/>
            </a:pPr>
            <a:r>
              <a:rPr lang="en-US" sz="1200" kern="0" spc="50" dirty="0">
                <a:solidFill>
                  <a:srgbClr val="C9682C"/>
                </a:solidFill>
                <a:latin typeface="Oswald" pitchFamily="34" charset="0"/>
                <a:ea typeface="Oswald" pitchFamily="34" charset="-122"/>
                <a:cs typeface="Oswald" pitchFamily="34" charset="-120"/>
              </a:rPr>
              <a:t>↓</a:t>
            </a:r>
            <a:endParaRPr lang="en-US" sz="1200" dirty="0"/>
          </a:p>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ASKED FRIENDS FOR THEIR PROBLEMS</a:t>
            </a:r>
            <a:endParaRPr lang="en-US" sz="1200" dirty="0"/>
          </a:p>
          <a:p>
            <a:pPr marL="0" indent="0" algn="l">
              <a:lnSpc>
                <a:spcPts val="1620"/>
              </a:lnSpc>
              <a:buNone/>
            </a:pPr>
            <a:r>
              <a:rPr lang="en-US" sz="1200" kern="0" spc="50" dirty="0">
                <a:solidFill>
                  <a:srgbClr val="C9682C"/>
                </a:solidFill>
                <a:latin typeface="Oswald" pitchFamily="34" charset="0"/>
                <a:ea typeface="Oswald" pitchFamily="34" charset="-122"/>
                <a:cs typeface="Oswald" pitchFamily="34" charset="-120"/>
              </a:rPr>
              <a:t>↓</a:t>
            </a:r>
            <a:endParaRPr lang="en-US" sz="1200" dirty="0"/>
          </a:p>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LARGER SOFTWARE PROJECTS</a:t>
            </a:r>
            <a:endParaRPr lang="en-US" sz="1200" dirty="0"/>
          </a:p>
          <a:p>
            <a:pPr marL="0" indent="0" algn="l">
              <a:lnSpc>
                <a:spcPts val="1620"/>
              </a:lnSpc>
              <a:buNone/>
            </a:pPr>
            <a:r>
              <a:rPr lang="en-US" sz="1200" kern="0" spc="50" dirty="0">
                <a:solidFill>
                  <a:srgbClr val="C9682C"/>
                </a:solidFill>
                <a:latin typeface="Oswald" pitchFamily="34" charset="0"/>
                <a:ea typeface="Oswald" pitchFamily="34" charset="-122"/>
                <a:cs typeface="Oswald" pitchFamily="34" charset="-120"/>
              </a:rPr>
              <a:t>↓</a:t>
            </a:r>
            <a:endParaRPr lang="en-US" sz="1200" dirty="0"/>
          </a:p>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MUDDY BOOTS CODE, 2018</a:t>
            </a:r>
            <a:endParaRPr lang="en-US" sz="1200" dirty="0"/>
          </a:p>
        </p:txBody>
      </p:sp>
      <p:pic>
        <p:nvPicPr>
          <p:cNvPr id="16" name="Image 2" descr="connector"/>
          <p:cNvPicPr>
            <a:picLocks noChangeAspect="1"/>
          </p:cNvPicPr>
          <p:nvPr/>
        </p:nvPicPr>
        <p:blipFill>
          <a:blip r:embed="rId4"/>
          <a:srcRect l="-2" r="-2"/>
          <a:stretch/>
        </p:blipFill>
        <p:spPr>
          <a:xfrm>
            <a:off x="7404071" y="3365481"/>
            <a:ext cx="685783" cy="126992"/>
          </a:xfrm>
          <a:prstGeom prst="rect">
            <a:avLst/>
          </a:prstGeom>
        </p:spPr>
      </p:pic>
      <p:sp>
        <p:nvSpPr>
          <p:cNvPr id="17" name="Shape 12"/>
          <p:cNvSpPr/>
          <p:nvPr/>
        </p:nvSpPr>
        <p:spPr>
          <a:xfrm>
            <a:off x="8026389" y="1714489"/>
            <a:ext cx="3047969" cy="3428977"/>
          </a:xfrm>
          <a:prstGeom prst="roundRect">
            <a:avLst>
              <a:gd name="adj" fmla="val 3333"/>
            </a:avLst>
          </a:prstGeom>
          <a:solidFill>
            <a:srgbClr val="0B3042"/>
          </a:solidFill>
          <a:ln/>
        </p:spPr>
        <p:txBody>
          <a:bodyPr/>
          <a:lstStyle/>
          <a:p>
            <a:endParaRPr lang="en-US"/>
          </a:p>
        </p:txBody>
      </p:sp>
      <p:sp>
        <p:nvSpPr>
          <p:cNvPr id="18" name="Shape 13"/>
          <p:cNvSpPr/>
          <p:nvPr/>
        </p:nvSpPr>
        <p:spPr>
          <a:xfrm>
            <a:off x="8026389" y="1714489"/>
            <a:ext cx="3047969" cy="3428977"/>
          </a:xfrm>
          <a:custGeom>
            <a:avLst/>
            <a:gdLst/>
            <a:ahLst/>
            <a:cxnLst/>
            <a:rect l="l" t="t" r="r" b="b"/>
            <a:pathLst>
              <a:path w="3047969" h="3428977">
                <a:moveTo>
                  <a:pt x="101600" y="3428977"/>
                </a:moveTo>
                <a:lnTo>
                  <a:pt x="101600" y="3428977"/>
                </a:lnTo>
                <a:arcTo wR="101600" hR="101600" stAng="5400000" swAng="5400000"/>
                <a:lnTo>
                  <a:pt x="0" y="101600"/>
                </a:lnTo>
                <a:arcTo wR="101600" hR="101600" stAng="10800000" swAng="5400000"/>
                <a:lnTo>
                  <a:pt x="101600" y="0"/>
                </a:lnTo>
                <a:arcTo wR="50800" hR="101600" stAng="16200000" swAng="-5400000"/>
                <a:lnTo>
                  <a:pt x="50800" y="3327377"/>
                </a:lnTo>
                <a:arcTo wR="50800" hR="101600" stAng="10800000" swAng="-5400000"/>
                <a:close/>
              </a:path>
            </a:pathLst>
          </a:custGeom>
          <a:solidFill>
            <a:srgbClr val="C9682C"/>
          </a:solidFill>
          <a:ln/>
        </p:spPr>
        <p:txBody>
          <a:bodyPr/>
          <a:lstStyle/>
          <a:p>
            <a:endParaRPr lang="en-US"/>
          </a:p>
        </p:txBody>
      </p:sp>
      <p:sp>
        <p:nvSpPr>
          <p:cNvPr id="19" name="Text 14"/>
          <p:cNvSpPr/>
          <p:nvPr/>
        </p:nvSpPr>
        <p:spPr>
          <a:xfrm>
            <a:off x="8305281" y="1943063"/>
            <a:ext cx="2616719" cy="238752"/>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6E8597"/>
                </a:solidFill>
                <a:latin typeface="Oswald" pitchFamily="34" charset="0"/>
                <a:ea typeface="Oswald" pitchFamily="34" charset="-122"/>
                <a:cs typeface="Oswald" pitchFamily="34" charset="-120"/>
              </a:rPr>
              <a:t>WHAT CHANGED</a:t>
            </a:r>
            <a:endParaRPr lang="en-US" sz="1200" dirty="0"/>
          </a:p>
        </p:txBody>
      </p:sp>
      <p:sp>
        <p:nvSpPr>
          <p:cNvPr id="20" name="Text 15"/>
          <p:cNvSpPr/>
          <p:nvPr/>
        </p:nvSpPr>
        <p:spPr>
          <a:xfrm>
            <a:off x="8305281" y="2257996"/>
            <a:ext cx="2616719" cy="314953"/>
          </a:xfrm>
          <a:prstGeom prst="rect">
            <a:avLst/>
          </a:prstGeom>
          <a:noFill/>
          <a:ln/>
        </p:spPr>
        <p:txBody>
          <a:bodyPr wrap="square" lIns="0" tIns="0" rIns="0" bIns="0" rtlCol="0" anchor="t">
            <a:normAutofit/>
          </a:bodyPr>
          <a:lstStyle/>
          <a:p>
            <a:pPr marL="0" indent="0" algn="l">
              <a:lnSpc>
                <a:spcPts val="2280"/>
              </a:lnSpc>
              <a:buNone/>
            </a:pPr>
            <a:r>
              <a:rPr lang="en-US" sz="1900" kern="0" spc="100" dirty="0">
                <a:solidFill>
                  <a:srgbClr val="C9682C"/>
                </a:solidFill>
                <a:latin typeface="Oswald" pitchFamily="34" charset="0"/>
              </a:rPr>
              <a:t>AI</a:t>
            </a:r>
            <a:endParaRPr lang="en-US" sz="1900" dirty="0"/>
          </a:p>
        </p:txBody>
      </p:sp>
      <p:sp>
        <p:nvSpPr>
          <p:cNvPr id="21" name="Text 16"/>
          <p:cNvSpPr/>
          <p:nvPr/>
        </p:nvSpPr>
        <p:spPr>
          <a:xfrm>
            <a:off x="8305281" y="2649130"/>
            <a:ext cx="2616719" cy="1465588"/>
          </a:xfrm>
          <a:prstGeom prst="rect">
            <a:avLst/>
          </a:prstGeom>
          <a:noFill/>
          <a:ln/>
        </p:spPr>
        <p:txBody>
          <a:bodyPr wrap="square" lIns="0" tIns="0" rIns="0" bIns="0" rtlCol="0" anchor="t">
            <a:normAutofit/>
          </a:bodyPr>
          <a:lstStyle/>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ON EVERY CREW, SOMEBODY HAD YOUR BACK</a:t>
            </a:r>
            <a:endParaRPr lang="en-US" sz="1200" dirty="0"/>
          </a:p>
          <a:p>
            <a:pPr marL="0" indent="0" algn="l">
              <a:lnSpc>
                <a:spcPts val="1620"/>
              </a:lnSpc>
              <a:buNone/>
            </a:pPr>
            <a:r>
              <a:rPr lang="en-US" sz="1200" kern="0" spc="50" dirty="0">
                <a:solidFill>
                  <a:srgbClr val="C9682C"/>
                </a:solidFill>
                <a:latin typeface="Oswald" pitchFamily="34" charset="0"/>
                <a:ea typeface="Oswald" pitchFamily="34" charset="-122"/>
                <a:cs typeface="Oswald" pitchFamily="34" charset="-120"/>
              </a:rPr>
              <a:t>↓</a:t>
            </a:r>
            <a:endParaRPr lang="en-US" sz="1200" dirty="0"/>
          </a:p>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SOMEBODY CAUGHT WHAT YOU MISSED</a:t>
            </a:r>
            <a:endParaRPr lang="en-US" sz="1200" dirty="0"/>
          </a:p>
          <a:p>
            <a:pPr marL="0" indent="0" algn="l">
              <a:lnSpc>
                <a:spcPts val="1620"/>
              </a:lnSpc>
              <a:buNone/>
            </a:pPr>
            <a:r>
              <a:rPr lang="en-US" sz="1200" kern="0" spc="50" dirty="0">
                <a:solidFill>
                  <a:srgbClr val="C9682C"/>
                </a:solidFill>
                <a:latin typeface="Oswald" pitchFamily="34" charset="0"/>
                <a:ea typeface="Oswald" pitchFamily="34" charset="-122"/>
                <a:cs typeface="Oswald" pitchFamily="34" charset="-120"/>
              </a:rPr>
              <a:t>↓</a:t>
            </a:r>
            <a:endParaRPr lang="en-US" sz="1200" dirty="0"/>
          </a:p>
          <a:p>
            <a:pPr marL="0" indent="0" algn="l">
              <a:lnSpc>
                <a:spcPts val="1620"/>
              </a:lnSpc>
              <a:buNone/>
            </a:pPr>
            <a:r>
              <a:rPr lang="en-US" sz="1200" kern="0" spc="50" dirty="0">
                <a:solidFill>
                  <a:srgbClr val="E8EEF4"/>
                </a:solidFill>
                <a:latin typeface="Oswald" pitchFamily="34" charset="0"/>
                <a:ea typeface="Oswald" pitchFamily="34" charset="-122"/>
                <a:cs typeface="Oswald" pitchFamily="34" charset="-120"/>
              </a:rPr>
              <a:t>NOW IT’S ONE PERSON AND A CODING AGENT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1"/>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I HAVE A SIMPLE PHILOSOPHY</a:t>
            </a:r>
            <a:endParaRPr lang="en-US" sz="1200" dirty="0"/>
          </a:p>
        </p:txBody>
      </p:sp>
      <p:sp>
        <p:nvSpPr>
          <p:cNvPr id="4" name="Text 1"/>
          <p:cNvSpPr>
            <a:spLocks noGrp="1"/>
          </p:cNvSpPr>
          <p:nvPr>
            <p:ph type="title"/>
          </p:nvPr>
        </p:nvSpPr>
        <p:spPr>
          <a:xfrm>
            <a:off x="812775" y="1102299"/>
            <a:ext cx="588644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CRAYONS AND GLUE</a:t>
            </a:r>
            <a:endParaRPr lang="en-US" sz="3200" dirty="0"/>
          </a:p>
        </p:txBody>
      </p:sp>
      <p:sp>
        <p:nvSpPr>
          <p:cNvPr id="5" name="Shape 2"/>
          <p:cNvSpPr/>
          <p:nvPr/>
        </p:nvSpPr>
        <p:spPr>
          <a:xfrm>
            <a:off x="7315195" y="1269984"/>
            <a:ext cx="4063970" cy="4571970"/>
          </a:xfrm>
          <a:prstGeom prst="roundRect">
            <a:avLst>
              <a:gd name="adj" fmla="val 2500"/>
            </a:avLst>
          </a:prstGeom>
          <a:solidFill>
            <a:srgbClr val="0B3042"/>
          </a:solidFill>
          <a:ln/>
        </p:spPr>
        <p:txBody>
          <a:bodyPr/>
          <a:lstStyle/>
          <a:p>
            <a:endParaRPr lang="en-US"/>
          </a:p>
        </p:txBody>
      </p:sp>
      <p:pic>
        <p:nvPicPr>
          <p:cNvPr id="6" name="Image 1" descr="Comic: a Marine offered a new MRE, finding crayons and glue inside, and happily eating them"/>
          <p:cNvPicPr>
            <a:picLocks noChangeAspect="1"/>
          </p:cNvPicPr>
          <p:nvPr/>
        </p:nvPicPr>
        <p:blipFill>
          <a:blip r:embed="rId4"/>
          <a:srcRect l="-69" r="-69"/>
          <a:stretch/>
        </p:blipFill>
        <p:spPr>
          <a:xfrm>
            <a:off x="7315195" y="1269984"/>
            <a:ext cx="4063970" cy="4571970"/>
          </a:xfrm>
          <a:prstGeom prst="roundRect">
            <a:avLst>
              <a:gd name="adj" fmla="val 2500"/>
            </a:avLst>
          </a:prstGeom>
        </p:spPr>
      </p:pic>
      <p:sp>
        <p:nvSpPr>
          <p:cNvPr id="7" name="Text 3"/>
          <p:cNvSpPr/>
          <p:nvPr/>
        </p:nvSpPr>
        <p:spPr>
          <a:xfrm>
            <a:off x="812775" y="2285984"/>
            <a:ext cx="507978" cy="48261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E8597"/>
                </a:solidFill>
                <a:latin typeface="Oswald" pitchFamily="34" charset="0"/>
                <a:ea typeface="Oswald" pitchFamily="34" charset="-122"/>
                <a:cs typeface="Oswald" pitchFamily="34" charset="-120"/>
              </a:rPr>
              <a:t>1</a:t>
            </a:r>
            <a:endParaRPr lang="en-US" sz="3600" dirty="0"/>
          </a:p>
        </p:txBody>
      </p:sp>
      <p:sp>
        <p:nvSpPr>
          <p:cNvPr id="8" name="Text 4"/>
          <p:cNvSpPr/>
          <p:nvPr/>
        </p:nvSpPr>
        <p:spPr>
          <a:xfrm>
            <a:off x="1447736" y="2301239"/>
            <a:ext cx="3078192" cy="452104"/>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C9682C"/>
                </a:solidFill>
                <a:latin typeface="Oswald" pitchFamily="34" charset="0"/>
                <a:ea typeface="Oswald" pitchFamily="34" charset="-122"/>
                <a:cs typeface="Oswald" pitchFamily="34" charset="-120"/>
              </a:rPr>
              <a:t>NAME THE THINGS.</a:t>
            </a:r>
            <a:endParaRPr lang="en-US" sz="2800" dirty="0"/>
          </a:p>
        </p:txBody>
      </p:sp>
      <p:sp>
        <p:nvSpPr>
          <p:cNvPr id="9" name="Text 5"/>
          <p:cNvSpPr/>
          <p:nvPr/>
        </p:nvSpPr>
        <p:spPr>
          <a:xfrm>
            <a:off x="812775" y="3111497"/>
            <a:ext cx="507978" cy="48261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E8597"/>
                </a:solidFill>
                <a:latin typeface="Oswald" pitchFamily="34" charset="0"/>
                <a:ea typeface="Oswald" pitchFamily="34" charset="-122"/>
                <a:cs typeface="Oswald" pitchFamily="34" charset="-120"/>
              </a:rPr>
              <a:t>2</a:t>
            </a:r>
            <a:endParaRPr lang="en-US" sz="3600" dirty="0"/>
          </a:p>
        </p:txBody>
      </p:sp>
      <p:sp>
        <p:nvSpPr>
          <p:cNvPr id="10" name="Text 6"/>
          <p:cNvSpPr/>
          <p:nvPr/>
        </p:nvSpPr>
        <p:spPr>
          <a:xfrm>
            <a:off x="1447736" y="3126749"/>
            <a:ext cx="4243161" cy="452104"/>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C9682C"/>
                </a:solidFill>
                <a:latin typeface="Oswald" pitchFamily="34" charset="0"/>
                <a:ea typeface="Oswald" pitchFamily="34" charset="-122"/>
                <a:cs typeface="Oswald" pitchFamily="34" charset="-120"/>
              </a:rPr>
              <a:t>DRAW THE CONNECTIONS.</a:t>
            </a:r>
            <a:endParaRPr lang="en-US" sz="2800" dirty="0"/>
          </a:p>
        </p:txBody>
      </p:sp>
      <p:sp>
        <p:nvSpPr>
          <p:cNvPr id="11" name="Text 7"/>
          <p:cNvSpPr/>
          <p:nvPr/>
        </p:nvSpPr>
        <p:spPr>
          <a:xfrm>
            <a:off x="812775" y="3936978"/>
            <a:ext cx="507978" cy="48261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E8597"/>
                </a:solidFill>
                <a:latin typeface="Oswald" pitchFamily="34" charset="0"/>
                <a:ea typeface="Oswald" pitchFamily="34" charset="-122"/>
                <a:cs typeface="Oswald" pitchFamily="34" charset="-120"/>
              </a:rPr>
              <a:t>3</a:t>
            </a:r>
            <a:endParaRPr lang="en-US" sz="3600" dirty="0"/>
          </a:p>
        </p:txBody>
      </p:sp>
      <p:sp>
        <p:nvSpPr>
          <p:cNvPr id="12" name="Text 8"/>
          <p:cNvSpPr/>
          <p:nvPr/>
        </p:nvSpPr>
        <p:spPr>
          <a:xfrm>
            <a:off x="1447736" y="3952230"/>
            <a:ext cx="4112962" cy="452104"/>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C9682C"/>
                </a:solidFill>
                <a:latin typeface="Oswald" pitchFamily="34" charset="0"/>
                <a:ea typeface="Oswald" pitchFamily="34" charset="-122"/>
                <a:cs typeface="Oswald" pitchFamily="34" charset="-120"/>
              </a:rPr>
              <a:t>WRITE DOWN THE RULES.</a:t>
            </a:r>
            <a:endParaRPr lang="en-US" sz="2800" dirty="0"/>
          </a:p>
        </p:txBody>
      </p:sp>
      <p:sp>
        <p:nvSpPr>
          <p:cNvPr id="13" name="Text 9"/>
          <p:cNvSpPr/>
          <p:nvPr/>
        </p:nvSpPr>
        <p:spPr>
          <a:xfrm>
            <a:off x="812775" y="4952978"/>
            <a:ext cx="5886444" cy="274321"/>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1">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3"/>
            <a:ext cx="1396977" cy="609581"/>
          </a:xfrm>
          <a:prstGeom prst="rect">
            <a:avLst/>
          </a:prstGeom>
        </p:spPr>
      </p:pic>
      <p:sp>
        <p:nvSpPr>
          <p:cNvPr id="3" name="Text 0"/>
          <p:cNvSpPr>
            <a:spLocks noGrp="1"/>
          </p:cNvSpPr>
          <p:nvPr>
            <p:ph type="title"/>
          </p:nvPr>
        </p:nvSpPr>
        <p:spPr>
          <a:xfrm>
            <a:off x="812775" y="812775"/>
            <a:ext cx="10883414" cy="787384"/>
          </a:xfrm>
          <a:prstGeom prst="rect">
            <a:avLst/>
          </a:prstGeom>
          <a:noFill/>
          <a:ln/>
        </p:spPr>
        <p:txBody>
          <a:bodyPr wrap="square" lIns="0" tIns="0" rIns="0" bIns="0" rtlCol="0" anchor="t">
            <a:normAutofit/>
          </a:bodyPr>
          <a:lstStyle/>
          <a:p>
            <a:pPr marL="0" indent="0" algn="l">
              <a:lnSpc>
                <a:spcPts val="6000"/>
              </a:lnSpc>
              <a:buNone/>
            </a:pPr>
            <a:r>
              <a:rPr lang="en-US" sz="6000" b="1" i="0" dirty="0">
                <a:solidFill>
                  <a:srgbClr val="E8EEF4"/>
                </a:solidFill>
                <a:latin typeface="Oswald" pitchFamily="34" charset="0"/>
                <a:ea typeface="Oswald" pitchFamily="34" charset="-122"/>
                <a:cs typeface="Oswald" pitchFamily="34" charset="-120"/>
              </a:rPr>
              <a:t>CONTEXT IS THE TEAM.</a:t>
            </a:r>
            <a:endParaRPr lang="en-US" sz="6000" dirty="0"/>
          </a:p>
        </p:txBody>
      </p:sp>
      <p:sp>
        <p:nvSpPr>
          <p:cNvPr id="4" name="Text 1"/>
          <p:cNvSpPr/>
          <p:nvPr/>
        </p:nvSpPr>
        <p:spPr>
          <a:xfrm>
            <a:off x="812775" y="2130000"/>
            <a:ext cx="10883414" cy="360681"/>
          </a:xfrm>
          <a:prstGeom prst="rect">
            <a:avLst/>
          </a:prstGeom>
          <a:noFill/>
          <a:ln/>
        </p:spPr>
        <p:txBody>
          <a:bodyPr wrap="square" lIns="0" tIns="0" rIns="0" bIns="0" rtlCol="0" anchor="t">
            <a:normAutofit/>
          </a:bodyPr>
          <a:lstStyle/>
          <a:p>
            <a:pPr marL="0" indent="0" algn="l">
              <a:lnSpc>
                <a:spcPts val="2640"/>
              </a:lnSpc>
              <a:buNone/>
            </a:pPr>
            <a:r>
              <a:rPr lang="en-US" sz="2400" kern="0" spc="100" dirty="0">
                <a:solidFill>
                  <a:srgbClr val="C9682C"/>
                </a:solidFill>
                <a:latin typeface="Oswald" pitchFamily="34" charset="0"/>
                <a:ea typeface="Oswald" pitchFamily="34" charset="-122"/>
                <a:cs typeface="Oswald" pitchFamily="34" charset="-120"/>
              </a:rPr>
              <a:t>IT’S JUST ME.</a:t>
            </a:r>
            <a:endParaRPr lang="en-US" sz="2400" dirty="0"/>
          </a:p>
        </p:txBody>
      </p:sp>
      <p:sp>
        <p:nvSpPr>
          <p:cNvPr id="27" name="Subtitle"/>
          <p:cNvSpPr/>
          <p:nvPr/>
        </p:nvSpPr>
        <p:spPr>
          <a:xfrm>
            <a:off x="812775" y="1650930"/>
            <a:ext cx="10883414" cy="345428"/>
          </a:xfrm>
          <a:prstGeom prst="rect">
            <a:avLst/>
          </a:prstGeom>
          <a:noFill/>
          <a:ln/>
        </p:spPr>
        <p:txBody>
          <a:bodyPr wrap="square" lIns="0" tIns="0" rIns="0" bIns="0" rtlCol="0" anchor="t">
            <a:normAutofit/>
          </a:bodyPr>
          <a:lstStyle/>
          <a:p>
            <a:pPr marL="0" indent="0" algn="l">
              <a:lnSpc>
                <a:spcPts val="2520"/>
              </a:lnSpc>
              <a:buNone/>
            </a:pPr>
            <a:r>
              <a:rPr lang="en-US" sz="2000" dirty="0">
                <a:solidFill>
                  <a:srgbClr val="E8EEF4"/>
                </a:solidFill>
                <a:latin typeface="Inter" pitchFamily="34" charset="0"/>
                <a:ea typeface="Inter" pitchFamily="34" charset="-122"/>
                <a:cs typeface="Inter" pitchFamily="34" charset="-120"/>
              </a:rPr>
              <a:t>How Graph Ontologies Let a Solo Engineer Ship Across Dams, Education, and Oil Wells</a:t>
            </a:r>
            <a:endParaRPr lang="en-US" sz="1800" dirty="0"/>
          </a:p>
        </p:txBody>
      </p:sp>
      <p:sp>
        <p:nvSpPr>
          <p:cNvPr id="5" name="Text 2"/>
          <p:cNvSpPr/>
          <p:nvPr/>
        </p:nvSpPr>
        <p:spPr>
          <a:xfrm>
            <a:off x="812775" y="2540000"/>
            <a:ext cx="10667984" cy="345428"/>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8C7D3"/>
                </a:solidFill>
                <a:latin typeface="Inter" pitchFamily="34" charset="0"/>
                <a:ea typeface="Inter" pitchFamily="34" charset="-122"/>
                <a:cs typeface="Inter" pitchFamily="34" charset="-120"/>
              </a:rPr>
              <a:t>This year I shipped software across three domains, with an LLM doing the work.</a:t>
            </a:r>
            <a:endParaRPr lang="en-US" sz="1800" dirty="0"/>
          </a:p>
        </p:txBody>
      </p:sp>
      <p:sp>
        <p:nvSpPr>
          <p:cNvPr id="6" name="Shape 3"/>
          <p:cNvSpPr/>
          <p:nvPr/>
        </p:nvSpPr>
        <p:spPr>
          <a:xfrm>
            <a:off x="812775" y="3174993"/>
            <a:ext cx="2527295" cy="2011087"/>
          </a:xfrm>
          <a:prstGeom prst="roundRect">
            <a:avLst>
              <a:gd name="adj" fmla="val 5052"/>
            </a:avLst>
          </a:prstGeom>
          <a:solidFill>
            <a:srgbClr val="0B3042"/>
          </a:solidFill>
          <a:ln/>
        </p:spPr>
        <p:txBody>
          <a:bodyPr/>
          <a:lstStyle/>
          <a:p>
            <a:endParaRPr lang="en-US"/>
          </a:p>
        </p:txBody>
      </p:sp>
      <p:sp>
        <p:nvSpPr>
          <p:cNvPr id="7" name="Shape 4"/>
          <p:cNvSpPr/>
          <p:nvPr/>
        </p:nvSpPr>
        <p:spPr>
          <a:xfrm>
            <a:off x="812775" y="3174993"/>
            <a:ext cx="2527295" cy="2011087"/>
          </a:xfrm>
          <a:custGeom>
            <a:avLst/>
            <a:gdLst/>
            <a:ahLst/>
            <a:cxnLst/>
            <a:rect l="l" t="t" r="r" b="b"/>
            <a:pathLst>
              <a:path w="2527295" h="2011087">
                <a:moveTo>
                  <a:pt x="0" y="101600"/>
                </a:moveTo>
                <a:lnTo>
                  <a:pt x="0" y="101600"/>
                </a:lnTo>
                <a:arcTo wR="101600" hR="101600" stAng="10800000" swAng="5400000"/>
                <a:lnTo>
                  <a:pt x="2425695" y="0"/>
                </a:lnTo>
                <a:arcTo wR="101600" hR="101600" stAng="16200000" swAng="5400000"/>
                <a:lnTo>
                  <a:pt x="2527295"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sp>
        <p:nvSpPr>
          <p:cNvPr id="8" name="Text 5"/>
          <p:cNvSpPr/>
          <p:nvPr/>
        </p:nvSpPr>
        <p:spPr>
          <a:xfrm>
            <a:off x="1015969" y="3428505"/>
            <a:ext cx="2184535" cy="330206"/>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C9682C"/>
                </a:solidFill>
                <a:latin typeface="Oswald" pitchFamily="34" charset="0"/>
                <a:ea typeface="Oswald" pitchFamily="34" charset="-122"/>
                <a:cs typeface="Oswald" pitchFamily="34" charset="-120"/>
              </a:rPr>
              <a:t>01</a:t>
            </a:r>
            <a:endParaRPr lang="en-US" sz="2400" dirty="0"/>
          </a:p>
        </p:txBody>
      </p:sp>
      <p:sp>
        <p:nvSpPr>
          <p:cNvPr id="9" name="Text 6"/>
          <p:cNvSpPr/>
          <p:nvPr/>
        </p:nvSpPr>
        <p:spPr>
          <a:xfrm>
            <a:off x="1015969" y="3809482"/>
            <a:ext cx="2184535" cy="269226"/>
          </a:xfrm>
          <a:prstGeom prst="rect">
            <a:avLst/>
          </a:prstGeom>
          <a:noFill/>
          <a:ln/>
        </p:spPr>
        <p:txBody>
          <a:bodyPr wrap="square" lIns="0" tIns="0" rIns="0" bIns="0" rtlCol="0" anchor="t">
            <a:normAutofit/>
          </a:bodyPr>
          <a:lstStyle/>
          <a:p>
            <a:pPr marL="0" indent="0" algn="l">
              <a:lnSpc>
                <a:spcPts val="1920"/>
              </a:lnSpc>
              <a:buNone/>
            </a:pPr>
            <a:r>
              <a:rPr lang="en-US" sz="1600" kern="0" spc="100" dirty="0">
                <a:solidFill>
                  <a:srgbClr val="E8EEF4"/>
                </a:solidFill>
                <a:latin typeface="Oswald" pitchFamily="34" charset="0"/>
                <a:ea typeface="Oswald" pitchFamily="34" charset="-122"/>
                <a:cs typeface="Oswald" pitchFamily="34" charset="-120"/>
              </a:rPr>
              <a:t>ONTOLOGIES</a:t>
            </a:r>
            <a:endParaRPr lang="en-US" sz="1600" dirty="0"/>
          </a:p>
        </p:txBody>
      </p:sp>
      <p:sp>
        <p:nvSpPr>
          <p:cNvPr id="10" name="Text 7"/>
          <p:cNvSpPr/>
          <p:nvPr/>
        </p:nvSpPr>
        <p:spPr>
          <a:xfrm>
            <a:off x="1015969" y="4129479"/>
            <a:ext cx="2184535" cy="665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One per project. The domain’s language, its rules, and why.</a:t>
            </a:r>
            <a:endParaRPr lang="en-US" sz="1200" dirty="0"/>
          </a:p>
        </p:txBody>
      </p:sp>
      <p:sp>
        <p:nvSpPr>
          <p:cNvPr id="11" name="Shape 8"/>
          <p:cNvSpPr/>
          <p:nvPr/>
        </p:nvSpPr>
        <p:spPr>
          <a:xfrm>
            <a:off x="3492442" y="3174993"/>
            <a:ext cx="2527327" cy="2011087"/>
          </a:xfrm>
          <a:prstGeom prst="roundRect">
            <a:avLst>
              <a:gd name="adj" fmla="val 5052"/>
            </a:avLst>
          </a:prstGeom>
          <a:solidFill>
            <a:srgbClr val="0B3042"/>
          </a:solidFill>
          <a:ln/>
        </p:spPr>
        <p:txBody>
          <a:bodyPr/>
          <a:lstStyle/>
          <a:p>
            <a:endParaRPr lang="en-US"/>
          </a:p>
        </p:txBody>
      </p:sp>
      <p:sp>
        <p:nvSpPr>
          <p:cNvPr id="12" name="Shape 9"/>
          <p:cNvSpPr/>
          <p:nvPr/>
        </p:nvSpPr>
        <p:spPr>
          <a:xfrm>
            <a:off x="3492442" y="3174993"/>
            <a:ext cx="2527327" cy="2011087"/>
          </a:xfrm>
          <a:custGeom>
            <a:avLst/>
            <a:gdLst/>
            <a:ahLst/>
            <a:cxnLst/>
            <a:rect l="l" t="t" r="r" b="b"/>
            <a:pathLst>
              <a:path w="2527327" h="2011087">
                <a:moveTo>
                  <a:pt x="0" y="101600"/>
                </a:moveTo>
                <a:lnTo>
                  <a:pt x="0" y="101600"/>
                </a:lnTo>
                <a:arcTo wR="101600" hR="101600" stAng="10800000" swAng="5400000"/>
                <a:lnTo>
                  <a:pt x="2425727" y="0"/>
                </a:lnTo>
                <a:arcTo wR="101600" hR="101600" stAng="16200000" swAng="5400000"/>
                <a:lnTo>
                  <a:pt x="2527327"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sp>
        <p:nvSpPr>
          <p:cNvPr id="13" name="Text 10"/>
          <p:cNvSpPr/>
          <p:nvPr/>
        </p:nvSpPr>
        <p:spPr>
          <a:xfrm>
            <a:off x="3695636" y="3428505"/>
            <a:ext cx="2184567" cy="330206"/>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C9682C"/>
                </a:solidFill>
                <a:latin typeface="Oswald" pitchFamily="34" charset="0"/>
                <a:ea typeface="Oswald" pitchFamily="34" charset="-122"/>
                <a:cs typeface="Oswald" pitchFamily="34" charset="-120"/>
              </a:rPr>
              <a:t>02</a:t>
            </a:r>
            <a:endParaRPr lang="en-US" sz="2400" dirty="0"/>
          </a:p>
        </p:txBody>
      </p:sp>
      <p:sp>
        <p:nvSpPr>
          <p:cNvPr id="14" name="Text 11"/>
          <p:cNvSpPr/>
          <p:nvPr/>
        </p:nvSpPr>
        <p:spPr>
          <a:xfrm>
            <a:off x="3695636" y="3809482"/>
            <a:ext cx="2184567" cy="269226"/>
          </a:xfrm>
          <a:prstGeom prst="rect">
            <a:avLst/>
          </a:prstGeom>
          <a:noFill/>
          <a:ln/>
        </p:spPr>
        <p:txBody>
          <a:bodyPr wrap="square" lIns="0" tIns="0" rIns="0" bIns="0" rtlCol="0" anchor="t">
            <a:normAutofit/>
          </a:bodyPr>
          <a:lstStyle/>
          <a:p>
            <a:pPr marL="0" indent="0" algn="l">
              <a:lnSpc>
                <a:spcPts val="1920"/>
              </a:lnSpc>
              <a:buNone/>
            </a:pPr>
            <a:r>
              <a:rPr lang="en-US" sz="1600" kern="0" spc="100" dirty="0">
                <a:solidFill>
                  <a:srgbClr val="E8EEF4"/>
                </a:solidFill>
                <a:latin typeface="Oswald" pitchFamily="34" charset="0"/>
                <a:ea typeface="Oswald" pitchFamily="34" charset="-122"/>
                <a:cs typeface="Oswald" pitchFamily="34" charset="-120"/>
              </a:rPr>
              <a:t>HOOKS &amp; GATES</a:t>
            </a:r>
            <a:endParaRPr lang="en-US" sz="1600" dirty="0"/>
          </a:p>
        </p:txBody>
      </p:sp>
      <p:sp>
        <p:nvSpPr>
          <p:cNvPr id="15" name="Text 12"/>
          <p:cNvSpPr/>
          <p:nvPr/>
        </p:nvSpPr>
        <p:spPr>
          <a:xfrm>
            <a:off x="3695636" y="4129479"/>
            <a:ext cx="2184567" cy="665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Lifecycle events and mechanical checks the model can’t talk past.</a:t>
            </a:r>
            <a:endParaRPr lang="en-US" sz="1200" dirty="0"/>
          </a:p>
        </p:txBody>
      </p:sp>
      <p:sp>
        <p:nvSpPr>
          <p:cNvPr id="16" name="Shape 13"/>
          <p:cNvSpPr/>
          <p:nvPr/>
        </p:nvSpPr>
        <p:spPr>
          <a:xfrm>
            <a:off x="6172140" y="3174993"/>
            <a:ext cx="2527327" cy="2011087"/>
          </a:xfrm>
          <a:prstGeom prst="roundRect">
            <a:avLst>
              <a:gd name="adj" fmla="val 5052"/>
            </a:avLst>
          </a:prstGeom>
          <a:solidFill>
            <a:srgbClr val="0B3042"/>
          </a:solidFill>
          <a:ln/>
        </p:spPr>
        <p:txBody>
          <a:bodyPr/>
          <a:lstStyle/>
          <a:p>
            <a:endParaRPr lang="en-US"/>
          </a:p>
        </p:txBody>
      </p:sp>
      <p:sp>
        <p:nvSpPr>
          <p:cNvPr id="17" name="Shape 14"/>
          <p:cNvSpPr/>
          <p:nvPr/>
        </p:nvSpPr>
        <p:spPr>
          <a:xfrm>
            <a:off x="6172140" y="3174993"/>
            <a:ext cx="2527327" cy="2011087"/>
          </a:xfrm>
          <a:custGeom>
            <a:avLst/>
            <a:gdLst/>
            <a:ahLst/>
            <a:cxnLst/>
            <a:rect l="l" t="t" r="r" b="b"/>
            <a:pathLst>
              <a:path w="2527327" h="2011087">
                <a:moveTo>
                  <a:pt x="0" y="101600"/>
                </a:moveTo>
                <a:lnTo>
                  <a:pt x="0" y="101600"/>
                </a:lnTo>
                <a:arcTo wR="101600" hR="101600" stAng="10800000" swAng="5400000"/>
                <a:lnTo>
                  <a:pt x="2425727" y="0"/>
                </a:lnTo>
                <a:arcTo wR="101600" hR="101600" stAng="16200000" swAng="5400000"/>
                <a:lnTo>
                  <a:pt x="2527327"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sp>
        <p:nvSpPr>
          <p:cNvPr id="18" name="Text 15"/>
          <p:cNvSpPr/>
          <p:nvPr/>
        </p:nvSpPr>
        <p:spPr>
          <a:xfrm>
            <a:off x="6375334" y="3428505"/>
            <a:ext cx="2184567" cy="330206"/>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C9682C"/>
                </a:solidFill>
                <a:latin typeface="Oswald" pitchFamily="34" charset="0"/>
                <a:ea typeface="Oswald" pitchFamily="34" charset="-122"/>
                <a:cs typeface="Oswald" pitchFamily="34" charset="-120"/>
              </a:rPr>
              <a:t>03</a:t>
            </a:r>
            <a:endParaRPr lang="en-US" sz="2400" dirty="0"/>
          </a:p>
        </p:txBody>
      </p:sp>
      <p:sp>
        <p:nvSpPr>
          <p:cNvPr id="19" name="Text 16"/>
          <p:cNvSpPr/>
          <p:nvPr/>
        </p:nvSpPr>
        <p:spPr>
          <a:xfrm>
            <a:off x="6375334" y="3809482"/>
            <a:ext cx="2184567" cy="269226"/>
          </a:xfrm>
          <a:prstGeom prst="rect">
            <a:avLst/>
          </a:prstGeom>
          <a:noFill/>
          <a:ln/>
        </p:spPr>
        <p:txBody>
          <a:bodyPr wrap="square" lIns="0" tIns="0" rIns="0" bIns="0" rtlCol="0" anchor="t">
            <a:normAutofit/>
          </a:bodyPr>
          <a:lstStyle/>
          <a:p>
            <a:pPr marL="0" indent="0" algn="l">
              <a:lnSpc>
                <a:spcPts val="1920"/>
              </a:lnSpc>
              <a:buNone/>
            </a:pPr>
            <a:r>
              <a:rPr lang="en-US" sz="1600" kern="0" spc="100" dirty="0">
                <a:solidFill>
                  <a:srgbClr val="E8EEF4"/>
                </a:solidFill>
                <a:latin typeface="Oswald" pitchFamily="34" charset="0"/>
                <a:ea typeface="Oswald" pitchFamily="34" charset="-122"/>
                <a:cs typeface="Oswald" pitchFamily="34" charset="-120"/>
              </a:rPr>
              <a:t>VERIFICATION</a:t>
            </a:r>
            <a:endParaRPr lang="en-US" sz="1600" dirty="0"/>
          </a:p>
        </p:txBody>
      </p:sp>
      <p:sp>
        <p:nvSpPr>
          <p:cNvPr id="20" name="Text 17"/>
          <p:cNvSpPr/>
          <p:nvPr/>
        </p:nvSpPr>
        <p:spPr>
          <a:xfrm>
            <a:off x="6375334" y="4129479"/>
            <a:ext cx="2184567" cy="8788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A harness that proves every change: screenshots before and after, data checks front to back.</a:t>
            </a:r>
            <a:endParaRPr lang="en-US" sz="1200" dirty="0"/>
          </a:p>
        </p:txBody>
      </p:sp>
      <p:sp>
        <p:nvSpPr>
          <p:cNvPr id="21" name="Shape 18"/>
          <p:cNvSpPr/>
          <p:nvPr/>
        </p:nvSpPr>
        <p:spPr>
          <a:xfrm>
            <a:off x="8851839" y="3174993"/>
            <a:ext cx="2527327" cy="2011087"/>
          </a:xfrm>
          <a:prstGeom prst="roundRect">
            <a:avLst>
              <a:gd name="adj" fmla="val 5052"/>
            </a:avLst>
          </a:prstGeom>
          <a:solidFill>
            <a:srgbClr val="0B3042"/>
          </a:solidFill>
          <a:ln/>
        </p:spPr>
        <p:txBody>
          <a:bodyPr/>
          <a:lstStyle/>
          <a:p>
            <a:endParaRPr lang="en-US"/>
          </a:p>
        </p:txBody>
      </p:sp>
      <p:sp>
        <p:nvSpPr>
          <p:cNvPr id="22" name="Shape 19"/>
          <p:cNvSpPr/>
          <p:nvPr/>
        </p:nvSpPr>
        <p:spPr>
          <a:xfrm>
            <a:off x="8851839" y="3174993"/>
            <a:ext cx="2527327" cy="2011087"/>
          </a:xfrm>
          <a:custGeom>
            <a:avLst/>
            <a:gdLst/>
            <a:ahLst/>
            <a:cxnLst/>
            <a:rect l="l" t="t" r="r" b="b"/>
            <a:pathLst>
              <a:path w="2527327" h="2011087">
                <a:moveTo>
                  <a:pt x="0" y="101600"/>
                </a:moveTo>
                <a:lnTo>
                  <a:pt x="0" y="101600"/>
                </a:lnTo>
                <a:arcTo wR="101600" hR="101600" stAng="10800000" swAng="5400000"/>
                <a:lnTo>
                  <a:pt x="2425727" y="0"/>
                </a:lnTo>
                <a:arcTo wR="101600" hR="101600" stAng="16200000" swAng="5400000"/>
                <a:lnTo>
                  <a:pt x="2527327"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sp>
        <p:nvSpPr>
          <p:cNvPr id="23" name="Text 20"/>
          <p:cNvSpPr/>
          <p:nvPr/>
        </p:nvSpPr>
        <p:spPr>
          <a:xfrm>
            <a:off x="9055033" y="3428505"/>
            <a:ext cx="2184567" cy="330206"/>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C9682C"/>
                </a:solidFill>
                <a:latin typeface="Oswald" pitchFamily="34" charset="0"/>
                <a:ea typeface="Oswald" pitchFamily="34" charset="-122"/>
                <a:cs typeface="Oswald" pitchFamily="34" charset="-120"/>
              </a:rPr>
              <a:t>04</a:t>
            </a:r>
            <a:endParaRPr lang="en-US" sz="2400" dirty="0"/>
          </a:p>
        </p:txBody>
      </p:sp>
      <p:sp>
        <p:nvSpPr>
          <p:cNvPr id="24" name="Text 21"/>
          <p:cNvSpPr/>
          <p:nvPr/>
        </p:nvSpPr>
        <p:spPr>
          <a:xfrm>
            <a:off x="9055033" y="3809482"/>
            <a:ext cx="2184567" cy="269226"/>
          </a:xfrm>
          <a:prstGeom prst="rect">
            <a:avLst/>
          </a:prstGeom>
          <a:noFill/>
          <a:ln/>
        </p:spPr>
        <p:txBody>
          <a:bodyPr wrap="square" lIns="0" tIns="0" rIns="0" bIns="0" rtlCol="0" anchor="t">
            <a:normAutofit/>
          </a:bodyPr>
          <a:lstStyle/>
          <a:p>
            <a:pPr marL="0" indent="0" algn="l">
              <a:lnSpc>
                <a:spcPts val="1920"/>
              </a:lnSpc>
              <a:buNone/>
            </a:pPr>
            <a:r>
              <a:rPr lang="en-US" sz="1600" kern="0" spc="100" dirty="0">
                <a:solidFill>
                  <a:srgbClr val="E8EEF4"/>
                </a:solidFill>
                <a:latin typeface="Oswald" pitchFamily="34" charset="0"/>
                <a:ea typeface="Oswald" pitchFamily="34" charset="-122"/>
                <a:cs typeface="Oswald" pitchFamily="34" charset="-120"/>
              </a:rPr>
              <a:t>SKILL &amp; MOD</a:t>
            </a:r>
            <a:endParaRPr lang="en-US" sz="1600" dirty="0"/>
          </a:p>
        </p:txBody>
      </p:sp>
      <p:sp>
        <p:nvSpPr>
          <p:cNvPr id="25" name="Text 22"/>
          <p:cNvSpPr/>
          <p:nvPr/>
        </p:nvSpPr>
        <p:spPr>
          <a:xfrm>
            <a:off x="9055033" y="4129479"/>
            <a:ext cx="2184567" cy="4521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The whole process, codified, so I stop doing it by hand.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1"/>
            <a:ext cx="1396977" cy="609581"/>
          </a:xfrm>
          <a:prstGeom prst="rect">
            <a:avLst/>
          </a:prstGeom>
        </p:spPr>
      </p:pic>
      <p:sp>
        <p:nvSpPr>
          <p:cNvPr id="3" name="Text 0"/>
          <p:cNvSpPr/>
          <p:nvPr/>
        </p:nvSpPr>
        <p:spPr>
          <a:xfrm>
            <a:off x="812775" y="812772"/>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WHAT I TRIED FIRST</a:t>
            </a:r>
            <a:endParaRPr lang="en-US" sz="1200" dirty="0"/>
          </a:p>
        </p:txBody>
      </p:sp>
      <p:sp>
        <p:nvSpPr>
          <p:cNvPr id="4" name="Text 1"/>
          <p:cNvSpPr>
            <a:spLocks noGrp="1"/>
          </p:cNvSpPr>
          <p:nvPr>
            <p:ph type="title"/>
          </p:nvPr>
        </p:nvSpPr>
        <p:spPr>
          <a:xfrm>
            <a:off x="812775" y="1102296"/>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I KEPT CORRECTING. I THOUGHT IT WAS MEMORY.</a:t>
            </a:r>
            <a:endParaRPr lang="en-US" sz="2800" dirty="0"/>
          </a:p>
        </p:txBody>
      </p:sp>
      <p:sp>
        <p:nvSpPr>
          <p:cNvPr id="5" name="Shape 2"/>
          <p:cNvSpPr/>
          <p:nvPr/>
        </p:nvSpPr>
        <p:spPr>
          <a:xfrm>
            <a:off x="812775" y="1904975"/>
            <a:ext cx="3352776" cy="2666993"/>
          </a:xfrm>
          <a:prstGeom prst="roundRect">
            <a:avLst>
              <a:gd name="adj" fmla="val 3810"/>
            </a:avLst>
          </a:prstGeom>
          <a:solidFill>
            <a:srgbClr val="0B3042"/>
          </a:solidFill>
          <a:ln/>
        </p:spPr>
        <p:txBody>
          <a:bodyPr/>
          <a:lstStyle/>
          <a:p>
            <a:endParaRPr lang="en-US"/>
          </a:p>
        </p:txBody>
      </p:sp>
      <p:sp>
        <p:nvSpPr>
          <p:cNvPr id="6" name="Shape 3"/>
          <p:cNvSpPr/>
          <p:nvPr/>
        </p:nvSpPr>
        <p:spPr>
          <a:xfrm>
            <a:off x="812775" y="1904975"/>
            <a:ext cx="3352776" cy="2666993"/>
          </a:xfrm>
          <a:custGeom>
            <a:avLst/>
            <a:gdLst/>
            <a:ahLst/>
            <a:cxnLst/>
            <a:rect l="l" t="t" r="r" b="b"/>
            <a:pathLst>
              <a:path w="3352776" h="2666993">
                <a:moveTo>
                  <a:pt x="101600" y="2666993"/>
                </a:moveTo>
                <a:lnTo>
                  <a:pt x="101600" y="2666993"/>
                </a:lnTo>
                <a:arcTo wR="101600" hR="101600" stAng="5400000" swAng="5400000"/>
                <a:lnTo>
                  <a:pt x="0" y="101600"/>
                </a:lnTo>
                <a:arcTo wR="101600" hR="101600" stAng="10800000" swAng="5400000"/>
                <a:lnTo>
                  <a:pt x="101600" y="0"/>
                </a:lnTo>
                <a:arcTo wR="50800" hR="101600" stAng="16200000" swAng="-5400000"/>
                <a:lnTo>
                  <a:pt x="50800" y="2565393"/>
                </a:lnTo>
                <a:arcTo wR="50800" hR="101600" stAng="10800000" swAng="-5400000"/>
                <a:close/>
              </a:path>
            </a:pathLst>
          </a:custGeom>
          <a:solidFill>
            <a:srgbClr val="C9682C"/>
          </a:solidFill>
          <a:ln/>
        </p:spPr>
        <p:txBody>
          <a:bodyPr/>
          <a:lstStyle/>
          <a:p>
            <a:endParaRPr lang="en-US"/>
          </a:p>
        </p:txBody>
      </p:sp>
      <p:pic>
        <p:nvPicPr>
          <p:cNvPr id="7" name="Image 1" descr="Warning"/>
          <p:cNvPicPr>
            <a:picLocks noChangeAspect="1"/>
          </p:cNvPicPr>
          <p:nvPr/>
        </p:nvPicPr>
        <p:blipFill>
          <a:blip r:embed="rId4"/>
          <a:srcRect/>
          <a:stretch/>
        </p:blipFill>
        <p:spPr>
          <a:xfrm>
            <a:off x="1066288" y="2108169"/>
            <a:ext cx="279395" cy="279395"/>
          </a:xfrm>
          <a:prstGeom prst="rect">
            <a:avLst/>
          </a:prstGeom>
        </p:spPr>
      </p:pic>
      <p:sp>
        <p:nvSpPr>
          <p:cNvPr id="8" name="Text 4"/>
          <p:cNvSpPr/>
          <p:nvPr/>
        </p:nvSpPr>
        <p:spPr>
          <a:xfrm>
            <a:off x="1066288" y="2463735"/>
            <a:ext cx="2982951"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WHAT I KEPT DOING</a:t>
            </a:r>
            <a:endParaRPr lang="en-US" sz="1100" dirty="0"/>
          </a:p>
        </p:txBody>
      </p:sp>
      <p:sp>
        <p:nvSpPr>
          <p:cNvPr id="9" name="Text 5"/>
          <p:cNvSpPr/>
          <p:nvPr/>
        </p:nvSpPr>
        <p:spPr>
          <a:xfrm>
            <a:off x="1066288" y="2735458"/>
            <a:ext cx="2982951" cy="284479"/>
          </a:xfrm>
          <a:prstGeom prst="rect">
            <a:avLst/>
          </a:prstGeom>
          <a:noFill/>
          <a:ln/>
        </p:spPr>
        <p:txBody>
          <a:bodyPr wrap="square" lIns="0" tIns="0" rIns="0" bIns="0" rtlCol="0" anchor="t">
            <a:normAutofit/>
          </a:bodyPr>
          <a:lstStyle/>
          <a:p>
            <a:pPr marL="0" indent="0" algn="l">
              <a:lnSpc>
                <a:spcPts val="2040"/>
              </a:lnSpc>
              <a:buNone/>
            </a:pPr>
            <a:r>
              <a:rPr lang="en-US" sz="1700" kern="0" spc="100" dirty="0">
                <a:solidFill>
                  <a:srgbClr val="E8EEF4"/>
                </a:solidFill>
                <a:latin typeface="Oswald" pitchFamily="34" charset="0"/>
                <a:ea typeface="Oswald" pitchFamily="34" charset="-122"/>
                <a:cs typeface="Oswald" pitchFamily="34" charset="-120"/>
              </a:rPr>
              <a:t>THE SAME CORRECTIONS</a:t>
            </a:r>
            <a:endParaRPr lang="en-US" sz="1700" dirty="0"/>
          </a:p>
        </p:txBody>
      </p:sp>
      <p:sp>
        <p:nvSpPr>
          <p:cNvPr id="10" name="Text 6"/>
          <p:cNvSpPr/>
          <p:nvPr/>
        </p:nvSpPr>
        <p:spPr>
          <a:xfrm>
            <a:off x="1066288" y="3070706"/>
            <a:ext cx="2982951" cy="665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The same terms, the same relationships, the same rules, explained again on every change.</a:t>
            </a:r>
            <a:endParaRPr lang="en-US" sz="1200" dirty="0"/>
          </a:p>
        </p:txBody>
      </p:sp>
      <p:pic>
        <p:nvPicPr>
          <p:cNvPr id="11" name="Image 2" descr="connector"/>
          <p:cNvPicPr>
            <a:picLocks noChangeAspect="1"/>
          </p:cNvPicPr>
          <p:nvPr/>
        </p:nvPicPr>
        <p:blipFill>
          <a:blip r:embed="rId5"/>
          <a:srcRect/>
          <a:stretch/>
        </p:blipFill>
        <p:spPr>
          <a:xfrm>
            <a:off x="4102086" y="3174991"/>
            <a:ext cx="380977" cy="126992"/>
          </a:xfrm>
          <a:prstGeom prst="rect">
            <a:avLst/>
          </a:prstGeom>
        </p:spPr>
      </p:pic>
      <p:sp>
        <p:nvSpPr>
          <p:cNvPr id="12" name="Shape 7"/>
          <p:cNvSpPr/>
          <p:nvPr/>
        </p:nvSpPr>
        <p:spPr>
          <a:xfrm>
            <a:off x="4419598" y="1904975"/>
            <a:ext cx="3352776" cy="2666993"/>
          </a:xfrm>
          <a:prstGeom prst="roundRect">
            <a:avLst>
              <a:gd name="adj" fmla="val 3810"/>
            </a:avLst>
          </a:prstGeom>
          <a:solidFill>
            <a:srgbClr val="0B3042"/>
          </a:solidFill>
          <a:ln/>
        </p:spPr>
        <p:txBody>
          <a:bodyPr/>
          <a:lstStyle/>
          <a:p>
            <a:endParaRPr lang="en-US"/>
          </a:p>
        </p:txBody>
      </p:sp>
      <p:sp>
        <p:nvSpPr>
          <p:cNvPr id="13" name="Shape 8"/>
          <p:cNvSpPr/>
          <p:nvPr/>
        </p:nvSpPr>
        <p:spPr>
          <a:xfrm>
            <a:off x="4419598" y="1904975"/>
            <a:ext cx="3352776" cy="2666993"/>
          </a:xfrm>
          <a:custGeom>
            <a:avLst/>
            <a:gdLst/>
            <a:ahLst/>
            <a:cxnLst/>
            <a:rect l="l" t="t" r="r" b="b"/>
            <a:pathLst>
              <a:path w="3352776" h="2666993">
                <a:moveTo>
                  <a:pt x="101600" y="2666993"/>
                </a:moveTo>
                <a:lnTo>
                  <a:pt x="101600" y="2666993"/>
                </a:lnTo>
                <a:arcTo wR="101600" hR="101600" stAng="5400000" swAng="5400000"/>
                <a:lnTo>
                  <a:pt x="0" y="101600"/>
                </a:lnTo>
                <a:arcTo wR="101600" hR="101600" stAng="10800000" swAng="5400000"/>
                <a:lnTo>
                  <a:pt x="101600" y="0"/>
                </a:lnTo>
                <a:arcTo wR="50800" hR="101600" stAng="16200000" swAng="-5400000"/>
                <a:lnTo>
                  <a:pt x="50800" y="2565393"/>
                </a:lnTo>
                <a:arcTo wR="50800" hR="101600" stAng="10800000" swAng="-5400000"/>
                <a:close/>
              </a:path>
            </a:pathLst>
          </a:custGeom>
          <a:solidFill>
            <a:srgbClr val="C9682C"/>
          </a:solidFill>
          <a:ln/>
        </p:spPr>
        <p:txBody>
          <a:bodyPr/>
          <a:lstStyle/>
          <a:p>
            <a:endParaRPr lang="en-US"/>
          </a:p>
        </p:txBody>
      </p:sp>
      <p:pic>
        <p:nvPicPr>
          <p:cNvPr id="14" name="Image 3" descr="Database"/>
          <p:cNvPicPr>
            <a:picLocks noChangeAspect="1"/>
          </p:cNvPicPr>
          <p:nvPr/>
        </p:nvPicPr>
        <p:blipFill>
          <a:blip r:embed="rId6"/>
          <a:srcRect/>
          <a:stretch/>
        </p:blipFill>
        <p:spPr>
          <a:xfrm>
            <a:off x="4673110" y="2108169"/>
            <a:ext cx="279395" cy="279395"/>
          </a:xfrm>
          <a:prstGeom prst="rect">
            <a:avLst/>
          </a:prstGeom>
        </p:spPr>
      </p:pic>
      <p:sp>
        <p:nvSpPr>
          <p:cNvPr id="15" name="Text 9"/>
          <p:cNvSpPr/>
          <p:nvPr/>
        </p:nvSpPr>
        <p:spPr>
          <a:xfrm>
            <a:off x="4673110" y="2463735"/>
            <a:ext cx="2982951"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WHAT I BUILT</a:t>
            </a:r>
            <a:endParaRPr lang="en-US" sz="1100" dirty="0"/>
          </a:p>
        </p:txBody>
      </p:sp>
      <p:sp>
        <p:nvSpPr>
          <p:cNvPr id="16" name="Text 10"/>
          <p:cNvSpPr/>
          <p:nvPr/>
        </p:nvSpPr>
        <p:spPr>
          <a:xfrm>
            <a:off x="4673110" y="2735458"/>
            <a:ext cx="2982951" cy="284479"/>
          </a:xfrm>
          <a:prstGeom prst="rect">
            <a:avLst/>
          </a:prstGeom>
          <a:noFill/>
          <a:ln/>
        </p:spPr>
        <p:txBody>
          <a:bodyPr wrap="square" lIns="0" tIns="0" rIns="0" bIns="0" rtlCol="0" anchor="t">
            <a:normAutofit/>
          </a:bodyPr>
          <a:lstStyle/>
          <a:p>
            <a:pPr marL="0" indent="0" algn="l">
              <a:lnSpc>
                <a:spcPts val="2040"/>
              </a:lnSpc>
              <a:buNone/>
            </a:pPr>
            <a:r>
              <a:rPr lang="en-US" sz="1700" kern="0" spc="100" dirty="0">
                <a:solidFill>
                  <a:srgbClr val="E8EEF4"/>
                </a:solidFill>
                <a:latin typeface="Oswald" pitchFamily="34" charset="0"/>
                <a:ea typeface="Oswald" pitchFamily="34" charset="-122"/>
                <a:cs typeface="Oswald" pitchFamily="34" charset="-120"/>
              </a:rPr>
              <a:t>A MEMORY GRAPH</a:t>
            </a:r>
            <a:endParaRPr lang="en-US" sz="1700" dirty="0"/>
          </a:p>
        </p:txBody>
      </p:sp>
      <p:sp>
        <p:nvSpPr>
          <p:cNvPr id="17" name="Text 11"/>
          <p:cNvSpPr/>
          <p:nvPr/>
        </p:nvSpPr>
        <p:spPr>
          <a:xfrm>
            <a:off x="4673110" y="3070706"/>
            <a:ext cx="2982951" cy="665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Years of Neo4j. I thought it kept forgetting, so I reached for a graph. Several versions.</a:t>
            </a:r>
            <a:endParaRPr lang="en-US" sz="1200" dirty="0"/>
          </a:p>
        </p:txBody>
      </p:sp>
      <p:pic>
        <p:nvPicPr>
          <p:cNvPr id="18" name="Image 4" descr="connector"/>
          <p:cNvPicPr>
            <a:picLocks noChangeAspect="1"/>
          </p:cNvPicPr>
          <p:nvPr/>
        </p:nvPicPr>
        <p:blipFill>
          <a:blip r:embed="rId5"/>
          <a:srcRect/>
          <a:stretch/>
        </p:blipFill>
        <p:spPr>
          <a:xfrm>
            <a:off x="7708878" y="3174991"/>
            <a:ext cx="380977" cy="126992"/>
          </a:xfrm>
          <a:prstGeom prst="rect">
            <a:avLst/>
          </a:prstGeom>
        </p:spPr>
      </p:pic>
      <p:sp>
        <p:nvSpPr>
          <p:cNvPr id="19" name="Shape 12"/>
          <p:cNvSpPr/>
          <p:nvPr/>
        </p:nvSpPr>
        <p:spPr>
          <a:xfrm>
            <a:off x="8026389" y="1904975"/>
            <a:ext cx="3352776" cy="2666993"/>
          </a:xfrm>
          <a:prstGeom prst="roundRect">
            <a:avLst>
              <a:gd name="adj" fmla="val 3810"/>
            </a:avLst>
          </a:prstGeom>
          <a:solidFill>
            <a:srgbClr val="0B3042"/>
          </a:solidFill>
          <a:ln/>
        </p:spPr>
        <p:txBody>
          <a:bodyPr/>
          <a:lstStyle/>
          <a:p>
            <a:endParaRPr lang="en-US"/>
          </a:p>
        </p:txBody>
      </p:sp>
      <p:sp>
        <p:nvSpPr>
          <p:cNvPr id="20" name="Shape 13"/>
          <p:cNvSpPr/>
          <p:nvPr/>
        </p:nvSpPr>
        <p:spPr>
          <a:xfrm>
            <a:off x="8026389" y="1904975"/>
            <a:ext cx="3352776" cy="2666993"/>
          </a:xfrm>
          <a:custGeom>
            <a:avLst/>
            <a:gdLst/>
            <a:ahLst/>
            <a:cxnLst/>
            <a:rect l="l" t="t" r="r" b="b"/>
            <a:pathLst>
              <a:path w="3352776" h="2666993">
                <a:moveTo>
                  <a:pt x="101600" y="2666993"/>
                </a:moveTo>
                <a:lnTo>
                  <a:pt x="101600" y="2666993"/>
                </a:lnTo>
                <a:arcTo wR="101600" hR="101600" stAng="5400000" swAng="5400000"/>
                <a:lnTo>
                  <a:pt x="0" y="101600"/>
                </a:lnTo>
                <a:arcTo wR="101600" hR="101600" stAng="10800000" swAng="5400000"/>
                <a:lnTo>
                  <a:pt x="101600" y="0"/>
                </a:lnTo>
                <a:arcTo wR="50800" hR="101600" stAng="16200000" swAng="-5400000"/>
                <a:lnTo>
                  <a:pt x="50800" y="2565393"/>
                </a:lnTo>
                <a:arcTo wR="50800" hR="101600" stAng="10800000" swAng="-5400000"/>
                <a:close/>
              </a:path>
            </a:pathLst>
          </a:custGeom>
          <a:solidFill>
            <a:srgbClr val="C9682C"/>
          </a:solidFill>
          <a:ln/>
        </p:spPr>
        <p:txBody>
          <a:bodyPr/>
          <a:lstStyle/>
          <a:p>
            <a:endParaRPr lang="en-US"/>
          </a:p>
        </p:txBody>
      </p:sp>
      <p:pic>
        <p:nvPicPr>
          <p:cNvPr id="21" name="Image 5" descr="Search"/>
          <p:cNvPicPr>
            <a:picLocks noChangeAspect="1"/>
          </p:cNvPicPr>
          <p:nvPr/>
        </p:nvPicPr>
        <p:blipFill>
          <a:blip r:embed="rId7"/>
          <a:srcRect/>
          <a:stretch/>
        </p:blipFill>
        <p:spPr>
          <a:xfrm>
            <a:off x="8279902" y="2108169"/>
            <a:ext cx="279395" cy="279395"/>
          </a:xfrm>
          <a:prstGeom prst="rect">
            <a:avLst/>
          </a:prstGeom>
        </p:spPr>
      </p:pic>
      <p:sp>
        <p:nvSpPr>
          <p:cNvPr id="22" name="Text 14"/>
          <p:cNvSpPr/>
          <p:nvPr/>
        </p:nvSpPr>
        <p:spPr>
          <a:xfrm>
            <a:off x="8279902" y="2463735"/>
            <a:ext cx="2982951"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WHAT I OBSERVED</a:t>
            </a:r>
            <a:endParaRPr lang="en-US" sz="1100" dirty="0"/>
          </a:p>
        </p:txBody>
      </p:sp>
      <p:sp>
        <p:nvSpPr>
          <p:cNvPr id="23" name="Text 15"/>
          <p:cNvSpPr/>
          <p:nvPr/>
        </p:nvSpPr>
        <p:spPr>
          <a:xfrm>
            <a:off x="8279902" y="2735458"/>
            <a:ext cx="2982951" cy="284479"/>
          </a:xfrm>
          <a:prstGeom prst="rect">
            <a:avLst/>
          </a:prstGeom>
          <a:noFill/>
          <a:ln/>
        </p:spPr>
        <p:txBody>
          <a:bodyPr wrap="square" lIns="0" tIns="0" rIns="0" bIns="0" rtlCol="0" anchor="t">
            <a:normAutofit/>
          </a:bodyPr>
          <a:lstStyle/>
          <a:p>
            <a:pPr marL="0" indent="0" algn="l">
              <a:lnSpc>
                <a:spcPts val="2040"/>
              </a:lnSpc>
              <a:buNone/>
            </a:pPr>
            <a:r>
              <a:rPr lang="en-US" sz="1700" kern="0" spc="100" dirty="0">
                <a:solidFill>
                  <a:srgbClr val="E8EEF4"/>
                </a:solidFill>
                <a:latin typeface="Oswald" pitchFamily="34" charset="0"/>
                <a:ea typeface="Oswald" pitchFamily="34" charset="-122"/>
                <a:cs typeface="Oswald" pitchFamily="34" charset="-120"/>
              </a:rPr>
              <a:t>STILL CORRECTING</a:t>
            </a:r>
            <a:endParaRPr lang="en-US" sz="1700" dirty="0"/>
          </a:p>
        </p:txBody>
      </p:sp>
      <p:sp>
        <p:nvSpPr>
          <p:cNvPr id="24" name="Text 16"/>
          <p:cNvSpPr/>
          <p:nvPr/>
        </p:nvSpPr>
        <p:spPr>
          <a:xfrm>
            <a:off x="8279902" y="3070706"/>
            <a:ext cx="2982951" cy="665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Recall was good. It remembered what we’d discussed. I still had to correct what it understood.</a:t>
            </a:r>
            <a:endParaRPr lang="en-US" sz="1200" dirty="0"/>
          </a:p>
        </p:txBody>
      </p:sp>
      <p:sp>
        <p:nvSpPr>
          <p:cNvPr id="25" name="Text 17"/>
          <p:cNvSpPr/>
          <p:nvPr/>
        </p:nvSpPr>
        <p:spPr>
          <a:xfrm>
            <a:off x="812775" y="4843754"/>
            <a:ext cx="1142499" cy="274321"/>
          </a:xfrm>
          <a:prstGeom prst="rect">
            <a:avLst/>
          </a:prstGeom>
          <a:noFill/>
          <a:ln/>
        </p:spPr>
        <p:txBody>
          <a:bodyPr wrap="none" lIns="0" tIns="0" rIns="0" bIns="0" rtlCol="0" anchor="t">
            <a:normAutofit/>
          </a:bodyPr>
          <a:lstStyle/>
          <a:p>
            <a:pPr marL="0" indent="0" algn="l">
              <a:lnSpc>
                <a:spcPts val="1960"/>
              </a:lnSpc>
              <a:buNone/>
            </a:pPr>
            <a:r>
              <a:rPr lang="en-US" sz="1400" kern="0" spc="200" dirty="0">
                <a:solidFill>
                  <a:srgbClr val="C9682C"/>
                </a:solidFill>
                <a:latin typeface="Oswald" pitchFamily="34" charset="0"/>
                <a:ea typeface="Oswald" pitchFamily="34" charset="-122"/>
                <a:cs typeface="Oswald" pitchFamily="34" charset="-120"/>
              </a:rPr>
              <a:t>LESSON ONE</a:t>
            </a:r>
            <a:endParaRPr lang="en-US" sz="1400" dirty="0"/>
          </a:p>
        </p:txBody>
      </p:sp>
      <p:sp>
        <p:nvSpPr>
          <p:cNvPr id="26" name="Text 18"/>
          <p:cNvSpPr/>
          <p:nvPr/>
        </p:nvSpPr>
        <p:spPr>
          <a:xfrm>
            <a:off x="2107667" y="4825984"/>
            <a:ext cx="7485745" cy="30985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EF4"/>
                </a:solidFill>
                <a:latin typeface="Inter" pitchFamily="34" charset="0"/>
                <a:ea typeface="Inter" pitchFamily="34" charset="-122"/>
                <a:cs typeface="Inter" pitchFamily="34" charset="-120"/>
              </a:rPr>
              <a:t>Memory gave the model our history. It didn’t give it the language.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5"/>
          <a:srcRect l="-58" r="-58"/>
          <a:stretch/>
        </p:blipFill>
        <p:spPr>
          <a:xfrm>
            <a:off x="10413987" y="177781"/>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VERTICAL 2 · OIL &amp; </a:t>
            </a:r>
            <a:r>
              <a:rPr lang="en-US" sz="1200" kern="0" spc="300">
                <a:solidFill>
                  <a:srgbClr val="C9682C"/>
                </a:solidFill>
                <a:latin typeface="Oswald" pitchFamily="34" charset="0"/>
                <a:ea typeface="Oswald" pitchFamily="34" charset="-122"/>
                <a:cs typeface="Oswald" pitchFamily="34" charset="-120"/>
              </a:rPr>
              <a:t>GAS </a:t>
            </a:r>
          </a:p>
          <a:p>
            <a:pPr marL="0" indent="0" algn="l">
              <a:lnSpc>
                <a:spcPts val="1680"/>
              </a:lnSpc>
              <a:buNone/>
            </a:pPr>
            <a:endParaRPr lang="en-US" sz="1200" dirty="0"/>
          </a:p>
        </p:txBody>
      </p:sp>
      <p:sp>
        <p:nvSpPr>
          <p:cNvPr id="4" name="Text 1"/>
          <p:cNvSpPr>
            <a:spLocks noGrp="1"/>
          </p:cNvSpPr>
          <p:nvPr>
            <p:ph type="title"/>
          </p:nvPr>
        </p:nvSpPr>
        <p:spPr>
          <a:xfrm>
            <a:off x="812775" y="1102296"/>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THE LANDMAN’S GRAPH</a:t>
            </a:r>
            <a:endParaRPr lang="en-US" sz="3200" dirty="0"/>
          </a:p>
        </p:txBody>
      </p:sp>
      <p:pic>
        <p:nvPicPr>
          <p:cNvPr id="7" name="Video · The landman’s graph" descr="The landman’s graph: a family and its mineral interests changing over tim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501876" y="1924025"/>
            <a:ext cx="7188188" cy="4025870"/>
          </a:xfrm>
          <a:prstGeom prst="roundRect">
            <a:avLst>
              <a:gd name="adj" fmla="val 2050"/>
            </a:avLst>
          </a:prstGeom>
        </p:spPr>
      </p:pic>
      <p:sp>
        <p:nvSpPr>
          <p:cNvPr id="6" name="Shape 2"/>
          <p:cNvSpPr/>
          <p:nvPr/>
        </p:nvSpPr>
        <p:spPr>
          <a:xfrm>
            <a:off x="2492351" y="1914500"/>
            <a:ext cx="7207238" cy="4044920"/>
          </a:xfrm>
          <a:prstGeom prst="roundRect">
            <a:avLst>
              <a:gd name="adj" fmla="val 2276"/>
            </a:avLst>
          </a:prstGeom>
          <a:noFill/>
          <a:ln w="19050">
            <a:solidFill>
              <a:srgbClr val="C9682C"/>
            </a:solidFill>
            <a:prstDash val="solid"/>
          </a:ln>
        </p:spPr>
        <p:txBody>
          <a:bodyPr/>
          <a:lstStyle/>
          <a:p>
            <a:endParaRPr lang="en-US"/>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pic>
        <p:nvPicPr>
          <p:cNvPr id="2" name="Image 0" descr="A man in work clothes at a farmhouse kitchen table, head in hand, over a spread of printed ownership records"/>
          <p:cNvPicPr>
            <a:picLocks noChangeAspect="1"/>
          </p:cNvPicPr>
          <p:nvPr/>
        </p:nvPicPr>
        <p:blipFill>
          <a:blip r:embed="rId3"/>
          <a:srcRect l="384" r="384"/>
          <a:stretch/>
        </p:blipFill>
        <p:spPr>
          <a:xfrm>
            <a:off x="0" y="0"/>
            <a:ext cx="12191972" cy="6857986"/>
          </a:xfrm>
          <a:prstGeom prst="rect">
            <a:avLst/>
          </a:prstGeom>
        </p:spPr>
      </p:pic>
      <p:sp>
        <p:nvSpPr>
          <p:cNvPr id="3" name="Shape 0"/>
          <p:cNvSpPr/>
          <p:nvPr/>
        </p:nvSpPr>
        <p:spPr>
          <a:xfrm>
            <a:off x="0" y="5460975"/>
            <a:ext cx="12191972" cy="1396977"/>
          </a:xfrm>
          <a:prstGeom prst="rect">
            <a:avLst/>
          </a:prstGeom>
          <a:solidFill>
            <a:srgbClr val="000000">
              <a:alpha val="62000"/>
            </a:srgbClr>
          </a:solidFill>
          <a:ln/>
        </p:spPr>
        <p:txBody>
          <a:bodyPr/>
          <a:lstStyle/>
          <a:p>
            <a:endParaRPr lang="en-US"/>
          </a:p>
        </p:txBody>
      </p:sp>
      <p:sp>
        <p:nvSpPr>
          <p:cNvPr id="4" name="Text 1"/>
          <p:cNvSpPr/>
          <p:nvPr/>
        </p:nvSpPr>
        <p:spPr>
          <a:xfrm>
            <a:off x="812775" y="5765750"/>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THE LAND PROBLEM</a:t>
            </a:r>
            <a:endParaRPr lang="en-US" sz="1200" dirty="0"/>
          </a:p>
        </p:txBody>
      </p:sp>
      <p:sp>
        <p:nvSpPr>
          <p:cNvPr id="5" name="Text 2"/>
          <p:cNvSpPr>
            <a:spLocks noGrp="1"/>
          </p:cNvSpPr>
          <p:nvPr>
            <p:ph type="title"/>
          </p:nvPr>
        </p:nvSpPr>
        <p:spPr>
          <a:xfrm>
            <a:off x="812775" y="6029889"/>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THIS IS A LOT TO KEEP STRAIGHT.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8"/>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VERTICAL 2 · OIL &amp; GAS · LAND AND TITLE</a:t>
            </a:r>
            <a:endParaRPr lang="en-US" sz="1200" dirty="0"/>
          </a:p>
        </p:txBody>
      </p:sp>
      <p:sp>
        <p:nvSpPr>
          <p:cNvPr id="4" name="Text 1"/>
          <p:cNvSpPr>
            <a:spLocks noGrp="1"/>
          </p:cNvSpPr>
          <p:nvPr>
            <p:ph type="title"/>
          </p:nvPr>
        </p:nvSpPr>
        <p:spPr>
          <a:xfrm>
            <a:off x="812775" y="1102302"/>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THE LANDMAN’S LANGUAGE</a:t>
            </a:r>
            <a:endParaRPr lang="en-US" sz="3200" dirty="0"/>
          </a:p>
        </p:txBody>
      </p:sp>
      <p:sp>
        <p:nvSpPr>
          <p:cNvPr id="5" name="Text 2"/>
          <p:cNvSpPr/>
          <p:nvPr/>
        </p:nvSpPr>
        <p:spPr>
          <a:xfrm>
            <a:off x="812775" y="2031969"/>
            <a:ext cx="4970765" cy="391155"/>
          </a:xfrm>
          <a:prstGeom prst="rect">
            <a:avLst/>
          </a:prstGeom>
          <a:noFill/>
          <a:ln/>
        </p:spPr>
        <p:txBody>
          <a:bodyPr wrap="square" lIns="0" tIns="0" rIns="0" bIns="0" rtlCol="0" anchor="t">
            <a:normAutofit/>
          </a:bodyPr>
          <a:lstStyle/>
          <a:p>
            <a:pPr marL="0" indent="0" algn="l">
              <a:lnSpc>
                <a:spcPts val="2880"/>
              </a:lnSpc>
              <a:buNone/>
            </a:pPr>
            <a:r>
              <a:rPr lang="en-US" sz="2400" dirty="0">
                <a:solidFill>
                  <a:srgbClr val="C9682C"/>
                </a:solidFill>
                <a:latin typeface="Oswald" pitchFamily="34" charset="0"/>
                <a:ea typeface="Oswald" pitchFamily="34" charset="-122"/>
                <a:cs typeface="Oswald" pitchFamily="34" charset="-120"/>
              </a:rPr>
              <a:t>WHO OWNS WHAT TODAY?</a:t>
            </a:r>
            <a:endParaRPr lang="en-US" sz="2400" dirty="0"/>
          </a:p>
        </p:txBody>
      </p:sp>
      <p:sp>
        <p:nvSpPr>
          <p:cNvPr id="6" name="Text 3"/>
          <p:cNvSpPr/>
          <p:nvPr/>
        </p:nvSpPr>
        <p:spPr>
          <a:xfrm>
            <a:off x="812775" y="2550096"/>
            <a:ext cx="4970765" cy="391155"/>
          </a:xfrm>
          <a:prstGeom prst="rect">
            <a:avLst/>
          </a:prstGeom>
          <a:noFill/>
          <a:ln/>
        </p:spPr>
        <p:txBody>
          <a:bodyPr wrap="square" lIns="0" tIns="0" rIns="0" bIns="0" rtlCol="0" anchor="t">
            <a:normAutofit/>
          </a:bodyPr>
          <a:lstStyle/>
          <a:p>
            <a:pPr marL="0" indent="0" algn="l">
              <a:lnSpc>
                <a:spcPts val="2880"/>
              </a:lnSpc>
              <a:buNone/>
            </a:pPr>
            <a:r>
              <a:rPr lang="en-US" sz="2400" dirty="0">
                <a:solidFill>
                  <a:srgbClr val="C9682C"/>
                </a:solidFill>
                <a:latin typeface="Oswald" pitchFamily="34" charset="0"/>
                <a:ea typeface="Oswald" pitchFamily="34" charset="-122"/>
                <a:cs typeface="Oswald" pitchFamily="34" charset="-120"/>
              </a:rPr>
              <a:t>HOW DID THEY GET IT?</a:t>
            </a:r>
            <a:endParaRPr lang="en-US" sz="2400" dirty="0"/>
          </a:p>
        </p:txBody>
      </p:sp>
      <p:sp>
        <p:nvSpPr>
          <p:cNvPr id="7" name="Text 4"/>
          <p:cNvSpPr/>
          <p:nvPr/>
        </p:nvSpPr>
        <p:spPr>
          <a:xfrm>
            <a:off x="812775" y="3555969"/>
            <a:ext cx="4970765" cy="29205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EEF4"/>
                </a:solidFill>
                <a:latin typeface="Inter" pitchFamily="34" charset="0"/>
                <a:ea typeface="Inter" pitchFamily="34" charset="-122"/>
                <a:cs typeface="Inter" pitchFamily="34" charset="-120"/>
              </a:rPr>
              <a:t>People and families.</a:t>
            </a:r>
            <a:endParaRPr lang="en-US" sz="1500" dirty="0"/>
          </a:p>
        </p:txBody>
      </p:sp>
      <p:sp>
        <p:nvSpPr>
          <p:cNvPr id="8" name="Text 5"/>
          <p:cNvSpPr/>
          <p:nvPr/>
        </p:nvSpPr>
        <p:spPr>
          <a:xfrm>
            <a:off x="812775" y="3898801"/>
            <a:ext cx="4970765" cy="29205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EEF4"/>
                </a:solidFill>
                <a:latin typeface="Inter" pitchFamily="34" charset="0"/>
                <a:ea typeface="Inter" pitchFamily="34" charset="-122"/>
                <a:cs typeface="Inter" pitchFamily="34" charset="-120"/>
              </a:rPr>
              <a:t>Mineral interests.</a:t>
            </a:r>
            <a:endParaRPr lang="en-US" sz="1500" dirty="0"/>
          </a:p>
        </p:txBody>
      </p:sp>
      <p:sp>
        <p:nvSpPr>
          <p:cNvPr id="9" name="Text 6"/>
          <p:cNvSpPr/>
          <p:nvPr/>
        </p:nvSpPr>
        <p:spPr>
          <a:xfrm>
            <a:off x="812775" y="4241626"/>
            <a:ext cx="4970765" cy="29205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EEF4"/>
                </a:solidFill>
                <a:latin typeface="Inter" pitchFamily="34" charset="0"/>
                <a:ea typeface="Inter" pitchFamily="34" charset="-122"/>
                <a:cs typeface="Inter" pitchFamily="34" charset="-120"/>
              </a:rPr>
              <a:t>Documents and history.</a:t>
            </a:r>
            <a:endParaRPr lang="en-US" sz="1500" dirty="0"/>
          </a:p>
        </p:txBody>
      </p:sp>
      <p:sp>
        <p:nvSpPr>
          <p:cNvPr id="10" name="Shape 7"/>
          <p:cNvSpPr/>
          <p:nvPr/>
        </p:nvSpPr>
        <p:spPr>
          <a:xfrm>
            <a:off x="6502389" y="2031969"/>
            <a:ext cx="4876776" cy="2844744"/>
          </a:xfrm>
          <a:prstGeom prst="roundRect">
            <a:avLst>
              <a:gd name="adj" fmla="val 3571"/>
            </a:avLst>
          </a:prstGeom>
          <a:solidFill>
            <a:srgbClr val="0B3042"/>
          </a:solidFill>
          <a:ln/>
        </p:spPr>
        <p:txBody>
          <a:bodyPr/>
          <a:lstStyle/>
          <a:p>
            <a:endParaRPr lang="en-US"/>
          </a:p>
        </p:txBody>
      </p:sp>
      <p:sp>
        <p:nvSpPr>
          <p:cNvPr id="11" name="Shape 8"/>
          <p:cNvSpPr/>
          <p:nvPr/>
        </p:nvSpPr>
        <p:spPr>
          <a:xfrm>
            <a:off x="6502389" y="2031969"/>
            <a:ext cx="4876776" cy="2844744"/>
          </a:xfrm>
          <a:custGeom>
            <a:avLst/>
            <a:gdLst/>
            <a:ahLst/>
            <a:cxnLst/>
            <a:rect l="l" t="t" r="r" b="b"/>
            <a:pathLst>
              <a:path w="4876776" h="2844744">
                <a:moveTo>
                  <a:pt x="101600" y="2844744"/>
                </a:moveTo>
                <a:lnTo>
                  <a:pt x="101600" y="2844744"/>
                </a:lnTo>
                <a:arcTo wR="101600" hR="101600" stAng="5400000" swAng="5400000"/>
                <a:lnTo>
                  <a:pt x="0" y="101600"/>
                </a:lnTo>
                <a:arcTo wR="101600" hR="101600" stAng="10800000" swAng="5400000"/>
                <a:lnTo>
                  <a:pt x="101600" y="0"/>
                </a:lnTo>
                <a:arcTo wR="50800" hR="101600" stAng="16200000" swAng="-5400000"/>
                <a:lnTo>
                  <a:pt x="50800" y="2743144"/>
                </a:lnTo>
                <a:arcTo wR="50800" hR="101600" stAng="10800000" swAng="-5400000"/>
                <a:close/>
              </a:path>
            </a:pathLst>
          </a:custGeom>
          <a:solidFill>
            <a:srgbClr val="C9682C"/>
          </a:solidFill>
          <a:ln/>
        </p:spPr>
        <p:txBody>
          <a:bodyPr/>
          <a:lstStyle/>
          <a:p>
            <a:endParaRPr lang="en-US"/>
          </a:p>
        </p:txBody>
      </p:sp>
      <p:sp>
        <p:nvSpPr>
          <p:cNvPr id="12" name="Text 9"/>
          <p:cNvSpPr/>
          <p:nvPr/>
        </p:nvSpPr>
        <p:spPr>
          <a:xfrm>
            <a:off x="6806692" y="2285957"/>
            <a:ext cx="4448043" cy="238752"/>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6E8597"/>
                </a:solidFill>
                <a:latin typeface="Oswald" pitchFamily="34" charset="0"/>
                <a:ea typeface="Oswald" pitchFamily="34" charset="-122"/>
                <a:cs typeface="Oswald" pitchFamily="34" charset="-120"/>
              </a:rPr>
              <a:t>WHAT’S DIFFERENT FROM THE RIVER</a:t>
            </a:r>
            <a:endParaRPr lang="en-US" sz="1200" dirty="0"/>
          </a:p>
        </p:txBody>
      </p:sp>
      <p:sp>
        <p:nvSpPr>
          <p:cNvPr id="13" name="Text 10"/>
          <p:cNvSpPr/>
          <p:nvPr/>
        </p:nvSpPr>
        <p:spPr>
          <a:xfrm>
            <a:off x="6806692" y="2626302"/>
            <a:ext cx="4448043" cy="7721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7D3"/>
                </a:solidFill>
                <a:latin typeface="Inter" pitchFamily="34" charset="0"/>
                <a:ea typeface="Inter" pitchFamily="34" charset="-122"/>
                <a:cs typeface="Inter" pitchFamily="34" charset="-120"/>
              </a:rPr>
              <a:t>The river was about </a:t>
            </a:r>
            <a:r>
              <a:rPr lang="en-US" sz="1400" b="1" dirty="0">
                <a:solidFill>
                  <a:srgbClr val="B8C7D3"/>
                </a:solidFill>
                <a:latin typeface="Inter" pitchFamily="34" charset="0"/>
                <a:ea typeface="Inter" pitchFamily="34" charset="-122"/>
                <a:cs typeface="Inter" pitchFamily="34" charset="-120"/>
              </a:rPr>
              <a:t>intent</a:t>
            </a:r>
            <a:r>
              <a:rPr lang="en-US" sz="1400" dirty="0">
                <a:solidFill>
                  <a:srgbClr val="B8C7D3"/>
                </a:solidFill>
                <a:latin typeface="Inter" pitchFamily="34" charset="0"/>
                <a:ea typeface="Inter" pitchFamily="34" charset="-122"/>
                <a:cs typeface="Inter" pitchFamily="34" charset="-120"/>
              </a:rPr>
              <a:t>: what the number is for. A forecast exists so someone can act before the water arrives.</a:t>
            </a:r>
            <a:endParaRPr lang="en-US" sz="1400" dirty="0"/>
          </a:p>
        </p:txBody>
      </p:sp>
      <p:sp>
        <p:nvSpPr>
          <p:cNvPr id="14" name="Text 11"/>
          <p:cNvSpPr/>
          <p:nvPr/>
        </p:nvSpPr>
        <p:spPr>
          <a:xfrm>
            <a:off x="6806692" y="3500053"/>
            <a:ext cx="4448043" cy="52324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EEF4"/>
                </a:solidFill>
                <a:latin typeface="Inter" pitchFamily="34" charset="0"/>
                <a:ea typeface="Inter" pitchFamily="34" charset="-122"/>
                <a:cs typeface="Inter" pitchFamily="34" charset="-120"/>
              </a:rPr>
              <a:t>Land is about </a:t>
            </a:r>
            <a:r>
              <a:rPr lang="en-US" sz="1400" b="1" dirty="0">
                <a:solidFill>
                  <a:srgbClr val="E8EEF4"/>
                </a:solidFill>
                <a:latin typeface="Inter" pitchFamily="34" charset="0"/>
                <a:ea typeface="Inter" pitchFamily="34" charset="-122"/>
                <a:cs typeface="Inter" pitchFamily="34" charset="-120"/>
              </a:rPr>
              <a:t>history</a:t>
            </a:r>
            <a:r>
              <a:rPr lang="en-US" sz="1400" dirty="0">
                <a:solidFill>
                  <a:srgbClr val="E8EEF4"/>
                </a:solidFill>
                <a:latin typeface="Inter" pitchFamily="34" charset="0"/>
                <a:ea typeface="Inter" pitchFamily="34" charset="-122"/>
                <a:cs typeface="Inter" pitchFamily="34" charset="-120"/>
              </a:rPr>
              <a:t>: today’s answer only means something if you can trace how it was assembled.</a:t>
            </a:r>
            <a:endParaRPr lang="en-US" sz="1400" dirty="0"/>
          </a:p>
        </p:txBody>
      </p:sp>
      <p:sp>
        <p:nvSpPr>
          <p:cNvPr id="15" name="Text 12"/>
          <p:cNvSpPr/>
          <p:nvPr/>
        </p:nvSpPr>
        <p:spPr>
          <a:xfrm>
            <a:off x="6806692" y="4124889"/>
            <a:ext cx="4448043" cy="52324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7D3"/>
                </a:solidFill>
                <a:latin typeface="Inter" pitchFamily="34" charset="0"/>
                <a:ea typeface="Inter" pitchFamily="34" charset="-122"/>
                <a:cs typeface="Inter" pitchFamily="34" charset="-120"/>
              </a:rPr>
              <a:t>A different thing to make explicit for the agent. A different thing to check.</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8"/>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THREE DOMAINS, ONE MOVE</a:t>
            </a:r>
            <a:endParaRPr lang="en-US" sz="1200" dirty="0"/>
          </a:p>
        </p:txBody>
      </p:sp>
      <p:sp>
        <p:nvSpPr>
          <p:cNvPr id="4" name="Text 1"/>
          <p:cNvSpPr>
            <a:spLocks noGrp="1"/>
          </p:cNvSpPr>
          <p:nvPr>
            <p:ph type="title"/>
          </p:nvPr>
        </p:nvSpPr>
        <p:spPr>
          <a:xfrm>
            <a:off x="812775" y="1102302"/>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THE LANGUAGE BECOMES SHARED CONTEXT.</a:t>
            </a:r>
            <a:endParaRPr lang="en-US" sz="3200" dirty="0"/>
          </a:p>
        </p:txBody>
      </p:sp>
      <p:sp>
        <p:nvSpPr>
          <p:cNvPr id="5" name="Shape 2"/>
          <p:cNvSpPr/>
          <p:nvPr/>
        </p:nvSpPr>
        <p:spPr>
          <a:xfrm>
            <a:off x="812775" y="1904975"/>
            <a:ext cx="3352776" cy="1650993"/>
          </a:xfrm>
          <a:prstGeom prst="roundRect">
            <a:avLst>
              <a:gd name="adj" fmla="val 6154"/>
            </a:avLst>
          </a:prstGeom>
          <a:solidFill>
            <a:srgbClr val="0B3042"/>
          </a:solidFill>
          <a:ln/>
        </p:spPr>
        <p:txBody>
          <a:bodyPr/>
          <a:lstStyle/>
          <a:p>
            <a:endParaRPr lang="en-US"/>
          </a:p>
        </p:txBody>
      </p:sp>
      <p:sp>
        <p:nvSpPr>
          <p:cNvPr id="6" name="Shape 3"/>
          <p:cNvSpPr/>
          <p:nvPr/>
        </p:nvSpPr>
        <p:spPr>
          <a:xfrm>
            <a:off x="812775" y="1904975"/>
            <a:ext cx="3352776" cy="1650993"/>
          </a:xfrm>
          <a:custGeom>
            <a:avLst/>
            <a:gdLst/>
            <a:ahLst/>
            <a:cxnLst/>
            <a:rect l="l" t="t" r="r" b="b"/>
            <a:pathLst>
              <a:path w="3352776" h="1650993">
                <a:moveTo>
                  <a:pt x="101600" y="1650993"/>
                </a:moveTo>
                <a:lnTo>
                  <a:pt x="101600" y="1650993"/>
                </a:lnTo>
                <a:arcTo wR="101600" hR="101600" stAng="5400000" swAng="5400000"/>
                <a:lnTo>
                  <a:pt x="0" y="101600"/>
                </a:lnTo>
                <a:arcTo wR="101600" hR="101600" stAng="10800000" swAng="5400000"/>
                <a:lnTo>
                  <a:pt x="101600" y="0"/>
                </a:lnTo>
                <a:arcTo wR="50800" hR="101600" stAng="16200000" swAng="-5400000"/>
                <a:lnTo>
                  <a:pt x="50800" y="1549393"/>
                </a:lnTo>
                <a:arcTo wR="50800" hR="101600" stAng="10800000" swAng="-5400000"/>
                <a:close/>
              </a:path>
            </a:pathLst>
          </a:custGeom>
          <a:solidFill>
            <a:srgbClr val="C9682C"/>
          </a:solidFill>
          <a:ln/>
        </p:spPr>
        <p:txBody>
          <a:bodyPr/>
          <a:lstStyle/>
          <a:p>
            <a:endParaRPr lang="en-US"/>
          </a:p>
        </p:txBody>
      </p:sp>
      <p:sp>
        <p:nvSpPr>
          <p:cNvPr id="7" name="Text 4"/>
          <p:cNvSpPr/>
          <p:nvPr/>
        </p:nvSpPr>
        <p:spPr>
          <a:xfrm>
            <a:off x="1066288" y="2082763"/>
            <a:ext cx="2982951"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FLOOD MONITORING</a:t>
            </a:r>
            <a:endParaRPr lang="en-US" sz="1100" dirty="0"/>
          </a:p>
        </p:txBody>
      </p:sp>
      <p:sp>
        <p:nvSpPr>
          <p:cNvPr id="8" name="Text 5"/>
          <p:cNvSpPr/>
          <p:nvPr/>
        </p:nvSpPr>
        <p:spPr>
          <a:xfrm>
            <a:off x="1066288" y="2341811"/>
            <a:ext cx="2982951" cy="330175"/>
          </a:xfrm>
          <a:prstGeom prst="rect">
            <a:avLst/>
          </a:prstGeom>
          <a:noFill/>
          <a:ln/>
        </p:spPr>
        <p:txBody>
          <a:bodyPr wrap="square" lIns="0" tIns="0" rIns="0" bIns="0" rtlCol="0" anchor="t">
            <a:normAutofit/>
          </a:bodyPr>
          <a:lstStyle/>
          <a:p>
            <a:pPr marL="0" indent="0" algn="l">
              <a:lnSpc>
                <a:spcPts val="2400"/>
              </a:lnSpc>
              <a:buNone/>
            </a:pPr>
            <a:r>
              <a:rPr lang="en-US" sz="2000" kern="0" spc="100" dirty="0">
                <a:solidFill>
                  <a:srgbClr val="C9682C"/>
                </a:solidFill>
                <a:latin typeface="Oswald" pitchFamily="34" charset="0"/>
                <a:ea typeface="Oswald" pitchFamily="34" charset="-122"/>
                <a:cs typeface="Oswald" pitchFamily="34" charset="-120"/>
              </a:rPr>
              <a:t>INTENT</a:t>
            </a:r>
            <a:endParaRPr lang="en-US" sz="2000" dirty="0"/>
          </a:p>
        </p:txBody>
      </p:sp>
      <p:sp>
        <p:nvSpPr>
          <p:cNvPr id="9" name="Text 6"/>
          <p:cNvSpPr/>
          <p:nvPr/>
        </p:nvSpPr>
        <p:spPr>
          <a:xfrm>
            <a:off x="1066288" y="2710086"/>
            <a:ext cx="2982951" cy="4521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What a forecast is for decided what the code had to preserve.</a:t>
            </a:r>
            <a:endParaRPr lang="en-US" sz="1200" dirty="0"/>
          </a:p>
        </p:txBody>
      </p:sp>
      <p:sp>
        <p:nvSpPr>
          <p:cNvPr id="10" name="Shape 7"/>
          <p:cNvSpPr/>
          <p:nvPr/>
        </p:nvSpPr>
        <p:spPr>
          <a:xfrm>
            <a:off x="4419598" y="1904975"/>
            <a:ext cx="3352776" cy="1650993"/>
          </a:xfrm>
          <a:prstGeom prst="roundRect">
            <a:avLst>
              <a:gd name="adj" fmla="val 6154"/>
            </a:avLst>
          </a:prstGeom>
          <a:solidFill>
            <a:srgbClr val="0B3042"/>
          </a:solidFill>
          <a:ln/>
        </p:spPr>
        <p:txBody>
          <a:bodyPr/>
          <a:lstStyle/>
          <a:p>
            <a:endParaRPr lang="en-US"/>
          </a:p>
        </p:txBody>
      </p:sp>
      <p:sp>
        <p:nvSpPr>
          <p:cNvPr id="11" name="Shape 8"/>
          <p:cNvSpPr/>
          <p:nvPr/>
        </p:nvSpPr>
        <p:spPr>
          <a:xfrm>
            <a:off x="4419598" y="1904975"/>
            <a:ext cx="3352776" cy="1650993"/>
          </a:xfrm>
          <a:custGeom>
            <a:avLst/>
            <a:gdLst/>
            <a:ahLst/>
            <a:cxnLst/>
            <a:rect l="l" t="t" r="r" b="b"/>
            <a:pathLst>
              <a:path w="3352776" h="1650993">
                <a:moveTo>
                  <a:pt x="101600" y="1650993"/>
                </a:moveTo>
                <a:lnTo>
                  <a:pt x="101600" y="1650993"/>
                </a:lnTo>
                <a:arcTo wR="101600" hR="101600" stAng="5400000" swAng="5400000"/>
                <a:lnTo>
                  <a:pt x="0" y="101600"/>
                </a:lnTo>
                <a:arcTo wR="101600" hR="101600" stAng="10800000" swAng="5400000"/>
                <a:lnTo>
                  <a:pt x="101600" y="0"/>
                </a:lnTo>
                <a:arcTo wR="50800" hR="101600" stAng="16200000" swAng="-5400000"/>
                <a:lnTo>
                  <a:pt x="50800" y="1549393"/>
                </a:lnTo>
                <a:arcTo wR="50800" hR="101600" stAng="10800000" swAng="-5400000"/>
                <a:close/>
              </a:path>
            </a:pathLst>
          </a:custGeom>
          <a:solidFill>
            <a:srgbClr val="C9682C"/>
          </a:solidFill>
          <a:ln/>
        </p:spPr>
        <p:txBody>
          <a:bodyPr/>
          <a:lstStyle/>
          <a:p>
            <a:endParaRPr lang="en-US"/>
          </a:p>
        </p:txBody>
      </p:sp>
      <p:sp>
        <p:nvSpPr>
          <p:cNvPr id="12" name="Text 9"/>
          <p:cNvSpPr/>
          <p:nvPr/>
        </p:nvSpPr>
        <p:spPr>
          <a:xfrm>
            <a:off x="4673110" y="2082763"/>
            <a:ext cx="2982951"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OIL &amp; GAS</a:t>
            </a:r>
            <a:endParaRPr lang="en-US" sz="1100" dirty="0"/>
          </a:p>
        </p:txBody>
      </p:sp>
      <p:sp>
        <p:nvSpPr>
          <p:cNvPr id="13" name="Text 10"/>
          <p:cNvSpPr/>
          <p:nvPr/>
        </p:nvSpPr>
        <p:spPr>
          <a:xfrm>
            <a:off x="4673110" y="2341811"/>
            <a:ext cx="2982951" cy="330175"/>
          </a:xfrm>
          <a:prstGeom prst="rect">
            <a:avLst/>
          </a:prstGeom>
          <a:noFill/>
          <a:ln/>
        </p:spPr>
        <p:txBody>
          <a:bodyPr wrap="square" lIns="0" tIns="0" rIns="0" bIns="0" rtlCol="0" anchor="t">
            <a:normAutofit/>
          </a:bodyPr>
          <a:lstStyle/>
          <a:p>
            <a:pPr marL="0" indent="0" algn="l">
              <a:lnSpc>
                <a:spcPts val="2400"/>
              </a:lnSpc>
              <a:buNone/>
            </a:pPr>
            <a:r>
              <a:rPr lang="en-US" sz="2000" kern="0" spc="100" dirty="0">
                <a:solidFill>
                  <a:srgbClr val="C9682C"/>
                </a:solidFill>
                <a:latin typeface="Oswald" pitchFamily="34" charset="0"/>
                <a:ea typeface="Oswald" pitchFamily="34" charset="-122"/>
                <a:cs typeface="Oswald" pitchFamily="34" charset="-120"/>
              </a:rPr>
              <a:t>HISTORY</a:t>
            </a:r>
            <a:endParaRPr lang="en-US" sz="2000" dirty="0"/>
          </a:p>
        </p:txBody>
      </p:sp>
      <p:sp>
        <p:nvSpPr>
          <p:cNvPr id="14" name="Text 11"/>
          <p:cNvSpPr/>
          <p:nvPr/>
        </p:nvSpPr>
        <p:spPr>
          <a:xfrm>
            <a:off x="4673110" y="2710086"/>
            <a:ext cx="2982951" cy="23875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The lineage was part of the answer.</a:t>
            </a:r>
            <a:endParaRPr lang="en-US" sz="1200" dirty="0"/>
          </a:p>
        </p:txBody>
      </p:sp>
      <p:sp>
        <p:nvSpPr>
          <p:cNvPr id="15" name="Shape 12"/>
          <p:cNvSpPr/>
          <p:nvPr/>
        </p:nvSpPr>
        <p:spPr>
          <a:xfrm>
            <a:off x="8026389" y="1904975"/>
            <a:ext cx="3352776" cy="1650993"/>
          </a:xfrm>
          <a:prstGeom prst="roundRect">
            <a:avLst>
              <a:gd name="adj" fmla="val 6154"/>
            </a:avLst>
          </a:prstGeom>
          <a:solidFill>
            <a:srgbClr val="0B3042"/>
          </a:solidFill>
          <a:ln/>
        </p:spPr>
        <p:txBody>
          <a:bodyPr/>
          <a:lstStyle/>
          <a:p>
            <a:endParaRPr lang="en-US"/>
          </a:p>
        </p:txBody>
      </p:sp>
      <p:sp>
        <p:nvSpPr>
          <p:cNvPr id="16" name="Shape 13"/>
          <p:cNvSpPr/>
          <p:nvPr/>
        </p:nvSpPr>
        <p:spPr>
          <a:xfrm>
            <a:off x="8026389" y="1904975"/>
            <a:ext cx="3352776" cy="1650993"/>
          </a:xfrm>
          <a:custGeom>
            <a:avLst/>
            <a:gdLst/>
            <a:ahLst/>
            <a:cxnLst/>
            <a:rect l="l" t="t" r="r" b="b"/>
            <a:pathLst>
              <a:path w="3352776" h="1650993">
                <a:moveTo>
                  <a:pt x="101600" y="1650993"/>
                </a:moveTo>
                <a:lnTo>
                  <a:pt x="101600" y="1650993"/>
                </a:lnTo>
                <a:arcTo wR="101600" hR="101600" stAng="5400000" swAng="5400000"/>
                <a:lnTo>
                  <a:pt x="0" y="101600"/>
                </a:lnTo>
                <a:arcTo wR="101600" hR="101600" stAng="10800000" swAng="5400000"/>
                <a:lnTo>
                  <a:pt x="101600" y="0"/>
                </a:lnTo>
                <a:arcTo wR="50800" hR="101600" stAng="16200000" swAng="-5400000"/>
                <a:lnTo>
                  <a:pt x="50800" y="1549393"/>
                </a:lnTo>
                <a:arcTo wR="50800" hR="101600" stAng="10800000" swAng="-5400000"/>
                <a:close/>
              </a:path>
            </a:pathLst>
          </a:custGeom>
          <a:solidFill>
            <a:srgbClr val="C9682C"/>
          </a:solidFill>
          <a:ln/>
        </p:spPr>
        <p:txBody>
          <a:bodyPr/>
          <a:lstStyle/>
          <a:p>
            <a:endParaRPr lang="en-US"/>
          </a:p>
        </p:txBody>
      </p:sp>
      <p:sp>
        <p:nvSpPr>
          <p:cNvPr id="17" name="Text 14"/>
          <p:cNvSpPr/>
          <p:nvPr/>
        </p:nvSpPr>
        <p:spPr>
          <a:xfrm>
            <a:off x="8279902" y="2082763"/>
            <a:ext cx="2982951"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HIGHER EDUCATION</a:t>
            </a:r>
            <a:endParaRPr lang="en-US" sz="1100" dirty="0"/>
          </a:p>
        </p:txBody>
      </p:sp>
      <p:sp>
        <p:nvSpPr>
          <p:cNvPr id="18" name="Text 15"/>
          <p:cNvSpPr/>
          <p:nvPr/>
        </p:nvSpPr>
        <p:spPr>
          <a:xfrm>
            <a:off x="8279902" y="2341811"/>
            <a:ext cx="2982951" cy="330175"/>
          </a:xfrm>
          <a:prstGeom prst="rect">
            <a:avLst/>
          </a:prstGeom>
          <a:noFill/>
          <a:ln/>
        </p:spPr>
        <p:txBody>
          <a:bodyPr wrap="square" lIns="0" tIns="0" rIns="0" bIns="0" rtlCol="0" anchor="t">
            <a:normAutofit/>
          </a:bodyPr>
          <a:lstStyle/>
          <a:p>
            <a:pPr marL="0" indent="0" algn="l">
              <a:lnSpc>
                <a:spcPts val="2400"/>
              </a:lnSpc>
              <a:buNone/>
            </a:pPr>
            <a:r>
              <a:rPr lang="en-US" sz="2000" kern="0" spc="100" dirty="0">
                <a:solidFill>
                  <a:srgbClr val="C9682C"/>
                </a:solidFill>
                <a:latin typeface="Oswald" pitchFamily="34" charset="0"/>
                <a:ea typeface="Oswald" pitchFamily="34" charset="-122"/>
                <a:cs typeface="Oswald" pitchFamily="34" charset="-120"/>
              </a:rPr>
              <a:t>OUTCOMES</a:t>
            </a:r>
            <a:endParaRPr lang="en-US" sz="2000" dirty="0"/>
          </a:p>
        </p:txBody>
      </p:sp>
      <p:sp>
        <p:nvSpPr>
          <p:cNvPr id="19" name="Text 16"/>
          <p:cNvSpPr/>
          <p:nvPr/>
        </p:nvSpPr>
        <p:spPr>
          <a:xfrm>
            <a:off x="8279902" y="2710086"/>
            <a:ext cx="2982951" cy="4521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Another domain, another ontology. Same method.</a:t>
            </a:r>
            <a:endParaRPr lang="en-US" sz="1200" dirty="0"/>
          </a:p>
        </p:txBody>
      </p:sp>
      <p:sp>
        <p:nvSpPr>
          <p:cNvPr id="20" name="Shape 17"/>
          <p:cNvSpPr/>
          <p:nvPr/>
        </p:nvSpPr>
        <p:spPr>
          <a:xfrm>
            <a:off x="812775" y="3828107"/>
            <a:ext cx="3239118" cy="871113"/>
          </a:xfrm>
          <a:custGeom>
            <a:avLst/>
            <a:gdLst/>
            <a:ahLst/>
            <a:cxnLst/>
            <a:rect l="l" t="t" r="r" b="b"/>
            <a:pathLst>
              <a:path w="3239118" h="871113">
                <a:moveTo>
                  <a:pt x="101600" y="0"/>
                </a:moveTo>
                <a:lnTo>
                  <a:pt x="3239118" y="0"/>
                </a:lnTo>
                <a:lnTo>
                  <a:pt x="3239118" y="871113"/>
                </a:lnTo>
                <a:lnTo>
                  <a:pt x="101600" y="871113"/>
                </a:lnTo>
                <a:arcTo wR="101600" hR="101600" stAng="5400000" swAng="5400000"/>
                <a:lnTo>
                  <a:pt x="0" y="101600"/>
                </a:lnTo>
                <a:arcTo wR="101600" hR="101600" stAng="10800000" swAng="5400000"/>
                <a:close/>
              </a:path>
            </a:pathLst>
          </a:custGeom>
          <a:solidFill>
            <a:srgbClr val="0F1F2A"/>
          </a:solidFill>
          <a:ln/>
        </p:spPr>
        <p:txBody>
          <a:bodyPr/>
          <a:lstStyle/>
          <a:p>
            <a:endParaRPr lang="en-US"/>
          </a:p>
        </p:txBody>
      </p:sp>
      <p:sp>
        <p:nvSpPr>
          <p:cNvPr id="21" name="Text 18"/>
          <p:cNvSpPr/>
          <p:nvPr/>
        </p:nvSpPr>
        <p:spPr>
          <a:xfrm>
            <a:off x="1601605" y="3980470"/>
            <a:ext cx="1661427" cy="220952"/>
          </a:xfrm>
          <a:prstGeom prst="rect">
            <a:avLst/>
          </a:prstGeom>
          <a:noFill/>
          <a:ln/>
        </p:spPr>
        <p:txBody>
          <a:bodyPr wrap="square" lIns="0" tIns="0" rIns="0" bIns="0" rtlCol="0" anchor="t">
            <a:normAutofit/>
          </a:bodyPr>
          <a:lstStyle/>
          <a:p>
            <a:pPr marL="0" indent="0" algn="ctr">
              <a:lnSpc>
                <a:spcPts val="1540"/>
              </a:lnSpc>
              <a:buNone/>
            </a:pPr>
            <a:r>
              <a:rPr lang="en-US" sz="1100" kern="0" spc="150" dirty="0">
                <a:solidFill>
                  <a:srgbClr val="6E8597"/>
                </a:solidFill>
                <a:latin typeface="Oswald" pitchFamily="34" charset="0"/>
                <a:ea typeface="Oswald" pitchFamily="34" charset="-122"/>
                <a:cs typeface="Oswald" pitchFamily="34" charset="-120"/>
              </a:rPr>
              <a:t>CRAYONS AND GLUE</a:t>
            </a:r>
            <a:endParaRPr lang="en-US" sz="1100" dirty="0"/>
          </a:p>
        </p:txBody>
      </p:sp>
      <p:sp>
        <p:nvSpPr>
          <p:cNvPr id="22" name="Text 19"/>
          <p:cNvSpPr/>
          <p:nvPr/>
        </p:nvSpPr>
        <p:spPr>
          <a:xfrm>
            <a:off x="1127375" y="4226818"/>
            <a:ext cx="2609887" cy="345428"/>
          </a:xfrm>
          <a:prstGeom prst="rect">
            <a:avLst/>
          </a:prstGeom>
          <a:noFill/>
          <a:ln/>
        </p:spPr>
        <p:txBody>
          <a:bodyPr wrap="square" lIns="0" tIns="0" rIns="0" bIns="0" rtlCol="0" anchor="t">
            <a:normAutofit/>
          </a:bodyPr>
          <a:lstStyle/>
          <a:p>
            <a:pPr marL="0" indent="0" algn="ctr">
              <a:lnSpc>
                <a:spcPts val="2520"/>
              </a:lnSpc>
              <a:buNone/>
            </a:pPr>
            <a:r>
              <a:rPr lang="en-US" sz="1800" kern="0" spc="100" dirty="0">
                <a:solidFill>
                  <a:srgbClr val="E8EEF4"/>
                </a:solidFill>
                <a:latin typeface="Oswald" pitchFamily="34" charset="0"/>
                <a:ea typeface="Oswald" pitchFamily="34" charset="-122"/>
                <a:cs typeface="Oswald" pitchFamily="34" charset="-120"/>
              </a:rPr>
              <a:t>LEARN THE LANGUAGE</a:t>
            </a:r>
            <a:endParaRPr lang="en-US" sz="1800" dirty="0"/>
          </a:p>
        </p:txBody>
      </p:sp>
      <p:pic>
        <p:nvPicPr>
          <p:cNvPr id="23" name="Image 1" descr="arrow-right"/>
          <p:cNvPicPr>
            <a:picLocks noChangeAspect="1"/>
          </p:cNvPicPr>
          <p:nvPr/>
        </p:nvPicPr>
        <p:blipFill>
          <a:blip r:embed="rId4"/>
          <a:srcRect/>
          <a:stretch/>
        </p:blipFill>
        <p:spPr>
          <a:xfrm>
            <a:off x="4051893" y="4162065"/>
            <a:ext cx="406388" cy="203194"/>
          </a:xfrm>
          <a:prstGeom prst="rect">
            <a:avLst/>
          </a:prstGeom>
        </p:spPr>
      </p:pic>
      <p:sp>
        <p:nvSpPr>
          <p:cNvPr id="24" name="Shape 20"/>
          <p:cNvSpPr/>
          <p:nvPr/>
        </p:nvSpPr>
        <p:spPr>
          <a:xfrm>
            <a:off x="4458281" y="3828107"/>
            <a:ext cx="3239150" cy="871113"/>
          </a:xfrm>
          <a:prstGeom prst="rect">
            <a:avLst/>
          </a:prstGeom>
          <a:solidFill>
            <a:srgbClr val="0F1F2A"/>
          </a:solidFill>
          <a:ln/>
        </p:spPr>
        <p:txBody>
          <a:bodyPr/>
          <a:lstStyle/>
          <a:p>
            <a:endParaRPr lang="en-US"/>
          </a:p>
        </p:txBody>
      </p:sp>
      <p:sp>
        <p:nvSpPr>
          <p:cNvPr id="25" name="Text 21"/>
          <p:cNvSpPr/>
          <p:nvPr/>
        </p:nvSpPr>
        <p:spPr>
          <a:xfrm>
            <a:off x="5642575" y="3980470"/>
            <a:ext cx="870528" cy="220952"/>
          </a:xfrm>
          <a:prstGeom prst="rect">
            <a:avLst/>
          </a:prstGeom>
          <a:noFill/>
          <a:ln/>
        </p:spPr>
        <p:txBody>
          <a:bodyPr wrap="square" lIns="0" tIns="0" rIns="0" bIns="0" rtlCol="0" anchor="t">
            <a:normAutofit/>
          </a:bodyPr>
          <a:lstStyle/>
          <a:p>
            <a:pPr marL="0" indent="0" algn="ctr">
              <a:lnSpc>
                <a:spcPts val="1540"/>
              </a:lnSpc>
              <a:buNone/>
            </a:pPr>
            <a:r>
              <a:rPr lang="en-US" sz="1100" kern="0" spc="150" dirty="0">
                <a:solidFill>
                  <a:srgbClr val="6E8597"/>
                </a:solidFill>
                <a:latin typeface="Oswald" pitchFamily="34" charset="0"/>
                <a:ea typeface="Oswald" pitchFamily="34" charset="-122"/>
                <a:cs typeface="Oswald" pitchFamily="34" charset="-120"/>
              </a:rPr>
              <a:t>ONTOLOGY</a:t>
            </a:r>
            <a:endParaRPr lang="en-US" sz="1100" dirty="0"/>
          </a:p>
        </p:txBody>
      </p:sp>
      <p:sp>
        <p:nvSpPr>
          <p:cNvPr id="26" name="Text 22"/>
          <p:cNvSpPr/>
          <p:nvPr/>
        </p:nvSpPr>
        <p:spPr>
          <a:xfrm>
            <a:off x="5159323" y="4226818"/>
            <a:ext cx="1837065" cy="345428"/>
          </a:xfrm>
          <a:prstGeom prst="rect">
            <a:avLst/>
          </a:prstGeom>
          <a:noFill/>
          <a:ln/>
        </p:spPr>
        <p:txBody>
          <a:bodyPr wrap="square" lIns="0" tIns="0" rIns="0" bIns="0" rtlCol="0" anchor="t">
            <a:normAutofit/>
          </a:bodyPr>
          <a:lstStyle/>
          <a:p>
            <a:pPr marL="0" indent="0" algn="ctr">
              <a:lnSpc>
                <a:spcPts val="2520"/>
              </a:lnSpc>
              <a:buNone/>
            </a:pPr>
            <a:r>
              <a:rPr lang="en-US" sz="1800" kern="0" spc="100" dirty="0">
                <a:solidFill>
                  <a:srgbClr val="E8EEF4"/>
                </a:solidFill>
                <a:latin typeface="Oswald" pitchFamily="34" charset="0"/>
                <a:ea typeface="Oswald" pitchFamily="34" charset="-122"/>
                <a:cs typeface="Oswald" pitchFamily="34" charset="-120"/>
              </a:rPr>
              <a:t>WRITE IT DOWN</a:t>
            </a:r>
            <a:endParaRPr lang="en-US" sz="1800" dirty="0"/>
          </a:p>
        </p:txBody>
      </p:sp>
      <p:pic>
        <p:nvPicPr>
          <p:cNvPr id="27" name="Image 2" descr="arrow-right"/>
          <p:cNvPicPr>
            <a:picLocks noChangeAspect="1"/>
          </p:cNvPicPr>
          <p:nvPr/>
        </p:nvPicPr>
        <p:blipFill>
          <a:blip r:embed="rId4"/>
          <a:srcRect/>
          <a:stretch/>
        </p:blipFill>
        <p:spPr>
          <a:xfrm>
            <a:off x="7697430" y="4162065"/>
            <a:ext cx="406388" cy="203194"/>
          </a:xfrm>
          <a:prstGeom prst="rect">
            <a:avLst/>
          </a:prstGeom>
        </p:spPr>
      </p:pic>
      <p:sp>
        <p:nvSpPr>
          <p:cNvPr id="28" name="Shape 23"/>
          <p:cNvSpPr/>
          <p:nvPr/>
        </p:nvSpPr>
        <p:spPr>
          <a:xfrm>
            <a:off x="8113343" y="3819513"/>
            <a:ext cx="3256298" cy="888293"/>
          </a:xfrm>
          <a:custGeom>
            <a:avLst/>
            <a:gdLst/>
            <a:ahLst/>
            <a:cxnLst/>
            <a:rect l="l" t="t" r="r" b="b"/>
            <a:pathLst>
              <a:path w="3256298" h="888293">
                <a:moveTo>
                  <a:pt x="0" y="0"/>
                </a:moveTo>
                <a:lnTo>
                  <a:pt x="3164223" y="0"/>
                </a:lnTo>
                <a:arcTo wR="92075" hR="92075" stAng="16200000" swAng="5400000"/>
                <a:lnTo>
                  <a:pt x="3256298" y="796218"/>
                </a:lnTo>
                <a:arcTo wR="92075" hR="92075" stAng="0" swAng="5400000"/>
                <a:lnTo>
                  <a:pt x="0" y="888293"/>
                </a:lnTo>
                <a:lnTo>
                  <a:pt x="0" y="0"/>
                </a:lnTo>
                <a:close/>
              </a:path>
            </a:pathLst>
          </a:custGeom>
          <a:solidFill>
            <a:srgbClr val="0F1F2A"/>
          </a:solidFill>
          <a:ln w="19050">
            <a:solidFill>
              <a:srgbClr val="C9682C"/>
            </a:solidFill>
            <a:prstDash val="solid"/>
          </a:ln>
        </p:spPr>
        <p:txBody>
          <a:bodyPr/>
          <a:lstStyle/>
          <a:p>
            <a:endParaRPr lang="en-US"/>
          </a:p>
        </p:txBody>
      </p:sp>
      <p:sp>
        <p:nvSpPr>
          <p:cNvPr id="29" name="Text 24"/>
          <p:cNvSpPr/>
          <p:nvPr/>
        </p:nvSpPr>
        <p:spPr>
          <a:xfrm>
            <a:off x="9672802" y="3980470"/>
            <a:ext cx="137348" cy="220952"/>
          </a:xfrm>
          <a:prstGeom prst="rect">
            <a:avLst/>
          </a:prstGeom>
          <a:noFill/>
          <a:ln/>
        </p:spPr>
        <p:txBody>
          <a:bodyPr wrap="square" lIns="0" tIns="0" rIns="0" bIns="0" rtlCol="0" anchor="t">
            <a:normAutofit/>
          </a:bodyPr>
          <a:lstStyle/>
          <a:p>
            <a:pPr marL="0" indent="0" algn="ctr">
              <a:lnSpc>
                <a:spcPts val="1540"/>
              </a:lnSpc>
              <a:buNone/>
            </a:pPr>
            <a:r>
              <a:rPr lang="en-US" sz="1100" kern="0" spc="150" dirty="0">
                <a:solidFill>
                  <a:srgbClr val="6E8597"/>
                </a:solidFill>
                <a:latin typeface="Oswald" pitchFamily="34" charset="0"/>
                <a:ea typeface="Oswald" pitchFamily="34" charset="-122"/>
                <a:cs typeface="Oswald" pitchFamily="34" charset="-120"/>
              </a:rPr>
              <a:t>?</a:t>
            </a:r>
            <a:endParaRPr lang="en-US" sz="1100" dirty="0"/>
          </a:p>
        </p:txBody>
      </p:sp>
      <p:sp>
        <p:nvSpPr>
          <p:cNvPr id="30" name="Text 25"/>
          <p:cNvSpPr/>
          <p:nvPr/>
        </p:nvSpPr>
        <p:spPr>
          <a:xfrm>
            <a:off x="8370225" y="4226818"/>
            <a:ext cx="2742503" cy="345428"/>
          </a:xfrm>
          <a:prstGeom prst="rect">
            <a:avLst/>
          </a:prstGeom>
          <a:noFill/>
          <a:ln/>
        </p:spPr>
        <p:txBody>
          <a:bodyPr wrap="square" lIns="0" tIns="0" rIns="0" bIns="0" rtlCol="0" anchor="t">
            <a:normAutofit/>
          </a:bodyPr>
          <a:lstStyle/>
          <a:p>
            <a:pPr marL="0" indent="0" algn="ctr">
              <a:lnSpc>
                <a:spcPts val="2520"/>
              </a:lnSpc>
              <a:buNone/>
            </a:pPr>
            <a:r>
              <a:rPr lang="en-US" sz="1800" kern="0" spc="100" dirty="0">
                <a:solidFill>
                  <a:srgbClr val="C9682C"/>
                </a:solidFill>
                <a:latin typeface="Oswald" pitchFamily="34" charset="0"/>
                <a:ea typeface="Oswald" pitchFamily="34" charset="-122"/>
                <a:cs typeface="Oswald" pitchFamily="34" charset="-120"/>
              </a:rPr>
              <a:t>HOLD THE MODEL TO IT</a:t>
            </a:r>
            <a:endParaRPr lang="en-US" sz="1800" dirty="0"/>
          </a:p>
        </p:txBody>
      </p:sp>
      <p:sp>
        <p:nvSpPr>
          <p:cNvPr id="31" name="Text 26"/>
          <p:cNvSpPr/>
          <p:nvPr/>
        </p:nvSpPr>
        <p:spPr>
          <a:xfrm>
            <a:off x="812775" y="5079975"/>
            <a:ext cx="10883382" cy="309859"/>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3042"/>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75"/>
            <a:ext cx="1396977" cy="609581"/>
          </a:xfrm>
          <a:prstGeom prst="rect">
            <a:avLst/>
          </a:prstGeom>
        </p:spPr>
      </p:pic>
      <p:sp>
        <p:nvSpPr>
          <p:cNvPr id="3" name="Text 0"/>
          <p:cNvSpPr/>
          <p:nvPr/>
        </p:nvSpPr>
        <p:spPr>
          <a:xfrm>
            <a:off x="812775" y="812775"/>
            <a:ext cx="10883414" cy="274321"/>
          </a:xfrm>
          <a:prstGeom prst="rect">
            <a:avLst/>
          </a:prstGeom>
          <a:noFill/>
          <a:ln/>
        </p:spPr>
        <p:txBody>
          <a:bodyPr wrap="square" lIns="0" tIns="0" rIns="0" bIns="0" rtlCol="0" anchor="t">
            <a:normAutofit/>
          </a:bodyPr>
          <a:lstStyle/>
          <a:p>
            <a:pPr marL="0" indent="0" algn="l">
              <a:lnSpc>
                <a:spcPts val="1960"/>
              </a:lnSpc>
              <a:buNone/>
            </a:pPr>
            <a:r>
              <a:rPr lang="en-US" sz="1400" kern="0" spc="400" dirty="0">
                <a:solidFill>
                  <a:srgbClr val="C9682C"/>
                </a:solidFill>
                <a:latin typeface="Oswald" pitchFamily="34" charset="0"/>
                <a:ea typeface="Oswald" pitchFamily="34" charset="-122"/>
                <a:cs typeface="Oswald" pitchFamily="34" charset="-120"/>
              </a:rPr>
              <a:t>STEP 3 OF 3</a:t>
            </a:r>
            <a:endParaRPr lang="en-US" sz="1400" dirty="0"/>
          </a:p>
        </p:txBody>
      </p:sp>
      <p:sp>
        <p:nvSpPr>
          <p:cNvPr id="4" name="Text 1"/>
          <p:cNvSpPr>
            <a:spLocks noGrp="1"/>
          </p:cNvSpPr>
          <p:nvPr>
            <p:ph type="title"/>
          </p:nvPr>
        </p:nvSpPr>
        <p:spPr>
          <a:xfrm>
            <a:off x="812775" y="1239478"/>
            <a:ext cx="10883414" cy="1447788"/>
          </a:xfrm>
          <a:prstGeom prst="rect">
            <a:avLst/>
          </a:prstGeom>
          <a:noFill/>
          <a:ln/>
        </p:spPr>
        <p:txBody>
          <a:bodyPr wrap="square" lIns="0" tIns="0" rIns="0" bIns="0" rtlCol="0" anchor="t">
            <a:normAutofit/>
          </a:bodyPr>
          <a:lstStyle/>
          <a:p>
            <a:pPr marL="0" indent="0" algn="l">
              <a:lnSpc>
                <a:spcPts val="5600"/>
              </a:lnSpc>
              <a:buNone/>
            </a:pPr>
            <a:r>
              <a:rPr lang="en-US" sz="5600" b="1" i="0" dirty="0">
                <a:solidFill>
                  <a:srgbClr val="E8EEF4"/>
                </a:solidFill>
                <a:latin typeface="Oswald" pitchFamily="34" charset="0"/>
                <a:ea typeface="Oswald" pitchFamily="34" charset="-122"/>
                <a:cs typeface="Oswald" pitchFamily="34" charset="-120"/>
              </a:rPr>
              <a:t>HOLD THE MODEL</a:t>
            </a:r>
            <a:endParaRPr lang="en-US" sz="5600" dirty="0"/>
          </a:p>
          <a:p>
            <a:pPr marL="0" indent="0" algn="l">
              <a:lnSpc>
                <a:spcPts val="5600"/>
              </a:lnSpc>
              <a:buNone/>
            </a:pPr>
            <a:r>
              <a:rPr lang="en-US" sz="5600" b="1" i="0" dirty="0">
                <a:solidFill>
                  <a:srgbClr val="E8EEF4"/>
                </a:solidFill>
                <a:latin typeface="Oswald" pitchFamily="34" charset="0"/>
                <a:ea typeface="Oswald" pitchFamily="34" charset="-122"/>
                <a:cs typeface="Oswald" pitchFamily="34" charset="-120"/>
              </a:rPr>
              <a:t>TO IT.</a:t>
            </a:r>
            <a:endParaRPr lang="en-US" sz="5600" dirty="0"/>
          </a:p>
        </p:txBody>
      </p:sp>
      <p:sp>
        <p:nvSpPr>
          <p:cNvPr id="5" name="Text 2"/>
          <p:cNvSpPr/>
          <p:nvPr/>
        </p:nvSpPr>
        <p:spPr>
          <a:xfrm>
            <a:off x="812775" y="2839641"/>
            <a:ext cx="10883414" cy="665456"/>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8C7D3"/>
                </a:solidFill>
                <a:latin typeface="Inter" pitchFamily="34" charset="0"/>
                <a:ea typeface="Inter" pitchFamily="34" charset="-122"/>
                <a:cs typeface="Inter" pitchFamily="34" charset="-120"/>
              </a:rPr>
              <a:t>Turn written rules into checks the model can’t skip.</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8"/>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MECHANICAL GATES</a:t>
            </a:r>
            <a:endParaRPr lang="en-US" sz="1200" dirty="0"/>
          </a:p>
        </p:txBody>
      </p:sp>
      <p:sp>
        <p:nvSpPr>
          <p:cNvPr id="4" name="Text 1"/>
          <p:cNvSpPr>
            <a:spLocks noGrp="1"/>
          </p:cNvSpPr>
          <p:nvPr>
            <p:ph type="title"/>
          </p:nvPr>
        </p:nvSpPr>
        <p:spPr>
          <a:xfrm>
            <a:off x="812775" y="1102296"/>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EVEN THE SMARTEST PEOPLE MAKE MISTAKES.</a:t>
            </a:r>
            <a:endParaRPr lang="en-US" sz="2800" dirty="0"/>
          </a:p>
        </p:txBody>
      </p:sp>
      <p:pic>
        <p:nvPicPr>
          <p:cNvPr id="5" name="Image 1" descr="Lockout/tagout: a padlock and warning tag fixed to an electrical disconnect"/>
          <p:cNvPicPr>
            <a:picLocks noChangeAspect="1"/>
          </p:cNvPicPr>
          <p:nvPr/>
        </p:nvPicPr>
        <p:blipFill>
          <a:blip r:embed="rId4"/>
          <a:srcRect t="180" b="180"/>
          <a:stretch/>
        </p:blipFill>
        <p:spPr>
          <a:xfrm>
            <a:off x="831825" y="1924025"/>
            <a:ext cx="5295886" cy="3517869"/>
          </a:xfrm>
          <a:prstGeom prst="roundRect">
            <a:avLst>
              <a:gd name="adj" fmla="val 2347"/>
            </a:avLst>
          </a:prstGeom>
        </p:spPr>
      </p:pic>
      <p:sp>
        <p:nvSpPr>
          <p:cNvPr id="6" name="Shape 2"/>
          <p:cNvSpPr/>
          <p:nvPr/>
        </p:nvSpPr>
        <p:spPr>
          <a:xfrm>
            <a:off x="822300" y="1914500"/>
            <a:ext cx="5314936" cy="3536919"/>
          </a:xfrm>
          <a:prstGeom prst="roundRect">
            <a:avLst>
              <a:gd name="adj" fmla="val 2603"/>
            </a:avLst>
          </a:prstGeom>
          <a:noFill/>
          <a:ln w="19050">
            <a:solidFill>
              <a:srgbClr val="C9682C"/>
            </a:solidFill>
            <a:prstDash val="solid"/>
          </a:ln>
        </p:spPr>
        <p:txBody>
          <a:bodyPr/>
          <a:lstStyle/>
          <a:p>
            <a:endParaRPr lang="en-US"/>
          </a:p>
        </p:txBody>
      </p:sp>
      <p:sp>
        <p:nvSpPr>
          <p:cNvPr id="7" name="Shape 3"/>
          <p:cNvSpPr/>
          <p:nvPr/>
        </p:nvSpPr>
        <p:spPr>
          <a:xfrm>
            <a:off x="6502389" y="1904975"/>
            <a:ext cx="4876776" cy="1587497"/>
          </a:xfrm>
          <a:prstGeom prst="roundRect">
            <a:avLst>
              <a:gd name="adj" fmla="val 6400"/>
            </a:avLst>
          </a:prstGeom>
          <a:solidFill>
            <a:srgbClr val="0B3042"/>
          </a:solidFill>
          <a:ln/>
        </p:spPr>
        <p:txBody>
          <a:bodyPr/>
          <a:lstStyle/>
          <a:p>
            <a:endParaRPr lang="en-US"/>
          </a:p>
        </p:txBody>
      </p:sp>
      <p:sp>
        <p:nvSpPr>
          <p:cNvPr id="8" name="Shape 4"/>
          <p:cNvSpPr/>
          <p:nvPr/>
        </p:nvSpPr>
        <p:spPr>
          <a:xfrm>
            <a:off x="6502389" y="1904975"/>
            <a:ext cx="4876776" cy="1587497"/>
          </a:xfrm>
          <a:custGeom>
            <a:avLst/>
            <a:gdLst/>
            <a:ahLst/>
            <a:cxnLst/>
            <a:rect l="l" t="t" r="r" b="b"/>
            <a:pathLst>
              <a:path w="4876776" h="1587497">
                <a:moveTo>
                  <a:pt x="101600" y="1587497"/>
                </a:moveTo>
                <a:lnTo>
                  <a:pt x="101600" y="1587497"/>
                </a:lnTo>
                <a:arcTo wR="101600" hR="101600" stAng="5400000" swAng="5400000"/>
                <a:lnTo>
                  <a:pt x="0" y="101600"/>
                </a:lnTo>
                <a:arcTo wR="101600" hR="101600" stAng="10800000" swAng="5400000"/>
                <a:lnTo>
                  <a:pt x="101600" y="0"/>
                </a:lnTo>
                <a:arcTo wR="50800" hR="101600" stAng="16200000" swAng="-5400000"/>
                <a:lnTo>
                  <a:pt x="50800" y="1485897"/>
                </a:lnTo>
                <a:arcTo wR="50800" hR="101600" stAng="10800000" swAng="-5400000"/>
                <a:close/>
              </a:path>
            </a:pathLst>
          </a:custGeom>
          <a:solidFill>
            <a:srgbClr val="C9682C"/>
          </a:solidFill>
          <a:ln/>
        </p:spPr>
        <p:txBody>
          <a:bodyPr/>
          <a:lstStyle/>
          <a:p>
            <a:endParaRPr lang="en-US"/>
          </a:p>
        </p:txBody>
      </p:sp>
      <p:pic>
        <p:nvPicPr>
          <p:cNvPr id="9" name="Image 2" descr="Lock"/>
          <p:cNvPicPr>
            <a:picLocks noChangeAspect="1"/>
          </p:cNvPicPr>
          <p:nvPr/>
        </p:nvPicPr>
        <p:blipFill>
          <a:blip r:embed="rId5"/>
          <a:srcRect/>
          <a:stretch/>
        </p:blipFill>
        <p:spPr>
          <a:xfrm>
            <a:off x="6755902" y="2082763"/>
            <a:ext cx="279395" cy="279395"/>
          </a:xfrm>
          <a:prstGeom prst="rect">
            <a:avLst/>
          </a:prstGeom>
        </p:spPr>
      </p:pic>
      <p:sp>
        <p:nvSpPr>
          <p:cNvPr id="10" name="Text 5"/>
          <p:cNvSpPr/>
          <p:nvPr/>
        </p:nvSpPr>
        <p:spPr>
          <a:xfrm>
            <a:off x="6755902" y="2425650"/>
            <a:ext cx="4552672" cy="284479"/>
          </a:xfrm>
          <a:prstGeom prst="rect">
            <a:avLst/>
          </a:prstGeom>
          <a:noFill/>
          <a:ln/>
        </p:spPr>
        <p:txBody>
          <a:bodyPr wrap="square" lIns="0" tIns="0" rIns="0" bIns="0" rtlCol="0" anchor="t">
            <a:normAutofit/>
          </a:bodyPr>
          <a:lstStyle/>
          <a:p>
            <a:pPr marL="0" indent="0" algn="l">
              <a:lnSpc>
                <a:spcPts val="2040"/>
              </a:lnSpc>
              <a:buNone/>
            </a:pPr>
            <a:r>
              <a:rPr lang="en-US" sz="1700" kern="0" spc="100" dirty="0">
                <a:solidFill>
                  <a:srgbClr val="E8EEF4"/>
                </a:solidFill>
                <a:latin typeface="Oswald" pitchFamily="34" charset="0"/>
                <a:ea typeface="Oswald" pitchFamily="34" charset="-122"/>
                <a:cs typeface="Oswald" pitchFamily="34" charset="-120"/>
              </a:rPr>
              <a:t>LOCKOUT / TAGOUT</a:t>
            </a:r>
            <a:endParaRPr lang="en-US" sz="1700" dirty="0"/>
          </a:p>
        </p:txBody>
      </p:sp>
      <p:sp>
        <p:nvSpPr>
          <p:cNvPr id="11" name="Text 6"/>
          <p:cNvSpPr/>
          <p:nvPr/>
        </p:nvSpPr>
        <p:spPr>
          <a:xfrm>
            <a:off x="6755902" y="2748223"/>
            <a:ext cx="4552672" cy="4521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The tag says don’t operate it. The lock physically stops you. Different jobs.</a:t>
            </a:r>
            <a:endParaRPr lang="en-US" sz="1200" dirty="0"/>
          </a:p>
        </p:txBody>
      </p:sp>
      <p:sp>
        <p:nvSpPr>
          <p:cNvPr id="12" name="Shape 7"/>
          <p:cNvSpPr/>
          <p:nvPr/>
        </p:nvSpPr>
        <p:spPr>
          <a:xfrm>
            <a:off x="6502389" y="3682988"/>
            <a:ext cx="4876776" cy="1777985"/>
          </a:xfrm>
          <a:prstGeom prst="roundRect">
            <a:avLst>
              <a:gd name="adj" fmla="val 5714"/>
            </a:avLst>
          </a:prstGeom>
          <a:solidFill>
            <a:srgbClr val="0F1F2A"/>
          </a:solidFill>
          <a:ln/>
        </p:spPr>
        <p:txBody>
          <a:bodyPr/>
          <a:lstStyle/>
          <a:p>
            <a:endParaRPr lang="en-US"/>
          </a:p>
        </p:txBody>
      </p:sp>
      <p:sp>
        <p:nvSpPr>
          <p:cNvPr id="13" name="Shape 8"/>
          <p:cNvSpPr/>
          <p:nvPr/>
        </p:nvSpPr>
        <p:spPr>
          <a:xfrm>
            <a:off x="6502389" y="3682988"/>
            <a:ext cx="4876776" cy="1777985"/>
          </a:xfrm>
          <a:custGeom>
            <a:avLst/>
            <a:gdLst/>
            <a:ahLst/>
            <a:cxnLst/>
            <a:rect l="l" t="t" r="r" b="b"/>
            <a:pathLst>
              <a:path w="4876776" h="1777985">
                <a:moveTo>
                  <a:pt x="101600" y="1777985"/>
                </a:moveTo>
                <a:lnTo>
                  <a:pt x="101600" y="1777985"/>
                </a:lnTo>
                <a:arcTo wR="101600" hR="101600" stAng="5400000" swAng="5400000"/>
                <a:lnTo>
                  <a:pt x="0" y="101600"/>
                </a:lnTo>
                <a:arcTo wR="101600" hR="101600" stAng="10800000" swAng="5400000"/>
                <a:lnTo>
                  <a:pt x="101600" y="0"/>
                </a:lnTo>
                <a:arcTo wR="50800" hR="101600" stAng="16200000" swAng="-5400000"/>
                <a:lnTo>
                  <a:pt x="50800" y="1676385"/>
                </a:lnTo>
                <a:arcTo wR="50800" hR="101600" stAng="10800000" swAng="-5400000"/>
                <a:close/>
              </a:path>
            </a:pathLst>
          </a:custGeom>
          <a:solidFill>
            <a:srgbClr val="C9682C"/>
          </a:solidFill>
          <a:ln/>
        </p:spPr>
        <p:txBody>
          <a:bodyPr/>
          <a:lstStyle/>
          <a:p>
            <a:endParaRPr lang="en-US"/>
          </a:p>
        </p:txBody>
      </p:sp>
      <p:pic>
        <p:nvPicPr>
          <p:cNvPr id="14" name="Image 3" descr="Users"/>
          <p:cNvPicPr>
            <a:picLocks noChangeAspect="1"/>
          </p:cNvPicPr>
          <p:nvPr/>
        </p:nvPicPr>
        <p:blipFill>
          <a:blip r:embed="rId6"/>
          <a:srcRect/>
          <a:stretch/>
        </p:blipFill>
        <p:spPr>
          <a:xfrm>
            <a:off x="6755902" y="3860775"/>
            <a:ext cx="279395" cy="279395"/>
          </a:xfrm>
          <a:prstGeom prst="rect">
            <a:avLst/>
          </a:prstGeom>
        </p:spPr>
      </p:pic>
      <p:sp>
        <p:nvSpPr>
          <p:cNvPr id="15" name="Text 9"/>
          <p:cNvSpPr/>
          <p:nvPr/>
        </p:nvSpPr>
        <p:spPr>
          <a:xfrm>
            <a:off x="6755902" y="4203663"/>
            <a:ext cx="4552672" cy="284479"/>
          </a:xfrm>
          <a:prstGeom prst="rect">
            <a:avLst/>
          </a:prstGeom>
          <a:noFill/>
          <a:ln/>
        </p:spPr>
        <p:txBody>
          <a:bodyPr wrap="square" lIns="0" tIns="0" rIns="0" bIns="0" rtlCol="0" anchor="t">
            <a:normAutofit/>
          </a:bodyPr>
          <a:lstStyle/>
          <a:p>
            <a:pPr marL="0" indent="0" algn="l">
              <a:lnSpc>
                <a:spcPts val="2040"/>
              </a:lnSpc>
              <a:buNone/>
            </a:pPr>
            <a:r>
              <a:rPr lang="en-US" sz="1700" kern="0" spc="100" dirty="0">
                <a:solidFill>
                  <a:srgbClr val="E8EEF4"/>
                </a:solidFill>
                <a:latin typeface="Oswald" pitchFamily="34" charset="0"/>
                <a:ea typeface="Oswald" pitchFamily="34" charset="-122"/>
                <a:cs typeface="Oswald" pitchFamily="34" charset="-120"/>
              </a:rPr>
              <a:t>WHAT REPLACES THE CREW?</a:t>
            </a:r>
            <a:endParaRPr lang="en-US" sz="1700" dirty="0"/>
          </a:p>
        </p:txBody>
      </p:sp>
      <p:sp>
        <p:nvSpPr>
          <p:cNvPr id="16" name="Text 10"/>
          <p:cNvSpPr/>
          <p:nvPr/>
        </p:nvSpPr>
        <p:spPr>
          <a:xfrm>
            <a:off x="6755902" y="4526235"/>
            <a:ext cx="4552672" cy="665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EF4"/>
                </a:solidFill>
                <a:latin typeface="Inter" pitchFamily="34" charset="0"/>
                <a:ea typeface="Inter" pitchFamily="34" charset="-122"/>
                <a:cs typeface="Inter" pitchFamily="34" charset="-120"/>
              </a:rPr>
              <a:t>On a crew, the lock is the teammate who can’t forget. I want that for myself and for the model, at the point where we can make a mistake.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8"/>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A RULE WE CAN CHECK</a:t>
            </a:r>
            <a:endParaRPr lang="en-US" sz="1200" dirty="0"/>
          </a:p>
        </p:txBody>
      </p:sp>
      <p:sp>
        <p:nvSpPr>
          <p:cNvPr id="4" name="Text 1"/>
          <p:cNvSpPr>
            <a:spLocks noGrp="1"/>
          </p:cNvSpPr>
          <p:nvPr>
            <p:ph type="title"/>
          </p:nvPr>
        </p:nvSpPr>
        <p:spPr>
          <a:xfrm>
            <a:off x="812775" y="1102296"/>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A WELL IS A SERIES OF HOLES.</a:t>
            </a:r>
            <a:endParaRPr lang="en-US" sz="3200" dirty="0"/>
          </a:p>
        </p:txBody>
      </p:sp>
      <p:pic>
        <p:nvPicPr>
          <p:cNvPr id="5" name="Image 1" descr="Three hole sections stacked top to bottom, each narrower than the one above and starting where the one above ends; casing drawn inside each hole"/>
          <p:cNvPicPr>
            <a:picLocks noChangeAspect="1"/>
          </p:cNvPicPr>
          <p:nvPr/>
        </p:nvPicPr>
        <p:blipFill>
          <a:blip r:embed="rId4"/>
          <a:srcRect/>
          <a:stretch/>
        </p:blipFill>
        <p:spPr>
          <a:xfrm>
            <a:off x="812775" y="1625488"/>
            <a:ext cx="3301985" cy="3555969"/>
          </a:xfrm>
          <a:prstGeom prst="rect">
            <a:avLst/>
          </a:prstGeom>
        </p:spPr>
      </p:pic>
      <p:sp>
        <p:nvSpPr>
          <p:cNvPr id="6" name="Text 2"/>
          <p:cNvSpPr/>
          <p:nvPr/>
        </p:nvSpPr>
        <p:spPr>
          <a:xfrm>
            <a:off x="812775" y="1638164"/>
            <a:ext cx="685792" cy="238752"/>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C7D3"/>
                </a:solidFill>
                <a:latin typeface="Oswald" pitchFamily="34" charset="0"/>
                <a:ea typeface="Oswald" pitchFamily="34" charset="-122"/>
                <a:cs typeface="Oswald" pitchFamily="34" charset="-120"/>
              </a:rPr>
              <a:t>SURFACE</a:t>
            </a:r>
            <a:endParaRPr lang="en-US" sz="1200" dirty="0"/>
          </a:p>
        </p:txBody>
      </p:sp>
      <p:sp>
        <p:nvSpPr>
          <p:cNvPr id="7" name="Text 3"/>
          <p:cNvSpPr/>
          <p:nvPr/>
        </p:nvSpPr>
        <p:spPr>
          <a:xfrm>
            <a:off x="3479768" y="2323976"/>
            <a:ext cx="685792" cy="238752"/>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9682C"/>
                </a:solidFill>
                <a:latin typeface="Oswald" pitchFamily="34" charset="0"/>
                <a:ea typeface="Oswald" pitchFamily="34" charset="-122"/>
                <a:cs typeface="Oswald" pitchFamily="34" charset="-120"/>
              </a:rPr>
              <a:t>HOLE 1</a:t>
            </a:r>
            <a:endParaRPr lang="en-US" sz="1200" dirty="0"/>
          </a:p>
        </p:txBody>
      </p:sp>
      <p:sp>
        <p:nvSpPr>
          <p:cNvPr id="8" name="Text 4"/>
          <p:cNvSpPr/>
          <p:nvPr/>
        </p:nvSpPr>
        <p:spPr>
          <a:xfrm>
            <a:off x="3479768" y="3403476"/>
            <a:ext cx="685792" cy="238752"/>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9682C"/>
                </a:solidFill>
                <a:latin typeface="Oswald" pitchFamily="34" charset="0"/>
                <a:ea typeface="Oswald" pitchFamily="34" charset="-122"/>
                <a:cs typeface="Oswald" pitchFamily="34" charset="-120"/>
              </a:rPr>
              <a:t>HOLE 2</a:t>
            </a:r>
            <a:endParaRPr lang="en-US" sz="1200" dirty="0"/>
          </a:p>
        </p:txBody>
      </p:sp>
      <p:sp>
        <p:nvSpPr>
          <p:cNvPr id="9" name="Text 5"/>
          <p:cNvSpPr/>
          <p:nvPr/>
        </p:nvSpPr>
        <p:spPr>
          <a:xfrm>
            <a:off x="3479768" y="4482964"/>
            <a:ext cx="685792" cy="238752"/>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9682C"/>
                </a:solidFill>
                <a:latin typeface="Oswald" pitchFamily="34" charset="0"/>
                <a:ea typeface="Oswald" pitchFamily="34" charset="-122"/>
                <a:cs typeface="Oswald" pitchFamily="34" charset="-120"/>
              </a:rPr>
              <a:t>HOLE 3</a:t>
            </a:r>
            <a:endParaRPr lang="en-US" sz="1200" dirty="0"/>
          </a:p>
        </p:txBody>
      </p:sp>
      <p:sp>
        <p:nvSpPr>
          <p:cNvPr id="10" name="Text 6"/>
          <p:cNvSpPr/>
          <p:nvPr/>
        </p:nvSpPr>
        <p:spPr>
          <a:xfrm>
            <a:off x="812775" y="4482964"/>
            <a:ext cx="685792" cy="238752"/>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8597"/>
                </a:solidFill>
                <a:latin typeface="Oswald" pitchFamily="34" charset="0"/>
                <a:ea typeface="Oswald" pitchFamily="34" charset="-122"/>
                <a:cs typeface="Oswald" pitchFamily="34" charset="-120"/>
              </a:rPr>
              <a:t>CASING</a:t>
            </a:r>
            <a:endParaRPr lang="en-US" sz="1200" dirty="0"/>
          </a:p>
        </p:txBody>
      </p:sp>
      <p:sp>
        <p:nvSpPr>
          <p:cNvPr id="11" name="Shape 7"/>
          <p:cNvSpPr/>
          <p:nvPr/>
        </p:nvSpPr>
        <p:spPr>
          <a:xfrm>
            <a:off x="4571970" y="1841475"/>
            <a:ext cx="6807195" cy="952473"/>
          </a:xfrm>
          <a:prstGeom prst="roundRect">
            <a:avLst>
              <a:gd name="adj" fmla="val 10667"/>
            </a:avLst>
          </a:prstGeom>
          <a:solidFill>
            <a:srgbClr val="0B3042"/>
          </a:solidFill>
          <a:ln/>
        </p:spPr>
        <p:txBody>
          <a:bodyPr/>
          <a:lstStyle/>
          <a:p>
            <a:endParaRPr lang="en-US"/>
          </a:p>
        </p:txBody>
      </p:sp>
      <p:sp>
        <p:nvSpPr>
          <p:cNvPr id="12" name="Shape 8"/>
          <p:cNvSpPr/>
          <p:nvPr/>
        </p:nvSpPr>
        <p:spPr>
          <a:xfrm>
            <a:off x="4571970" y="1841475"/>
            <a:ext cx="6807195" cy="952473"/>
          </a:xfrm>
          <a:custGeom>
            <a:avLst/>
            <a:gdLst/>
            <a:ahLst/>
            <a:cxnLst/>
            <a:rect l="l" t="t" r="r" b="b"/>
            <a:pathLst>
              <a:path w="6807195" h="952473">
                <a:moveTo>
                  <a:pt x="101600" y="952473"/>
                </a:moveTo>
                <a:lnTo>
                  <a:pt x="101600" y="952473"/>
                </a:lnTo>
                <a:arcTo wR="101600" hR="101600" stAng="5400000" swAng="5400000"/>
                <a:lnTo>
                  <a:pt x="0" y="101600"/>
                </a:lnTo>
                <a:arcTo wR="101600" hR="101600" stAng="10800000" swAng="5400000"/>
                <a:lnTo>
                  <a:pt x="101600" y="0"/>
                </a:lnTo>
                <a:arcTo wR="50800" hR="101600" stAng="16200000" swAng="-5400000"/>
                <a:lnTo>
                  <a:pt x="50800" y="850873"/>
                </a:lnTo>
                <a:arcTo wR="50800" hR="101600" stAng="10800000" swAng="-5400000"/>
                <a:close/>
              </a:path>
            </a:pathLst>
          </a:custGeom>
          <a:solidFill>
            <a:srgbClr val="C9682C"/>
          </a:solidFill>
          <a:ln/>
        </p:spPr>
        <p:txBody>
          <a:bodyPr/>
          <a:lstStyle/>
          <a:p>
            <a:endParaRPr lang="en-US"/>
          </a:p>
        </p:txBody>
      </p:sp>
      <p:sp>
        <p:nvSpPr>
          <p:cNvPr id="13" name="Text 9"/>
          <p:cNvSpPr/>
          <p:nvPr/>
        </p:nvSpPr>
        <p:spPr>
          <a:xfrm>
            <a:off x="4825482" y="1993850"/>
            <a:ext cx="6541004" cy="269226"/>
          </a:xfrm>
          <a:prstGeom prst="rect">
            <a:avLst/>
          </a:prstGeom>
          <a:noFill/>
          <a:ln/>
        </p:spPr>
        <p:txBody>
          <a:bodyPr wrap="square" lIns="0" tIns="0" rIns="0" bIns="0" rtlCol="0" anchor="t">
            <a:normAutofit/>
          </a:bodyPr>
          <a:lstStyle/>
          <a:p>
            <a:pPr marL="0" indent="0" algn="l">
              <a:lnSpc>
                <a:spcPts val="1920"/>
              </a:lnSpc>
              <a:buNone/>
            </a:pPr>
            <a:r>
              <a:rPr lang="en-US" sz="1600" kern="0" spc="100" dirty="0">
                <a:solidFill>
                  <a:srgbClr val="C9682C"/>
                </a:solidFill>
                <a:latin typeface="Oswald" pitchFamily="34" charset="0"/>
                <a:ea typeface="Oswald" pitchFamily="34" charset="-122"/>
                <a:cs typeface="Oswald" pitchFamily="34" charset="-120"/>
              </a:rPr>
              <a:t>SMALLER AS WE GO DEEPER</a:t>
            </a:r>
            <a:endParaRPr lang="en-US" sz="1600" dirty="0"/>
          </a:p>
        </p:txBody>
      </p:sp>
      <p:sp>
        <p:nvSpPr>
          <p:cNvPr id="14" name="Text 10"/>
          <p:cNvSpPr/>
          <p:nvPr/>
        </p:nvSpPr>
        <p:spPr>
          <a:xfrm>
            <a:off x="4825482" y="2275768"/>
            <a:ext cx="6541004"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8EEF4"/>
                </a:solidFill>
                <a:latin typeface="Inter" pitchFamily="34" charset="0"/>
                <a:ea typeface="Inter" pitchFamily="34" charset="-122"/>
                <a:cs typeface="Inter" pitchFamily="34" charset="-120"/>
              </a:rPr>
              <a:t>Each hole is narrower than the one above it.</a:t>
            </a:r>
            <a:endParaRPr lang="en-US" sz="1300" dirty="0"/>
          </a:p>
        </p:txBody>
      </p:sp>
      <p:sp>
        <p:nvSpPr>
          <p:cNvPr id="15" name="Shape 11"/>
          <p:cNvSpPr/>
          <p:nvPr/>
        </p:nvSpPr>
        <p:spPr>
          <a:xfrm>
            <a:off x="4571970" y="2920975"/>
            <a:ext cx="6807195" cy="952473"/>
          </a:xfrm>
          <a:prstGeom prst="roundRect">
            <a:avLst>
              <a:gd name="adj" fmla="val 10667"/>
            </a:avLst>
          </a:prstGeom>
          <a:solidFill>
            <a:srgbClr val="0B3042"/>
          </a:solidFill>
          <a:ln/>
        </p:spPr>
        <p:txBody>
          <a:bodyPr/>
          <a:lstStyle/>
          <a:p>
            <a:endParaRPr lang="en-US"/>
          </a:p>
        </p:txBody>
      </p:sp>
      <p:sp>
        <p:nvSpPr>
          <p:cNvPr id="16" name="Shape 12"/>
          <p:cNvSpPr/>
          <p:nvPr/>
        </p:nvSpPr>
        <p:spPr>
          <a:xfrm>
            <a:off x="4571970" y="2920975"/>
            <a:ext cx="6807195" cy="952473"/>
          </a:xfrm>
          <a:custGeom>
            <a:avLst/>
            <a:gdLst/>
            <a:ahLst/>
            <a:cxnLst/>
            <a:rect l="l" t="t" r="r" b="b"/>
            <a:pathLst>
              <a:path w="6807195" h="952473">
                <a:moveTo>
                  <a:pt x="101600" y="952473"/>
                </a:moveTo>
                <a:lnTo>
                  <a:pt x="101600" y="952473"/>
                </a:lnTo>
                <a:arcTo wR="101600" hR="101600" stAng="5400000" swAng="5400000"/>
                <a:lnTo>
                  <a:pt x="0" y="101600"/>
                </a:lnTo>
                <a:arcTo wR="101600" hR="101600" stAng="10800000" swAng="5400000"/>
                <a:lnTo>
                  <a:pt x="101600" y="0"/>
                </a:lnTo>
                <a:arcTo wR="50800" hR="101600" stAng="16200000" swAng="-5400000"/>
                <a:lnTo>
                  <a:pt x="50800" y="850873"/>
                </a:lnTo>
                <a:arcTo wR="50800" hR="101600" stAng="10800000" swAng="-5400000"/>
                <a:close/>
              </a:path>
            </a:pathLst>
          </a:custGeom>
          <a:solidFill>
            <a:srgbClr val="C9682C"/>
          </a:solidFill>
          <a:ln/>
        </p:spPr>
        <p:txBody>
          <a:bodyPr/>
          <a:lstStyle/>
          <a:p>
            <a:endParaRPr lang="en-US"/>
          </a:p>
        </p:txBody>
      </p:sp>
      <p:sp>
        <p:nvSpPr>
          <p:cNvPr id="17" name="Text 13"/>
          <p:cNvSpPr/>
          <p:nvPr/>
        </p:nvSpPr>
        <p:spPr>
          <a:xfrm>
            <a:off x="4825482" y="3073350"/>
            <a:ext cx="6541004" cy="269226"/>
          </a:xfrm>
          <a:prstGeom prst="rect">
            <a:avLst/>
          </a:prstGeom>
          <a:noFill/>
          <a:ln/>
        </p:spPr>
        <p:txBody>
          <a:bodyPr wrap="square" lIns="0" tIns="0" rIns="0" bIns="0" rtlCol="0" anchor="t">
            <a:normAutofit/>
          </a:bodyPr>
          <a:lstStyle/>
          <a:p>
            <a:pPr marL="0" indent="0" algn="l">
              <a:lnSpc>
                <a:spcPts val="1920"/>
              </a:lnSpc>
              <a:buNone/>
            </a:pPr>
            <a:r>
              <a:rPr lang="en-US" sz="1600" kern="0" spc="100" dirty="0">
                <a:solidFill>
                  <a:srgbClr val="C9682C"/>
                </a:solidFill>
                <a:latin typeface="Oswald" pitchFamily="34" charset="0"/>
                <a:ea typeface="Oswald" pitchFamily="34" charset="-122"/>
                <a:cs typeface="Oswald" pitchFamily="34" charset="-120"/>
              </a:rPr>
              <a:t>CONNECTED END TO END</a:t>
            </a:r>
            <a:endParaRPr lang="en-US" sz="1600" dirty="0"/>
          </a:p>
        </p:txBody>
      </p:sp>
      <p:sp>
        <p:nvSpPr>
          <p:cNvPr id="18" name="Text 14"/>
          <p:cNvSpPr/>
          <p:nvPr/>
        </p:nvSpPr>
        <p:spPr>
          <a:xfrm>
            <a:off x="4825482" y="3355256"/>
            <a:ext cx="6541004"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8EEF4"/>
                </a:solidFill>
                <a:latin typeface="Inter" pitchFamily="34" charset="0"/>
                <a:ea typeface="Inter" pitchFamily="34" charset="-122"/>
                <a:cs typeface="Inter" pitchFamily="34" charset="-120"/>
              </a:rPr>
              <a:t>Each hole starts exactly where the one above ends.</a:t>
            </a:r>
            <a:endParaRPr lang="en-US" sz="1300" dirty="0"/>
          </a:p>
        </p:txBody>
      </p:sp>
      <p:sp>
        <p:nvSpPr>
          <p:cNvPr id="19" name="Shape 15"/>
          <p:cNvSpPr/>
          <p:nvPr/>
        </p:nvSpPr>
        <p:spPr>
          <a:xfrm>
            <a:off x="4571970" y="4000475"/>
            <a:ext cx="6807195" cy="952473"/>
          </a:xfrm>
          <a:prstGeom prst="roundRect">
            <a:avLst>
              <a:gd name="adj" fmla="val 10667"/>
            </a:avLst>
          </a:prstGeom>
          <a:solidFill>
            <a:srgbClr val="0B3042"/>
          </a:solidFill>
          <a:ln/>
        </p:spPr>
        <p:txBody>
          <a:bodyPr/>
          <a:lstStyle/>
          <a:p>
            <a:endParaRPr lang="en-US"/>
          </a:p>
        </p:txBody>
      </p:sp>
      <p:sp>
        <p:nvSpPr>
          <p:cNvPr id="20" name="Shape 16"/>
          <p:cNvSpPr/>
          <p:nvPr/>
        </p:nvSpPr>
        <p:spPr>
          <a:xfrm>
            <a:off x="4571970" y="4000475"/>
            <a:ext cx="6807195" cy="952473"/>
          </a:xfrm>
          <a:custGeom>
            <a:avLst/>
            <a:gdLst/>
            <a:ahLst/>
            <a:cxnLst/>
            <a:rect l="l" t="t" r="r" b="b"/>
            <a:pathLst>
              <a:path w="6807195" h="952473">
                <a:moveTo>
                  <a:pt x="101600" y="952473"/>
                </a:moveTo>
                <a:lnTo>
                  <a:pt x="101600" y="952473"/>
                </a:lnTo>
                <a:arcTo wR="101600" hR="101600" stAng="5400000" swAng="5400000"/>
                <a:lnTo>
                  <a:pt x="0" y="101600"/>
                </a:lnTo>
                <a:arcTo wR="101600" hR="101600" stAng="10800000" swAng="5400000"/>
                <a:lnTo>
                  <a:pt x="101600" y="0"/>
                </a:lnTo>
                <a:arcTo wR="50800" hR="101600" stAng="16200000" swAng="-5400000"/>
                <a:lnTo>
                  <a:pt x="50800" y="850873"/>
                </a:lnTo>
                <a:arcTo wR="50800" hR="101600" stAng="10800000" swAng="-5400000"/>
                <a:close/>
              </a:path>
            </a:pathLst>
          </a:custGeom>
          <a:solidFill>
            <a:srgbClr val="C9682C"/>
          </a:solidFill>
          <a:ln/>
        </p:spPr>
        <p:txBody>
          <a:bodyPr/>
          <a:lstStyle/>
          <a:p>
            <a:endParaRPr lang="en-US"/>
          </a:p>
        </p:txBody>
      </p:sp>
      <p:sp>
        <p:nvSpPr>
          <p:cNvPr id="21" name="Text 17"/>
          <p:cNvSpPr/>
          <p:nvPr/>
        </p:nvSpPr>
        <p:spPr>
          <a:xfrm>
            <a:off x="4825482" y="4152850"/>
            <a:ext cx="6541004" cy="269226"/>
          </a:xfrm>
          <a:prstGeom prst="rect">
            <a:avLst/>
          </a:prstGeom>
          <a:noFill/>
          <a:ln/>
        </p:spPr>
        <p:txBody>
          <a:bodyPr wrap="square" lIns="0" tIns="0" rIns="0" bIns="0" rtlCol="0" anchor="t">
            <a:normAutofit/>
          </a:bodyPr>
          <a:lstStyle/>
          <a:p>
            <a:pPr marL="0" indent="0" algn="l">
              <a:lnSpc>
                <a:spcPts val="1920"/>
              </a:lnSpc>
              <a:buNone/>
            </a:pPr>
            <a:r>
              <a:rPr lang="en-US" sz="1600" kern="0" spc="100" dirty="0">
                <a:solidFill>
                  <a:srgbClr val="C9682C"/>
                </a:solidFill>
                <a:latin typeface="Oswald" pitchFamily="34" charset="0"/>
                <a:ea typeface="Oswald" pitchFamily="34" charset="-122"/>
                <a:cs typeface="Oswald" pitchFamily="34" charset="-120"/>
              </a:rPr>
              <a:t>CASING FITS THE HOLE</a:t>
            </a:r>
            <a:endParaRPr lang="en-US" sz="1600" dirty="0"/>
          </a:p>
        </p:txBody>
      </p:sp>
      <p:sp>
        <p:nvSpPr>
          <p:cNvPr id="22" name="Text 18"/>
          <p:cNvSpPr/>
          <p:nvPr/>
        </p:nvSpPr>
        <p:spPr>
          <a:xfrm>
            <a:off x="4825482" y="4434756"/>
            <a:ext cx="6541004"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8EEF4"/>
                </a:solidFill>
                <a:latin typeface="Inter" pitchFamily="34" charset="0"/>
                <a:ea typeface="Inter" pitchFamily="34" charset="-122"/>
                <a:cs typeface="Inter" pitchFamily="34" charset="-120"/>
              </a:rPr>
              <a:t>The pipe that goes into a hole has to be smaller than that hole.</a:t>
            </a:r>
            <a:endParaRPr lang="en-US" sz="1300" dirty="0"/>
          </a:p>
        </p:txBody>
      </p:sp>
      <p:sp>
        <p:nvSpPr>
          <p:cNvPr id="23" name="Text 19"/>
          <p:cNvSpPr/>
          <p:nvPr/>
        </p:nvSpPr>
        <p:spPr>
          <a:xfrm>
            <a:off x="4571970" y="5143500"/>
            <a:ext cx="1172501" cy="274321"/>
          </a:xfrm>
          <a:prstGeom prst="rect">
            <a:avLst/>
          </a:prstGeom>
          <a:noFill/>
          <a:ln/>
        </p:spPr>
        <p:txBody>
          <a:bodyPr wrap="none" lIns="0" tIns="0" rIns="0" bIns="0" rtlCol="0" anchor="t">
            <a:normAutofit/>
          </a:bodyPr>
          <a:lstStyle/>
          <a:p>
            <a:pPr marL="0" indent="0" algn="l">
              <a:lnSpc>
                <a:spcPts val="1960"/>
              </a:lnSpc>
              <a:buNone/>
            </a:pPr>
            <a:endParaRPr lang="en-US" sz="1400" dirty="0"/>
          </a:p>
        </p:txBody>
      </p:sp>
      <p:sp>
        <p:nvSpPr>
          <p:cNvPr id="24" name="Text 20"/>
          <p:cNvSpPr/>
          <p:nvPr/>
        </p:nvSpPr>
        <p:spPr>
          <a:xfrm>
            <a:off x="5896865" y="5143500"/>
            <a:ext cx="4641800" cy="274321"/>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5"/>
          <a:srcRect l="-58" r="-58"/>
          <a:stretch/>
        </p:blipFill>
        <p:spPr>
          <a:xfrm>
            <a:off x="10413987" y="177788"/>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CODIFIED · THE SKILL </a:t>
            </a:r>
            <a:endParaRPr lang="en-US" sz="1200" dirty="0"/>
          </a:p>
        </p:txBody>
      </p:sp>
      <p:sp>
        <p:nvSpPr>
          <p:cNvPr id="4" name="Text 1"/>
          <p:cNvSpPr>
            <a:spLocks noGrp="1"/>
          </p:cNvSpPr>
          <p:nvPr>
            <p:ph type="title"/>
          </p:nvPr>
        </p:nvSpPr>
        <p:spPr>
          <a:xfrm>
            <a:off x="812775" y="1102296"/>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ONTOLOGY-DRIVEN DEVELOPMENT</a:t>
            </a:r>
            <a:endParaRPr lang="en-US" sz="3200" dirty="0"/>
          </a:p>
        </p:txBody>
      </p:sp>
      <p:sp>
        <p:nvSpPr>
          <p:cNvPr id="5" name="Shape 2"/>
          <p:cNvSpPr/>
          <p:nvPr/>
        </p:nvSpPr>
        <p:spPr>
          <a:xfrm>
            <a:off x="2482826" y="1904975"/>
            <a:ext cx="7226288" cy="4063970"/>
          </a:xfrm>
          <a:prstGeom prst="roundRect">
            <a:avLst>
              <a:gd name="adj" fmla="val 2500"/>
            </a:avLst>
          </a:prstGeom>
          <a:solidFill>
            <a:srgbClr val="F3EFEA"/>
          </a:solidFill>
          <a:ln/>
        </p:spPr>
        <p:txBody>
          <a:bodyPr/>
          <a:lstStyle/>
          <a:p>
            <a:endParaRPr lang="en-US"/>
          </a:p>
        </p:txBody>
      </p:sp>
      <p:pic>
        <p:nvPicPr>
          <p:cNvPr id="8" name="Video · Ontology-driven development" descr="The ontology-driven-dev skill: reading a repo, interviewing for meaning, writing the ontology and installing the hook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501876" y="1924025"/>
            <a:ext cx="7188188" cy="4025870"/>
          </a:xfrm>
          <a:prstGeom prst="roundRect">
            <a:avLst>
              <a:gd name="adj" fmla="val 2050"/>
            </a:avLst>
          </a:prstGeom>
        </p:spPr>
      </p:pic>
      <p:sp>
        <p:nvSpPr>
          <p:cNvPr id="7" name="Shape 3"/>
          <p:cNvSpPr/>
          <p:nvPr/>
        </p:nvSpPr>
        <p:spPr>
          <a:xfrm>
            <a:off x="2492351" y="1914500"/>
            <a:ext cx="7207238" cy="4044920"/>
          </a:xfrm>
          <a:prstGeom prst="roundRect">
            <a:avLst>
              <a:gd name="adj" fmla="val 2276"/>
            </a:avLst>
          </a:prstGeom>
          <a:noFill/>
          <a:ln w="19050">
            <a:solidFill>
              <a:srgbClr val="C9682C"/>
            </a:solidFill>
            <a:prstDash val="solid"/>
          </a:ln>
        </p:spPr>
        <p:txBody>
          <a:bodyPr/>
          <a:lstStyle/>
          <a:p>
            <a:endParaRPr lang="en-US"/>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75"/>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HOLDING THE MODEL TO IT · THE MAP</a:t>
            </a:r>
            <a:endParaRPr lang="en-US" sz="1200" dirty="0"/>
          </a:p>
        </p:txBody>
      </p:sp>
      <p:sp>
        <p:nvSpPr>
          <p:cNvPr id="4" name="Text 1"/>
          <p:cNvSpPr>
            <a:spLocks noGrp="1"/>
          </p:cNvSpPr>
          <p:nvPr>
            <p:ph type="title"/>
          </p:nvPr>
        </p:nvSpPr>
        <p:spPr>
          <a:xfrm>
            <a:off x="812775" y="1102296"/>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HOW A CHANGE FINDS ITS RULE</a:t>
            </a:r>
            <a:endParaRPr lang="en-US" sz="2800" dirty="0"/>
          </a:p>
        </p:txBody>
      </p:sp>
      <p:sp>
        <p:nvSpPr>
          <p:cNvPr id="5" name="Rounded Rectangle 4"/>
          <p:cNvSpPr/>
          <p:nvPr/>
        </p:nvSpPr>
        <p:spPr>
          <a:xfrm>
            <a:off x="812775" y="1850000"/>
            <a:ext cx="3100000" cy="1400000"/>
          </a:xfrm>
          <a:prstGeom prst="roundRect">
            <a:avLst>
              <a:gd name="adj" fmla="val 6000"/>
            </a:avLst>
          </a:prstGeom>
          <a:solidFill>
            <a:srgbClr val="0B3042"/>
          </a:solidFill>
          <a:ln w="12700">
            <a:solidFill>
              <a:srgbClr val="1F425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012775" y="2020000"/>
            <a:ext cx="2700000" cy="220000"/>
          </a:xfrm>
          <a:prstGeom prst="rect">
            <a:avLst/>
          </a:prstGeom>
          <a:noFill/>
        </p:spPr>
        <p:txBody>
          <a:bodyPr wrap="square" lIns="0" tIns="0" rIns="0" bIns="0">
            <a:spAutoFit/>
          </a:bodyPr>
          <a:lstStyle/>
          <a:p>
            <a:r>
              <a:rPr sz="1100" b="0" spc="80">
                <a:solidFill>
                  <a:srgbClr val="C9682C"/>
                </a:solidFill>
                <a:latin typeface="Oswald"/>
                <a:ea typeface="Oswald"/>
                <a:cs typeface="Oswald"/>
              </a:rPr>
              <a:t>1  </a:t>
            </a:r>
            <a:r>
              <a:rPr sz="1100" b="0" spc="80">
                <a:solidFill>
                  <a:srgbClr val="93A6B6"/>
                </a:solidFill>
                <a:latin typeface="Oswald"/>
                <a:ea typeface="Oswald"/>
                <a:cs typeface="Oswald"/>
              </a:rPr>
              <a:t>A CHANGE LANDS</a:t>
            </a:r>
          </a:p>
        </p:txBody>
      </p:sp>
      <p:sp>
        <p:nvSpPr>
          <p:cNvPr id="7" name="TextBox 6"/>
          <p:cNvSpPr txBox="1"/>
          <p:nvPr/>
        </p:nvSpPr>
        <p:spPr>
          <a:xfrm>
            <a:off x="1012775" y="2320000"/>
            <a:ext cx="2700000" cy="360000"/>
          </a:xfrm>
          <a:prstGeom prst="rect">
            <a:avLst/>
          </a:prstGeom>
          <a:noFill/>
        </p:spPr>
        <p:txBody>
          <a:bodyPr wrap="square" lIns="0" tIns="0" rIns="0" bIns="0">
            <a:spAutoFit/>
          </a:bodyPr>
          <a:lstStyle/>
          <a:p>
            <a:r>
              <a:rPr sz="1500" b="1">
                <a:solidFill>
                  <a:srgbClr val="E8EEF4"/>
                </a:solidFill>
                <a:latin typeface="Inter"/>
                <a:ea typeface="Inter"/>
                <a:cs typeface="Inter"/>
              </a:rPr>
              <a:t>Edit, end of turn, commit, CI</a:t>
            </a:r>
          </a:p>
        </p:txBody>
      </p:sp>
      <p:sp>
        <p:nvSpPr>
          <p:cNvPr id="8" name="TextBox 7"/>
          <p:cNvSpPr txBox="1"/>
          <p:nvPr/>
        </p:nvSpPr>
        <p:spPr>
          <a:xfrm>
            <a:off x="1012775" y="2710000"/>
            <a:ext cx="2700000" cy="480000"/>
          </a:xfrm>
          <a:prstGeom prst="rect">
            <a:avLst/>
          </a:prstGeom>
          <a:noFill/>
        </p:spPr>
        <p:txBody>
          <a:bodyPr wrap="square" lIns="0" tIns="0" rIns="0" bIns="0">
            <a:spAutoFit/>
          </a:bodyPr>
          <a:lstStyle/>
          <a:p>
            <a:r>
              <a:rPr sz="1100" b="0">
                <a:solidFill>
                  <a:srgbClr val="B8C7D3"/>
                </a:solidFill>
                <a:latin typeface="Inter"/>
                <a:ea typeface="Inter"/>
                <a:cs typeface="Inter"/>
              </a:rPr>
              <a:t>Each one triggers a check.</a:t>
            </a:r>
          </a:p>
        </p:txBody>
      </p:sp>
      <p:sp>
        <p:nvSpPr>
          <p:cNvPr id="9" name="Rounded Rectangle 8"/>
          <p:cNvSpPr/>
          <p:nvPr/>
        </p:nvSpPr>
        <p:spPr>
          <a:xfrm>
            <a:off x="4545970" y="1850000"/>
            <a:ext cx="3100000" cy="1400000"/>
          </a:xfrm>
          <a:prstGeom prst="roundRect">
            <a:avLst>
              <a:gd name="adj" fmla="val 6000"/>
            </a:avLst>
          </a:prstGeom>
          <a:solidFill>
            <a:srgbClr val="0B3042"/>
          </a:solidFill>
          <a:ln w="12700">
            <a:solidFill>
              <a:srgbClr val="1F425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745970" y="2020000"/>
            <a:ext cx="2700000" cy="220000"/>
          </a:xfrm>
          <a:prstGeom prst="rect">
            <a:avLst/>
          </a:prstGeom>
          <a:noFill/>
        </p:spPr>
        <p:txBody>
          <a:bodyPr wrap="square" lIns="0" tIns="0" rIns="0" bIns="0">
            <a:spAutoFit/>
          </a:bodyPr>
          <a:lstStyle/>
          <a:p>
            <a:r>
              <a:rPr sz="1100" b="0" spc="80">
                <a:solidFill>
                  <a:srgbClr val="C9682C"/>
                </a:solidFill>
                <a:latin typeface="Oswald"/>
                <a:ea typeface="Oswald"/>
                <a:cs typeface="Oswald"/>
              </a:rPr>
              <a:t>2  </a:t>
            </a:r>
            <a:r>
              <a:rPr sz="1100" b="0" spc="80">
                <a:solidFill>
                  <a:srgbClr val="93A6B6"/>
                </a:solidFill>
                <a:latin typeface="Oswald"/>
                <a:ea typeface="Oswald"/>
                <a:cs typeface="Oswald"/>
              </a:rPr>
              <a:t>IS THE FILE GOVERNED?</a:t>
            </a:r>
          </a:p>
        </p:txBody>
      </p:sp>
      <p:sp>
        <p:nvSpPr>
          <p:cNvPr id="11" name="TextBox 10"/>
          <p:cNvSpPr txBox="1"/>
          <p:nvPr/>
        </p:nvSpPr>
        <p:spPr>
          <a:xfrm>
            <a:off x="4745970" y="2320000"/>
            <a:ext cx="2700000" cy="360000"/>
          </a:xfrm>
          <a:prstGeom prst="rect">
            <a:avLst/>
          </a:prstGeom>
          <a:noFill/>
        </p:spPr>
        <p:txBody>
          <a:bodyPr wrap="square" lIns="0" tIns="0" rIns="0" bIns="0">
            <a:spAutoFit/>
          </a:bodyPr>
          <a:lstStyle/>
          <a:p>
            <a:r>
              <a:rPr sz="1500" b="1">
                <a:solidFill>
                  <a:srgbClr val="E8EEF4"/>
                </a:solidFill>
                <a:latin typeface="Inter"/>
                <a:ea typeface="Inter"/>
                <a:cs typeface="Inter"/>
              </a:rPr>
              <a:t>governs: in ontology/*.md</a:t>
            </a:r>
          </a:p>
        </p:txBody>
      </p:sp>
      <p:sp>
        <p:nvSpPr>
          <p:cNvPr id="12" name="TextBox 11"/>
          <p:cNvSpPr txBox="1"/>
          <p:nvPr/>
        </p:nvSpPr>
        <p:spPr>
          <a:xfrm>
            <a:off x="4745970" y="2710000"/>
            <a:ext cx="2700000" cy="480000"/>
          </a:xfrm>
          <a:prstGeom prst="rect">
            <a:avLst/>
          </a:prstGeom>
          <a:noFill/>
        </p:spPr>
        <p:txBody>
          <a:bodyPr wrap="square" lIns="0" tIns="0" rIns="0" bIns="0">
            <a:spAutoFit/>
          </a:bodyPr>
          <a:lstStyle/>
          <a:p>
            <a:r>
              <a:rPr sz="1100" b="0">
                <a:solidFill>
                  <a:srgbClr val="B8C7D3"/>
                </a:solidFill>
                <a:latin typeface="Inter"/>
                <a:ea typeface="Inter"/>
                <a:cs typeface="Inter"/>
              </a:rPr>
              <a:t>No: ignored. Yes: keep going.</a:t>
            </a:r>
          </a:p>
        </p:txBody>
      </p:sp>
      <p:sp>
        <p:nvSpPr>
          <p:cNvPr id="13" name="Rounded Rectangle 12"/>
          <p:cNvSpPr/>
          <p:nvPr/>
        </p:nvSpPr>
        <p:spPr>
          <a:xfrm>
            <a:off x="8279165" y="1850000"/>
            <a:ext cx="3100000" cy="1400000"/>
          </a:xfrm>
          <a:prstGeom prst="roundRect">
            <a:avLst>
              <a:gd name="adj" fmla="val 6000"/>
            </a:avLst>
          </a:prstGeom>
          <a:solidFill>
            <a:srgbClr val="0B3042"/>
          </a:solidFill>
          <a:ln w="12700">
            <a:solidFill>
              <a:srgbClr val="1F425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79165" y="2020000"/>
            <a:ext cx="2700000" cy="220000"/>
          </a:xfrm>
          <a:prstGeom prst="rect">
            <a:avLst/>
          </a:prstGeom>
          <a:noFill/>
        </p:spPr>
        <p:txBody>
          <a:bodyPr wrap="square" lIns="0" tIns="0" rIns="0" bIns="0">
            <a:spAutoFit/>
          </a:bodyPr>
          <a:lstStyle/>
          <a:p>
            <a:r>
              <a:rPr sz="1100" b="0" spc="80">
                <a:solidFill>
                  <a:srgbClr val="C9682C"/>
                </a:solidFill>
                <a:latin typeface="Oswald"/>
                <a:ea typeface="Oswald"/>
                <a:cs typeface="Oswald"/>
              </a:rPr>
              <a:t>3  </a:t>
            </a:r>
            <a:r>
              <a:rPr sz="1100" b="0" spc="80">
                <a:solidFill>
                  <a:srgbClr val="93A6B6"/>
                </a:solidFill>
                <a:latin typeface="Oswald"/>
                <a:ea typeface="Oswald"/>
                <a:cs typeface="Oswald"/>
              </a:rPr>
              <a:t>WHICH FUNCTIONS CHANGED?</a:t>
            </a:r>
          </a:p>
        </p:txBody>
      </p:sp>
      <p:sp>
        <p:nvSpPr>
          <p:cNvPr id="15" name="TextBox 14"/>
          <p:cNvSpPr txBox="1"/>
          <p:nvPr/>
        </p:nvSpPr>
        <p:spPr>
          <a:xfrm>
            <a:off x="8479165" y="2320000"/>
            <a:ext cx="2700000" cy="360000"/>
          </a:xfrm>
          <a:prstGeom prst="rect">
            <a:avLst/>
          </a:prstGeom>
          <a:noFill/>
        </p:spPr>
        <p:txBody>
          <a:bodyPr wrap="square" lIns="0" tIns="0" rIns="0" bIns="0">
            <a:spAutoFit/>
          </a:bodyPr>
          <a:lstStyle/>
          <a:p>
            <a:r>
              <a:rPr sz="1500" b="1">
                <a:solidFill>
                  <a:srgbClr val="E8EEF4"/>
                </a:solidFill>
                <a:latin typeface="Inter"/>
                <a:ea typeface="Inter"/>
                <a:cs typeface="Inter"/>
              </a:rPr>
              <a:t>Changed lines → functions</a:t>
            </a:r>
          </a:p>
        </p:txBody>
      </p:sp>
      <p:sp>
        <p:nvSpPr>
          <p:cNvPr id="16" name="TextBox 15"/>
          <p:cNvSpPr txBox="1"/>
          <p:nvPr/>
        </p:nvSpPr>
        <p:spPr>
          <a:xfrm>
            <a:off x="8479165" y="2710000"/>
            <a:ext cx="2700000" cy="480000"/>
          </a:xfrm>
          <a:prstGeom prst="rect">
            <a:avLst/>
          </a:prstGeom>
          <a:noFill/>
        </p:spPr>
        <p:txBody>
          <a:bodyPr wrap="square" lIns="0" tIns="0" rIns="0" bIns="0">
            <a:spAutoFit/>
          </a:bodyPr>
          <a:lstStyle/>
          <a:p>
            <a:r>
              <a:rPr sz="1100" b="0">
                <a:solidFill>
                  <a:srgbClr val="B8C7D3"/>
                </a:solidFill>
                <a:latin typeface="Inter"/>
                <a:ea typeface="Inter"/>
                <a:cs typeface="Inter"/>
              </a:rPr>
              <a:t>Read with the TypeScript compiler.</a:t>
            </a:r>
          </a:p>
        </p:txBody>
      </p:sp>
      <p:sp>
        <p:nvSpPr>
          <p:cNvPr id="17" name="Rounded Rectangle 16"/>
          <p:cNvSpPr/>
          <p:nvPr/>
        </p:nvSpPr>
        <p:spPr>
          <a:xfrm>
            <a:off x="8279165" y="3800000"/>
            <a:ext cx="3100000" cy="1400000"/>
          </a:xfrm>
          <a:prstGeom prst="roundRect">
            <a:avLst>
              <a:gd name="adj" fmla="val 6000"/>
            </a:avLst>
          </a:prstGeom>
          <a:solidFill>
            <a:srgbClr val="0B3042"/>
          </a:solidFill>
          <a:ln w="12700">
            <a:solidFill>
              <a:srgbClr val="1F425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79165" y="3970000"/>
            <a:ext cx="2700000" cy="220000"/>
          </a:xfrm>
          <a:prstGeom prst="rect">
            <a:avLst/>
          </a:prstGeom>
          <a:noFill/>
        </p:spPr>
        <p:txBody>
          <a:bodyPr wrap="square" lIns="0" tIns="0" rIns="0" bIns="0">
            <a:spAutoFit/>
          </a:bodyPr>
          <a:lstStyle/>
          <a:p>
            <a:r>
              <a:rPr sz="1100" b="0" spc="80">
                <a:solidFill>
                  <a:srgbClr val="C9682C"/>
                </a:solidFill>
                <a:latin typeface="Oswald"/>
                <a:ea typeface="Oswald"/>
                <a:cs typeface="Oswald"/>
              </a:rPr>
              <a:t>4  </a:t>
            </a:r>
            <a:r>
              <a:rPr sz="1100" b="0" spc="80">
                <a:solidFill>
                  <a:srgbClr val="93A6B6"/>
                </a:solidFill>
                <a:latin typeface="Oswald"/>
                <a:ea typeface="Oswald"/>
                <a:cs typeface="Oswald"/>
              </a:rPr>
              <a:t>WHICH RULES USE THEM?</a:t>
            </a:r>
          </a:p>
        </p:txBody>
      </p:sp>
      <p:sp>
        <p:nvSpPr>
          <p:cNvPr id="19" name="TextBox 18"/>
          <p:cNvSpPr txBox="1"/>
          <p:nvPr/>
        </p:nvSpPr>
        <p:spPr>
          <a:xfrm>
            <a:off x="8479165" y="4270000"/>
            <a:ext cx="2700000" cy="360000"/>
          </a:xfrm>
          <a:prstGeom prst="rect">
            <a:avLst/>
          </a:prstGeom>
          <a:noFill/>
        </p:spPr>
        <p:txBody>
          <a:bodyPr wrap="square" lIns="0" tIns="0" rIns="0" bIns="0">
            <a:spAutoFit/>
          </a:bodyPr>
          <a:lstStyle/>
          <a:p>
            <a:r>
              <a:rPr sz="1500" b="1">
                <a:solidFill>
                  <a:srgbClr val="E8EEF4"/>
                </a:solidFill>
                <a:latin typeface="Inter"/>
                <a:ea typeface="Inter"/>
                <a:cs typeface="Inter"/>
              </a:rPr>
              <a:t>ontology/gates/&lt;rule&gt;.json</a:t>
            </a:r>
          </a:p>
        </p:txBody>
      </p:sp>
      <p:sp>
        <p:nvSpPr>
          <p:cNvPr id="20" name="TextBox 19"/>
          <p:cNvSpPr txBox="1"/>
          <p:nvPr/>
        </p:nvSpPr>
        <p:spPr>
          <a:xfrm>
            <a:off x="8479165" y="4660000"/>
            <a:ext cx="2700000" cy="480000"/>
          </a:xfrm>
          <a:prstGeom prst="rect">
            <a:avLst/>
          </a:prstGeom>
          <a:noFill/>
        </p:spPr>
        <p:txBody>
          <a:bodyPr wrap="square" lIns="0" tIns="0" rIns="0" bIns="0">
            <a:spAutoFit/>
          </a:bodyPr>
          <a:lstStyle/>
          <a:p>
            <a:r>
              <a:rPr sz="1100" b="0">
                <a:solidFill>
                  <a:srgbClr val="B8C7D3"/>
                </a:solidFill>
                <a:latin typeface="Inter"/>
                <a:ea typeface="Inter"/>
                <a:cs typeface="Inter"/>
              </a:rPr>
              <a:t>Built from each rule’s test coverage. Nobody types it.</a:t>
            </a:r>
          </a:p>
        </p:txBody>
      </p:sp>
      <p:sp>
        <p:nvSpPr>
          <p:cNvPr id="21" name="Rounded Rectangle 20"/>
          <p:cNvSpPr/>
          <p:nvPr/>
        </p:nvSpPr>
        <p:spPr>
          <a:xfrm>
            <a:off x="4545970" y="3800000"/>
            <a:ext cx="3100000" cy="1400000"/>
          </a:xfrm>
          <a:prstGeom prst="roundRect">
            <a:avLst>
              <a:gd name="adj" fmla="val 6000"/>
            </a:avLst>
          </a:prstGeom>
          <a:solidFill>
            <a:srgbClr val="0B3042"/>
          </a:solidFill>
          <a:ln w="12700">
            <a:solidFill>
              <a:srgbClr val="1F425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745970" y="3970000"/>
            <a:ext cx="2700000" cy="220000"/>
          </a:xfrm>
          <a:prstGeom prst="rect">
            <a:avLst/>
          </a:prstGeom>
          <a:noFill/>
        </p:spPr>
        <p:txBody>
          <a:bodyPr wrap="square" lIns="0" tIns="0" rIns="0" bIns="0">
            <a:spAutoFit/>
          </a:bodyPr>
          <a:lstStyle/>
          <a:p>
            <a:r>
              <a:rPr sz="1100" b="0" spc="80">
                <a:solidFill>
                  <a:srgbClr val="C9682C"/>
                </a:solidFill>
                <a:latin typeface="Oswald"/>
                <a:ea typeface="Oswald"/>
                <a:cs typeface="Oswald"/>
              </a:rPr>
              <a:t>5  </a:t>
            </a:r>
            <a:r>
              <a:rPr sz="1100" b="0" spc="80">
                <a:solidFill>
                  <a:srgbClr val="93A6B6"/>
                </a:solidFill>
                <a:latin typeface="Oswald"/>
                <a:ea typeface="Oswald"/>
                <a:cs typeface="Oswald"/>
              </a:rPr>
              <a:t>RUN THOSE RULES’ TESTS</a:t>
            </a:r>
          </a:p>
        </p:txBody>
      </p:sp>
      <p:sp>
        <p:nvSpPr>
          <p:cNvPr id="23" name="TextBox 22"/>
          <p:cNvSpPr txBox="1"/>
          <p:nvPr/>
        </p:nvSpPr>
        <p:spPr>
          <a:xfrm>
            <a:off x="4745970" y="4270000"/>
            <a:ext cx="2700000" cy="360000"/>
          </a:xfrm>
          <a:prstGeom prst="rect">
            <a:avLst/>
          </a:prstGeom>
          <a:noFill/>
        </p:spPr>
        <p:txBody>
          <a:bodyPr wrap="square" lIns="0" tIns="0" rIns="0" bIns="0">
            <a:spAutoFit/>
          </a:bodyPr>
          <a:lstStyle/>
          <a:p>
            <a:r>
              <a:rPr sz="1500" b="1">
                <a:solidFill>
                  <a:srgbClr val="E8EEF4"/>
                </a:solidFill>
                <a:latin typeface="Inter"/>
                <a:ea typeface="Inter"/>
                <a:cs typeface="Inter"/>
              </a:rPr>
              <a:t>fit.test.ts → casing rule</a:t>
            </a:r>
          </a:p>
        </p:txBody>
      </p:sp>
      <p:sp>
        <p:nvSpPr>
          <p:cNvPr id="24" name="TextBox 23"/>
          <p:cNvSpPr txBox="1"/>
          <p:nvPr/>
        </p:nvSpPr>
        <p:spPr>
          <a:xfrm>
            <a:off x="4745970" y="4660000"/>
            <a:ext cx="2700000" cy="480000"/>
          </a:xfrm>
          <a:prstGeom prst="rect">
            <a:avLst/>
          </a:prstGeom>
          <a:noFill/>
        </p:spPr>
        <p:txBody>
          <a:bodyPr wrap="square" lIns="0" tIns="0" rIns="0" bIns="0">
            <a:spAutoFit/>
          </a:bodyPr>
          <a:lstStyle/>
          <a:p>
            <a:r>
              <a:rPr sz="1100" b="0">
                <a:solidFill>
                  <a:srgbClr val="B8C7D3"/>
                </a:solidFill>
                <a:latin typeface="Inter"/>
                <a:ea typeface="Inter"/>
                <a:cs typeface="Inter"/>
              </a:rPr>
              <a:t>Only the tests of the rules this change touched.</a:t>
            </a:r>
          </a:p>
        </p:txBody>
      </p:sp>
      <p:sp>
        <p:nvSpPr>
          <p:cNvPr id="25" name="Rounded Rectangle 24"/>
          <p:cNvSpPr/>
          <p:nvPr/>
        </p:nvSpPr>
        <p:spPr>
          <a:xfrm>
            <a:off x="812775" y="3800000"/>
            <a:ext cx="3100000" cy="640000"/>
          </a:xfrm>
          <a:prstGeom prst="roundRect">
            <a:avLst>
              <a:gd name="adj" fmla="val 6000"/>
            </a:avLst>
          </a:prstGeom>
          <a:solidFill>
            <a:srgbClr val="0B3042"/>
          </a:solidFill>
          <a:ln w="12700">
            <a:solidFill>
              <a:srgbClr val="1F425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12775" y="3800000"/>
            <a:ext cx="2700000" cy="640000"/>
          </a:xfrm>
          <a:prstGeom prst="rect">
            <a:avLst/>
          </a:prstGeom>
          <a:noFill/>
        </p:spPr>
        <p:txBody>
          <a:bodyPr wrap="square" lIns="0" tIns="0" rIns="0" bIns="0" anchor="ctr">
            <a:spAutoFit/>
          </a:bodyPr>
          <a:lstStyle/>
          <a:p>
            <a:r>
              <a:rPr sz="1300" b="0">
                <a:solidFill>
                  <a:srgbClr val="93A6B6"/>
                </a:solidFill>
                <a:latin typeface="Oswald"/>
                <a:ea typeface="Oswald"/>
                <a:cs typeface="Oswald"/>
              </a:rPr>
              <a:t>PASS  </a:t>
            </a:r>
            <a:r>
              <a:rPr sz="1300" b="0">
                <a:solidFill>
                  <a:srgbClr val="E8EEF4"/>
                </a:solidFill>
                <a:latin typeface="Inter"/>
                <a:ea typeface="Inter"/>
                <a:cs typeface="Inter"/>
              </a:rPr>
              <a:t>CLEAN, the turn ends</a:t>
            </a:r>
          </a:p>
        </p:txBody>
      </p:sp>
      <p:sp>
        <p:nvSpPr>
          <p:cNvPr id="27" name="Rounded Rectangle 26"/>
          <p:cNvSpPr/>
          <p:nvPr/>
        </p:nvSpPr>
        <p:spPr>
          <a:xfrm>
            <a:off x="812775" y="4560000"/>
            <a:ext cx="3100000" cy="640000"/>
          </a:xfrm>
          <a:prstGeom prst="roundRect">
            <a:avLst>
              <a:gd name="adj" fmla="val 6000"/>
            </a:avLst>
          </a:prstGeom>
          <a:solidFill>
            <a:srgbClr val="0B3042"/>
          </a:solidFill>
          <a:ln w="19050">
            <a:solidFill>
              <a:srgbClr val="C9682C"/>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12775" y="4560000"/>
            <a:ext cx="2700000" cy="640000"/>
          </a:xfrm>
          <a:prstGeom prst="rect">
            <a:avLst/>
          </a:prstGeom>
          <a:noFill/>
        </p:spPr>
        <p:txBody>
          <a:bodyPr wrap="square" lIns="0" tIns="0" rIns="0" bIns="0" anchor="ctr">
            <a:spAutoFit/>
          </a:bodyPr>
          <a:lstStyle/>
          <a:p>
            <a:r>
              <a:rPr sz="1300" b="0">
                <a:solidFill>
                  <a:srgbClr val="C9682C"/>
                </a:solidFill>
                <a:latin typeface="Oswald"/>
                <a:ea typeface="Oswald"/>
                <a:cs typeface="Oswald"/>
              </a:rPr>
              <a:t>FAIL OR NOT RUN  </a:t>
            </a:r>
            <a:r>
              <a:rPr sz="1300" b="0">
                <a:solidFill>
                  <a:srgbClr val="E8EEF4"/>
                </a:solidFill>
                <a:latin typeface="Inter"/>
                <a:ea typeface="Inter"/>
                <a:cs typeface="Inter"/>
              </a:rPr>
              <a:t>blocked, rule quoted back to the model</a:t>
            </a:r>
          </a:p>
        </p:txBody>
      </p:sp>
      <p:sp>
        <p:nvSpPr>
          <p:cNvPr id="29" name="Right Arrow 28"/>
          <p:cNvSpPr/>
          <p:nvPr/>
        </p:nvSpPr>
        <p:spPr>
          <a:xfrm>
            <a:off x="4052775" y="2470000"/>
            <a:ext cx="353195" cy="160000"/>
          </a:xfrm>
          <a:prstGeom prst="rightArrow">
            <a:avLst/>
          </a:prstGeom>
          <a:solidFill>
            <a:srgbClr val="C9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29"/>
          <p:cNvSpPr/>
          <p:nvPr/>
        </p:nvSpPr>
        <p:spPr>
          <a:xfrm>
            <a:off x="7785970" y="2470000"/>
            <a:ext cx="353195" cy="160000"/>
          </a:xfrm>
          <a:prstGeom prst="rightArrow">
            <a:avLst/>
          </a:prstGeom>
          <a:solidFill>
            <a:srgbClr val="C9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wn Arrow 30"/>
          <p:cNvSpPr/>
          <p:nvPr/>
        </p:nvSpPr>
        <p:spPr>
          <a:xfrm>
            <a:off x="9749165" y="3400000"/>
            <a:ext cx="160000" cy="250000"/>
          </a:xfrm>
          <a:prstGeom prst="downArrow">
            <a:avLst/>
          </a:prstGeom>
          <a:solidFill>
            <a:srgbClr val="C9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009165" y="3400000"/>
            <a:ext cx="1700000" cy="250000"/>
          </a:xfrm>
          <a:prstGeom prst="rect">
            <a:avLst/>
          </a:prstGeom>
          <a:noFill/>
        </p:spPr>
        <p:txBody>
          <a:bodyPr wrap="square" lIns="0" tIns="0" rIns="0" bIns="0" anchor="ctr">
            <a:spAutoFit/>
          </a:bodyPr>
          <a:lstStyle/>
          <a:p>
            <a:r>
              <a:rPr sz="1000" b="0">
                <a:solidFill>
                  <a:srgbClr val="C9682C"/>
                </a:solidFill>
                <a:latin typeface="JetBrains Mono"/>
                <a:ea typeface="JetBrains Mono"/>
                <a:cs typeface="JetBrains Mono"/>
              </a:rPr>
              <a:t>steps 3–5 run at the end of the turn</a:t>
            </a:r>
          </a:p>
        </p:txBody>
      </p:sp>
      <p:sp>
        <p:nvSpPr>
          <p:cNvPr id="33" name="Left Arrow 32"/>
          <p:cNvSpPr/>
          <p:nvPr/>
        </p:nvSpPr>
        <p:spPr>
          <a:xfrm>
            <a:off x="7785970" y="4420000"/>
            <a:ext cx="353195" cy="160000"/>
          </a:xfrm>
          <a:prstGeom prst="leftArrow">
            <a:avLst/>
          </a:prstGeom>
          <a:solidFill>
            <a:srgbClr val="C9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eft Arrow 33"/>
          <p:cNvSpPr/>
          <p:nvPr/>
        </p:nvSpPr>
        <p:spPr>
          <a:xfrm>
            <a:off x="4052775" y="4420000"/>
            <a:ext cx="353195" cy="160000"/>
          </a:xfrm>
          <a:prstGeom prst="leftArrow">
            <a:avLst/>
          </a:prstGeom>
          <a:solidFill>
            <a:srgbClr val="C9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2775" y="5500000"/>
            <a:ext cx="10566390" cy="300000"/>
          </a:xfrm>
          <a:prstGeom prst="rect">
            <a:avLst/>
          </a:prstGeom>
          <a:noFill/>
        </p:spPr>
        <p:txBody>
          <a:bodyPr wrap="square" lIns="0" tIns="0" rIns="0" bIns="0">
            <a:spAutoFit/>
          </a:bodyPr>
          <a:lstStyle/>
          <a:p>
            <a:r>
              <a:rPr sz="1400" b="0">
                <a:solidFill>
                  <a:srgbClr val="B8C7D3"/>
                </a:solidFill>
                <a:latin typeface="Inter"/>
                <a:ea typeface="Inter"/>
                <a:cs typeface="Inter"/>
              </a:rPr>
              <a:t>Every step is logged to </a:t>
            </a:r>
            <a:r>
              <a:rPr sz="1400" b="0">
                <a:solidFill>
                  <a:srgbClr val="E8EEF4"/>
                </a:solidFill>
                <a:latin typeface="JetBrains Mono"/>
                <a:ea typeface="JetBrains Mono"/>
                <a:cs typeface="JetBrains Mono"/>
              </a:rPr>
              <a:t>.claude/ontology-state.jsonl</a:t>
            </a:r>
            <a:r>
              <a:rPr sz="1400" b="0">
                <a:solidFill>
                  <a:srgbClr val="B8C7D3"/>
                </a:solidFill>
                <a:latin typeface="Inter"/>
                <a:ea typeface="Inter"/>
                <a:cs typeface="Inter"/>
              </a:rPr>
              <a:t>. The mod shows it.</a:t>
            </a:r>
          </a:p>
        </p:txBody>
      </p:sp>
      <p:sp>
        <p:nvSpPr>
          <p:cNvPr id="36" name="TextBox 35"/>
          <p:cNvSpPr txBox="1"/>
          <p:nvPr/>
        </p:nvSpPr>
        <p:spPr>
          <a:xfrm>
            <a:off x="812775" y="5900000"/>
            <a:ext cx="10566390" cy="300000"/>
          </a:xfrm>
          <a:prstGeom prst="rect">
            <a:avLst/>
          </a:prstGeom>
          <a:noFill/>
        </p:spPr>
        <p:txBody>
          <a:bodyPr wrap="square" lIns="0" tIns="0" rIns="0" bIns="0">
            <a:spAutoFit/>
          </a:bodyPr>
          <a:lstStyle/>
          <a:p>
            <a:r>
              <a:rPr sz="1200" b="0" spc="150">
                <a:solidFill>
                  <a:srgbClr val="C9682C"/>
                </a:solidFill>
                <a:latin typeface="Oswald"/>
                <a:ea typeface="Oswald"/>
                <a:cs typeface="Oswald"/>
              </a:rPr>
              <a:t>THE CHECKER NEVER GUESSES. GOVERNS: SAYS WHICH FILES MATTER. THE RULE’S TEST SAYS WHICH FUNCTIONS.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75"/>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HOLDING THE MODEL TO IT · 1 OF 4</a:t>
            </a:r>
            <a:endParaRPr lang="en-US" sz="1200" dirty="0"/>
          </a:p>
        </p:txBody>
      </p:sp>
      <p:sp>
        <p:nvSpPr>
          <p:cNvPr id="4" name="Text 1"/>
          <p:cNvSpPr>
            <a:spLocks noGrp="1"/>
          </p:cNvSpPr>
          <p:nvPr>
            <p:ph type="title"/>
          </p:nvPr>
        </p:nvSpPr>
        <p:spPr>
          <a:xfrm>
            <a:off x="812775" y="1102296"/>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ANATOMY OF AN ONTOLOGY FILE</a:t>
            </a:r>
            <a:endParaRPr lang="en-US" sz="2800" dirty="0"/>
          </a:p>
        </p:txBody>
      </p:sp>
      <p:sp>
        <p:nvSpPr>
          <p:cNvPr id="5" name="Shape 2"/>
          <p:cNvSpPr/>
          <p:nvPr/>
        </p:nvSpPr>
        <p:spPr>
          <a:xfrm>
            <a:off x="819125" y="1720838"/>
            <a:ext cx="6210294" cy="3987774"/>
          </a:xfrm>
          <a:prstGeom prst="roundRect">
            <a:avLst>
              <a:gd name="adj" fmla="val 2389"/>
            </a:avLst>
          </a:prstGeom>
          <a:solidFill>
            <a:srgbClr val="0F1F2A"/>
          </a:solidFill>
          <a:ln w="12700">
            <a:solidFill>
              <a:srgbClr val="0B3042"/>
            </a:solidFill>
            <a:prstDash val="solid"/>
          </a:ln>
        </p:spPr>
        <p:txBody>
          <a:bodyPr/>
          <a:lstStyle/>
          <a:p>
            <a:endParaRPr lang="en-US"/>
          </a:p>
        </p:txBody>
      </p:sp>
      <p:sp>
        <p:nvSpPr>
          <p:cNvPr id="6" name="Text 3"/>
          <p:cNvSpPr/>
          <p:nvPr/>
        </p:nvSpPr>
        <p:spPr>
          <a:xfrm>
            <a:off x="1053425" y="1904343"/>
            <a:ext cx="5913945" cy="2311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E8597"/>
                </a:solidFill>
                <a:latin typeface="JetBrains Mono" pitchFamily="49" charset="0"/>
                <a:ea typeface="JetBrains Mono" pitchFamily="49" charset="-122"/>
                <a:cs typeface="JetBrains Mono" pitchFamily="49" charset="-120"/>
              </a:rPr>
              <a:t>ontology/fit.md</a:t>
            </a:r>
            <a:endParaRPr lang="en-US" sz="1200" dirty="0"/>
          </a:p>
        </p:txBody>
      </p:sp>
      <p:sp>
        <p:nvSpPr>
          <p:cNvPr id="7" name="Text 4"/>
          <p:cNvSpPr/>
          <p:nvPr/>
        </p:nvSpPr>
        <p:spPr>
          <a:xfrm>
            <a:off x="1053425" y="2110085"/>
            <a:ext cx="5913945" cy="331725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domain: hole-fit</a:t>
            </a:r>
            <a:endParaRPr lang="en-US" sz="1200" dirty="0"/>
          </a:p>
          <a:p>
            <a:pPr marL="0" indent="0" algn="l">
              <a:lnSpc>
                <a:spcPts val="1620"/>
              </a:lnSpc>
              <a:buNone/>
            </a:pPr>
            <a:r>
              <a:rPr lang="en-US" sz="1200" dirty="0">
                <a:solidFill>
                  <a:srgbClr val="C9682C"/>
                </a:solidFill>
                <a:latin typeface="JetBrains Mono" pitchFamily="49" charset="0"/>
                <a:ea typeface="JetBrains Mono" pitchFamily="49" charset="-122"/>
                <a:cs typeface="JetBrains Mono" pitchFamily="49" charset="-120"/>
              </a:rPr>
              <a:t>governs:</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  - "src/fit.ts"</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a:t>
            </a:r>
            <a:endParaRPr lang="en-US" sz="1200" dirty="0"/>
          </a:p>
          <a:p>
            <a:pPr marL="0" indent="0" algn="l">
              <a:lnSpc>
                <a:spcPts val="1620"/>
              </a:lnSpc>
              <a:buNone/>
            </a:pPr>
            <a:r>
              <a:rPr lang="en-US" sz="1200" dirty="0">
                <a:solidFill>
                  <a:srgbClr val="6E8597"/>
                </a:solidFill>
                <a:latin typeface="JetBrains Mono" pitchFamily="49" charset="0"/>
                <a:ea typeface="JetBrains Mono" pitchFamily="49" charset="-122"/>
                <a:cs typeface="JetBrains Mono" pitchFamily="49" charset="-120"/>
              </a:rPr>
              <a:t>## Intent</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Decide whether casing fits the hole at one cross-section.</a:t>
            </a:r>
            <a:endParaRPr lang="en-US" sz="1200" dirty="0"/>
          </a:p>
          <a:p>
            <a:pPr marL="0" indent="0" algn="l">
              <a:lnSpc>
                <a:spcPts val="1620"/>
              </a:lnSpc>
              <a:buNone/>
            </a:pPr>
            <a:r>
              <a:rPr lang="en-US" sz="1200" dirty="0">
                <a:solidFill>
                  <a:srgbClr val="6E8597"/>
                </a:solidFill>
                <a:latin typeface="JetBrains Mono" pitchFamily="49" charset="0"/>
                <a:ea typeface="JetBrains Mono" pitchFamily="49" charset="-122"/>
                <a:cs typeface="JetBrains Mono" pitchFamily="49" charset="-120"/>
              </a:rPr>
              <a:t>## Entities · ## Relationships</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Hole · Casing · (Casing)-[INSIDE]-&gt;(Hole)</a:t>
            </a:r>
            <a:endParaRPr lang="en-US" sz="1200" dirty="0"/>
          </a:p>
          <a:p>
            <a:pPr marL="0" indent="0" algn="l">
              <a:lnSpc>
                <a:spcPts val="1620"/>
              </a:lnSpc>
              <a:buNone/>
            </a:pPr>
            <a:r>
              <a:rPr lang="en-US" sz="1200" dirty="0">
                <a:solidFill>
                  <a:srgbClr val="6E8597"/>
                </a:solidFill>
                <a:latin typeface="JetBrains Mono" pitchFamily="49" charset="0"/>
                <a:ea typeface="JetBrains Mono" pitchFamily="49" charset="-122"/>
                <a:cs typeface="JetBrains Mono" pitchFamily="49" charset="-120"/>
              </a:rPr>
              <a:t>## Invariants</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 Casing must be strictly smaller than the hole containing it.</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  Equal diameters do not fit. </a:t>
            </a:r>
            <a:r>
              <a:rPr lang="en-US" sz="1200" dirty="0">
                <a:solidFill>
                  <a:srgbClr val="C9682C"/>
                </a:solidFill>
                <a:latin typeface="JetBrains Mono" pitchFamily="49" charset="0"/>
                <a:ea typeface="JetBrains Mono" pitchFamily="49" charset="-122"/>
                <a:cs typeface="JetBrains Mono" pitchFamily="49" charset="-120"/>
              </a:rPr>
              <a:t>[gate: `fit.test.ts`]</a:t>
            </a:r>
            <a:endParaRPr lang="en-US" sz="1200" dirty="0"/>
          </a:p>
          <a:p>
            <a:pPr marL="0" indent="0" algn="l">
              <a:lnSpc>
                <a:spcPts val="1620"/>
              </a:lnSpc>
              <a:buNone/>
            </a:pPr>
            <a:r>
              <a:rPr lang="en-US" sz="1200" dirty="0">
                <a:solidFill>
                  <a:srgbClr val="6E8597"/>
                </a:solidFill>
                <a:latin typeface="JetBrains Mono" pitchFamily="49" charset="0"/>
                <a:ea typeface="JetBrains Mono" pitchFamily="49" charset="-122"/>
                <a:cs typeface="JetBrains Mono" pitchFamily="49" charset="-120"/>
              </a:rPr>
              <a:t>## Vocabulary</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 Fit: strictly smaller. No minimum clearance is added.</a:t>
            </a:r>
            <a:endParaRPr lang="en-US" sz="1200" dirty="0"/>
          </a:p>
          <a:p>
            <a:pPr marL="0" indent="0" algn="l">
              <a:lnSpc>
                <a:spcPts val="1620"/>
              </a:lnSpc>
              <a:buNone/>
            </a:pPr>
            <a:r>
              <a:rPr lang="en-US" sz="1200" dirty="0">
                <a:solidFill>
                  <a:srgbClr val="6E8597"/>
                </a:solidFill>
                <a:latin typeface="JetBrains Mono" pitchFamily="49" charset="0"/>
                <a:ea typeface="JetBrains Mono" pitchFamily="49" charset="-122"/>
                <a:cs typeface="JetBrains Mono" pitchFamily="49" charset="-120"/>
              </a:rPr>
              <a:t>## Out of scope</a:t>
            </a:r>
            <a:endParaRPr lang="en-US" sz="1200" dirty="0"/>
          </a:p>
          <a:p>
            <a:pPr marL="0" indent="0" algn="l">
              <a:lnSpc>
                <a:spcPts val="1620"/>
              </a:lnSpc>
              <a:buNone/>
            </a:pPr>
            <a:r>
              <a:rPr lang="en-US" sz="1200" dirty="0">
                <a:solidFill>
                  <a:srgbClr val="E8EEF4"/>
                </a:solidFill>
                <a:latin typeface="JetBrains Mono" pitchFamily="49" charset="0"/>
                <a:ea typeface="JetBrains Mono" pitchFamily="49" charset="-122"/>
                <a:cs typeface="JetBrains Mono" pitchFamily="49" charset="-120"/>
              </a:rPr>
              <a:t>- Input validation, depth overlap, engineering clearance.</a:t>
            </a:r>
            <a:endParaRPr lang="en-US" sz="1200" dirty="0"/>
          </a:p>
        </p:txBody>
      </p:sp>
      <p:sp>
        <p:nvSpPr>
          <p:cNvPr id="8" name="Shape 5"/>
          <p:cNvSpPr/>
          <p:nvPr/>
        </p:nvSpPr>
        <p:spPr>
          <a:xfrm>
            <a:off x="7315195" y="1714488"/>
            <a:ext cx="4063970" cy="1226742"/>
          </a:xfrm>
          <a:prstGeom prst="roundRect">
            <a:avLst>
              <a:gd name="adj" fmla="val 8282"/>
            </a:avLst>
          </a:prstGeom>
          <a:solidFill>
            <a:srgbClr val="0B3042"/>
          </a:solidFill>
          <a:ln/>
        </p:spPr>
        <p:txBody>
          <a:bodyPr/>
          <a:lstStyle/>
          <a:p>
            <a:endParaRPr lang="en-US"/>
          </a:p>
        </p:txBody>
      </p:sp>
      <p:sp>
        <p:nvSpPr>
          <p:cNvPr id="9" name="Shape 6"/>
          <p:cNvSpPr/>
          <p:nvPr/>
        </p:nvSpPr>
        <p:spPr>
          <a:xfrm>
            <a:off x="7315195" y="1714488"/>
            <a:ext cx="4063970" cy="1226742"/>
          </a:xfrm>
          <a:custGeom>
            <a:avLst/>
            <a:gdLst/>
            <a:ahLst/>
            <a:cxnLst/>
            <a:rect l="l" t="t" r="r" b="b"/>
            <a:pathLst>
              <a:path w="4063970" h="1226742">
                <a:moveTo>
                  <a:pt x="101600" y="1226742"/>
                </a:moveTo>
                <a:lnTo>
                  <a:pt x="101600" y="1226742"/>
                </a:lnTo>
                <a:arcTo wR="101600" hR="101600" stAng="5400000" swAng="5400000"/>
                <a:lnTo>
                  <a:pt x="0" y="101600"/>
                </a:lnTo>
                <a:arcTo wR="101600" hR="101600" stAng="10800000" swAng="5400000"/>
                <a:lnTo>
                  <a:pt x="101600" y="0"/>
                </a:lnTo>
                <a:arcTo wR="50800" hR="101600" stAng="16200000" swAng="-5400000"/>
                <a:lnTo>
                  <a:pt x="50800" y="1125142"/>
                </a:lnTo>
                <a:arcTo wR="50800" hR="101600" stAng="10800000" swAng="-5400000"/>
                <a:close/>
              </a:path>
            </a:pathLst>
          </a:custGeom>
          <a:solidFill>
            <a:srgbClr val="C9682C"/>
          </a:solidFill>
          <a:ln/>
        </p:spPr>
        <p:txBody>
          <a:bodyPr/>
          <a:lstStyle/>
          <a:p>
            <a:endParaRPr lang="en-US"/>
          </a:p>
        </p:txBody>
      </p:sp>
      <p:sp>
        <p:nvSpPr>
          <p:cNvPr id="10" name="Text 7"/>
          <p:cNvSpPr/>
          <p:nvPr/>
        </p:nvSpPr>
        <p:spPr>
          <a:xfrm>
            <a:off x="7568709" y="1866863"/>
            <a:ext cx="3715481"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682C"/>
                </a:solidFill>
                <a:latin typeface="JetBrains Mono" pitchFamily="49" charset="0"/>
                <a:ea typeface="JetBrains Mono" pitchFamily="49" charset="-122"/>
                <a:cs typeface="JetBrains Mono" pitchFamily="49" charset="-120"/>
              </a:rPr>
              <a:t>governs:</a:t>
            </a:r>
            <a:endParaRPr lang="en-US" sz="1300" dirty="0"/>
          </a:p>
        </p:txBody>
      </p:sp>
      <p:sp>
        <p:nvSpPr>
          <p:cNvPr id="11" name="Text 8"/>
          <p:cNvSpPr/>
          <p:nvPr/>
        </p:nvSpPr>
        <p:spPr>
          <a:xfrm>
            <a:off x="7568709" y="2148805"/>
            <a:ext cx="3715481" cy="665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EF4"/>
                </a:solidFill>
                <a:latin typeface="Inter" pitchFamily="34" charset="0"/>
                <a:ea typeface="Inter" pitchFamily="34" charset="-122"/>
                <a:cs typeface="Inter" pitchFamily="34" charset="-120"/>
              </a:rPr>
              <a:t>The code that must move with this file. Change it without changing the ontology, and the turn is blocked.</a:t>
            </a:r>
            <a:endParaRPr lang="en-US" sz="1200" dirty="0"/>
          </a:p>
        </p:txBody>
      </p:sp>
      <p:sp>
        <p:nvSpPr>
          <p:cNvPr id="12" name="Shape 9"/>
          <p:cNvSpPr/>
          <p:nvPr/>
        </p:nvSpPr>
        <p:spPr>
          <a:xfrm>
            <a:off x="7315195" y="3047963"/>
            <a:ext cx="4063970" cy="1013390"/>
          </a:xfrm>
          <a:prstGeom prst="roundRect">
            <a:avLst>
              <a:gd name="adj" fmla="val 10026"/>
            </a:avLst>
          </a:prstGeom>
          <a:solidFill>
            <a:srgbClr val="0B3042"/>
          </a:solidFill>
          <a:ln/>
        </p:spPr>
        <p:txBody>
          <a:bodyPr/>
          <a:lstStyle/>
          <a:p>
            <a:endParaRPr lang="en-US"/>
          </a:p>
        </p:txBody>
      </p:sp>
      <p:sp>
        <p:nvSpPr>
          <p:cNvPr id="13" name="Shape 10"/>
          <p:cNvSpPr/>
          <p:nvPr/>
        </p:nvSpPr>
        <p:spPr>
          <a:xfrm>
            <a:off x="7315195" y="3047963"/>
            <a:ext cx="4063970" cy="1013390"/>
          </a:xfrm>
          <a:custGeom>
            <a:avLst/>
            <a:gdLst/>
            <a:ahLst/>
            <a:cxnLst/>
            <a:rect l="l" t="t" r="r" b="b"/>
            <a:pathLst>
              <a:path w="4063970" h="1013390">
                <a:moveTo>
                  <a:pt x="101600" y="1013390"/>
                </a:moveTo>
                <a:lnTo>
                  <a:pt x="101600" y="1013390"/>
                </a:lnTo>
                <a:arcTo wR="101600" hR="101600" stAng="5400000" swAng="5400000"/>
                <a:lnTo>
                  <a:pt x="0" y="101600"/>
                </a:lnTo>
                <a:arcTo wR="101600" hR="101600" stAng="10800000" swAng="5400000"/>
                <a:lnTo>
                  <a:pt x="101600" y="0"/>
                </a:lnTo>
                <a:arcTo wR="50800" hR="101600" stAng="16200000" swAng="-5400000"/>
                <a:lnTo>
                  <a:pt x="50800" y="911790"/>
                </a:lnTo>
                <a:arcTo wR="50800" hR="101600" stAng="10800000" swAng="-5400000"/>
                <a:close/>
              </a:path>
            </a:pathLst>
          </a:custGeom>
          <a:solidFill>
            <a:srgbClr val="C9682C"/>
          </a:solidFill>
          <a:ln/>
        </p:spPr>
        <p:txBody>
          <a:bodyPr/>
          <a:lstStyle/>
          <a:p>
            <a:endParaRPr lang="en-US"/>
          </a:p>
        </p:txBody>
      </p:sp>
      <p:sp>
        <p:nvSpPr>
          <p:cNvPr id="14" name="Text 11"/>
          <p:cNvSpPr/>
          <p:nvPr/>
        </p:nvSpPr>
        <p:spPr>
          <a:xfrm>
            <a:off x="7568709" y="3200338"/>
            <a:ext cx="3715481"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682C"/>
                </a:solidFill>
                <a:latin typeface="JetBrains Mono" pitchFamily="49" charset="0"/>
                <a:ea typeface="JetBrains Mono" pitchFamily="49" charset="-122"/>
                <a:cs typeface="JetBrains Mono" pitchFamily="49" charset="-120"/>
              </a:rPr>
              <a:t>[gate: …]</a:t>
            </a:r>
            <a:endParaRPr lang="en-US" sz="1300" dirty="0"/>
          </a:p>
        </p:txBody>
      </p:sp>
      <p:sp>
        <p:nvSpPr>
          <p:cNvPr id="15" name="Text 12"/>
          <p:cNvSpPr/>
          <p:nvPr/>
        </p:nvSpPr>
        <p:spPr>
          <a:xfrm>
            <a:off x="7568709" y="3482280"/>
            <a:ext cx="3715481" cy="4521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EF4"/>
                </a:solidFill>
                <a:latin typeface="Inter" pitchFamily="34" charset="0"/>
                <a:ea typeface="Inter" pitchFamily="34" charset="-122"/>
                <a:cs typeface="Inter" pitchFamily="34" charset="-120"/>
              </a:rPr>
              <a:t>Names the test that enforces the rule. An invariant with no gate is a wish.</a:t>
            </a:r>
            <a:endParaRPr lang="en-US" sz="1200" dirty="0"/>
          </a:p>
        </p:txBody>
      </p:sp>
      <p:sp>
        <p:nvSpPr>
          <p:cNvPr id="16" name="Shape 13"/>
          <p:cNvSpPr/>
          <p:nvPr/>
        </p:nvSpPr>
        <p:spPr>
          <a:xfrm>
            <a:off x="7315195" y="4127500"/>
            <a:ext cx="4063970" cy="1013390"/>
          </a:xfrm>
          <a:prstGeom prst="roundRect">
            <a:avLst>
              <a:gd name="adj" fmla="val 10026"/>
            </a:avLst>
          </a:prstGeom>
          <a:solidFill>
            <a:srgbClr val="0B3042"/>
          </a:solidFill>
          <a:ln/>
        </p:spPr>
        <p:txBody>
          <a:bodyPr/>
          <a:lstStyle/>
          <a:p>
            <a:endParaRPr lang="en-US"/>
          </a:p>
        </p:txBody>
      </p:sp>
      <p:sp>
        <p:nvSpPr>
          <p:cNvPr id="17" name="Shape 14"/>
          <p:cNvSpPr/>
          <p:nvPr/>
        </p:nvSpPr>
        <p:spPr>
          <a:xfrm>
            <a:off x="7315195" y="4127500"/>
            <a:ext cx="4063970" cy="1013390"/>
          </a:xfrm>
          <a:custGeom>
            <a:avLst/>
            <a:gdLst/>
            <a:ahLst/>
            <a:cxnLst/>
            <a:rect l="l" t="t" r="r" b="b"/>
            <a:pathLst>
              <a:path w="4063970" h="1013390">
                <a:moveTo>
                  <a:pt x="101600" y="1013390"/>
                </a:moveTo>
                <a:lnTo>
                  <a:pt x="101600" y="1013390"/>
                </a:lnTo>
                <a:arcTo wR="101600" hR="101600" stAng="5400000" swAng="5400000"/>
                <a:lnTo>
                  <a:pt x="0" y="101600"/>
                </a:lnTo>
                <a:arcTo wR="101600" hR="101600" stAng="10800000" swAng="5400000"/>
                <a:lnTo>
                  <a:pt x="101600" y="0"/>
                </a:lnTo>
                <a:arcTo wR="50800" hR="101600" stAng="16200000" swAng="-5400000"/>
                <a:lnTo>
                  <a:pt x="50800" y="911790"/>
                </a:lnTo>
                <a:arcTo wR="50800" hR="101600" stAng="10800000" swAng="-5400000"/>
                <a:close/>
              </a:path>
            </a:pathLst>
          </a:custGeom>
          <a:solidFill>
            <a:srgbClr val="C9682C"/>
          </a:solidFill>
          <a:ln/>
        </p:spPr>
        <p:txBody>
          <a:bodyPr/>
          <a:lstStyle/>
          <a:p>
            <a:endParaRPr lang="en-US"/>
          </a:p>
        </p:txBody>
      </p:sp>
      <p:sp>
        <p:nvSpPr>
          <p:cNvPr id="18" name="Text 15"/>
          <p:cNvSpPr/>
          <p:nvPr/>
        </p:nvSpPr>
        <p:spPr>
          <a:xfrm>
            <a:off x="7568709" y="4279863"/>
            <a:ext cx="3715481" cy="256552"/>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C9682C"/>
                </a:solidFill>
                <a:latin typeface="Oswald" pitchFamily="34" charset="0"/>
                <a:ea typeface="Oswald" pitchFamily="34" charset="-122"/>
                <a:cs typeface="Oswald" pitchFamily="34" charset="-120"/>
              </a:rPr>
              <a:t>VOCABULARY · OUT OF SCOPE</a:t>
            </a:r>
            <a:endParaRPr lang="en-US" sz="1300" dirty="0"/>
          </a:p>
        </p:txBody>
      </p:sp>
      <p:sp>
        <p:nvSpPr>
          <p:cNvPr id="19" name="Text 16"/>
          <p:cNvSpPr/>
          <p:nvPr/>
        </p:nvSpPr>
        <p:spPr>
          <a:xfrm>
            <a:off x="7568709" y="4561805"/>
            <a:ext cx="3715481" cy="4521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EF4"/>
                </a:solidFill>
                <a:latin typeface="Inter" pitchFamily="34" charset="0"/>
                <a:ea typeface="Inter" pitchFamily="34" charset="-122"/>
                <a:cs typeface="Inter" pitchFamily="34" charset="-120"/>
              </a:rPr>
              <a:t>What a word does </a:t>
            </a:r>
            <a:r>
              <a:rPr lang="en-US" sz="1200" i="1" dirty="0">
                <a:solidFill>
                  <a:srgbClr val="E8EEF4"/>
                </a:solidFill>
                <a:latin typeface="Inter" pitchFamily="34" charset="0"/>
                <a:ea typeface="Inter" pitchFamily="34" charset="-122"/>
                <a:cs typeface="Inter" pitchFamily="34" charset="-120"/>
              </a:rPr>
              <a:t>not</a:t>
            </a:r>
            <a:r>
              <a:rPr lang="en-US" sz="1200" dirty="0">
                <a:solidFill>
                  <a:srgbClr val="E8EEF4"/>
                </a:solidFill>
                <a:latin typeface="Inter" pitchFamily="34" charset="0"/>
                <a:ea typeface="Inter" pitchFamily="34" charset="-122"/>
                <a:cs typeface="Inter" pitchFamily="34" charset="-120"/>
              </a:rPr>
              <a:t> mean here, and where scope creep dies.</a:t>
            </a:r>
            <a:endParaRPr lang="en-US" sz="1200" dirty="0"/>
          </a:p>
        </p:txBody>
      </p:sp>
      <p:sp>
        <p:nvSpPr>
          <p:cNvPr id="20" name="Text 17"/>
          <p:cNvSpPr/>
          <p:nvPr/>
        </p:nvSpPr>
        <p:spPr>
          <a:xfrm>
            <a:off x="7315195" y="5270488"/>
            <a:ext cx="4185889" cy="25655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7D3"/>
                </a:solidFill>
                <a:latin typeface="Inter" pitchFamily="34" charset="0"/>
                <a:ea typeface="Inter" pitchFamily="34" charset="-122"/>
                <a:cs typeface="Inter" pitchFamily="34" charset="-120"/>
              </a:rPr>
              <a:t>Every line is something the model could violate.</a:t>
            </a:r>
            <a:endParaRPr lang="en-US" sz="1300" dirty="0"/>
          </a:p>
        </p:txBody>
      </p:sp>
      <p:sp>
        <p:nvSpPr>
          <p:cNvPr id="21" name="Wiring kicker"/>
          <p:cNvSpPr txBox="1"/>
          <p:nvPr/>
        </p:nvSpPr>
        <p:spPr>
          <a:xfrm>
            <a:off x="812775" y="5790000"/>
            <a:ext cx="10566390" cy="200000"/>
          </a:xfrm>
          <a:prstGeom prst="rect">
            <a:avLst/>
          </a:prstGeom>
          <a:noFill/>
        </p:spPr>
        <p:txBody>
          <a:bodyPr wrap="square" lIns="0" tIns="0" rIns="0" bIns="0">
            <a:spAutoFit/>
          </a:bodyPr>
          <a:lstStyle/>
          <a:p>
            <a:r>
              <a:rPr sz="1100" b="0" spc="300">
                <a:solidFill>
                  <a:srgbClr val="C9682C"/>
                </a:solidFill>
                <a:latin typeface="Oswald"/>
                <a:ea typeface="Oswald"/>
                <a:cs typeface="Oswald"/>
              </a:rPr>
              <a:t>HOW A RULE FINDS ITS CODE</a:t>
            </a:r>
          </a:p>
        </p:txBody>
      </p:sp>
      <p:sp>
        <p:nvSpPr>
          <p:cNvPr id="22" name="Wiring box 1"/>
          <p:cNvSpPr/>
          <p:nvPr/>
        </p:nvSpPr>
        <p:spPr>
          <a:xfrm>
            <a:off x="812775" y="6010000"/>
            <a:ext cx="3150000" cy="720000"/>
          </a:xfrm>
          <a:prstGeom prst="roundRect">
            <a:avLst>
              <a:gd name="adj" fmla="val 8000"/>
            </a:avLst>
          </a:prstGeom>
          <a:solidFill>
            <a:srgbClr val="0B3042"/>
          </a:solidFill>
          <a:ln w="12700">
            <a:solidFill>
              <a:srgbClr val="1F425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Wiring head 1"/>
          <p:cNvSpPr txBox="1"/>
          <p:nvPr/>
        </p:nvSpPr>
        <p:spPr>
          <a:xfrm>
            <a:off x="952775" y="6100000"/>
            <a:ext cx="2870000" cy="200000"/>
          </a:xfrm>
          <a:prstGeom prst="rect">
            <a:avLst/>
          </a:prstGeom>
          <a:noFill/>
        </p:spPr>
        <p:txBody>
          <a:bodyPr wrap="square" lIns="0" tIns="0" rIns="0" bIns="0">
            <a:spAutoFit/>
          </a:bodyPr>
          <a:lstStyle/>
          <a:p>
            <a:r>
              <a:rPr sz="1200" b="0">
                <a:solidFill>
                  <a:srgbClr val="E8EEF4"/>
                </a:solidFill>
                <a:latin typeface="JetBrains Mono"/>
                <a:ea typeface="JetBrains Mono"/>
                <a:cs typeface="JetBrains Mono"/>
              </a:rPr>
              <a:t>ontology/fit.md</a:t>
            </a:r>
          </a:p>
        </p:txBody>
      </p:sp>
      <p:sp>
        <p:nvSpPr>
          <p:cNvPr id="24" name="Wiring note 1"/>
          <p:cNvSpPr txBox="1"/>
          <p:nvPr/>
        </p:nvSpPr>
        <p:spPr>
          <a:xfrm>
            <a:off x="952775" y="6340000"/>
            <a:ext cx="2870000" cy="360000"/>
          </a:xfrm>
          <a:prstGeom prst="rect">
            <a:avLst/>
          </a:prstGeom>
          <a:noFill/>
        </p:spPr>
        <p:txBody>
          <a:bodyPr wrap="square" lIns="0" tIns="0" rIns="0" bIns="0">
            <a:spAutoFit/>
          </a:bodyPr>
          <a:lstStyle/>
          <a:p>
            <a:r>
              <a:rPr sz="1100" b="0">
                <a:solidFill>
                  <a:srgbClr val="B8C7D3"/>
                </a:solidFill>
                <a:latin typeface="Inter"/>
                <a:ea typeface="Inter"/>
                <a:cs typeface="Inter"/>
              </a:rPr>
              <a:t>[gate: `fit.test.ts`] names the test</a:t>
            </a:r>
          </a:p>
        </p:txBody>
      </p:sp>
      <p:sp>
        <p:nvSpPr>
          <p:cNvPr id="25" name="Wiring arrow 1"/>
          <p:cNvSpPr/>
          <p:nvPr/>
        </p:nvSpPr>
        <p:spPr>
          <a:xfrm>
            <a:off x="4082775" y="6300000"/>
            <a:ext cx="318195" cy="140000"/>
          </a:xfrm>
          <a:prstGeom prst="rightArrow">
            <a:avLst/>
          </a:prstGeom>
          <a:solidFill>
            <a:srgbClr val="C9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Wiring box 2"/>
          <p:cNvSpPr/>
          <p:nvPr/>
        </p:nvSpPr>
        <p:spPr>
          <a:xfrm>
            <a:off x="4520970" y="6010000"/>
            <a:ext cx="3150000" cy="720000"/>
          </a:xfrm>
          <a:prstGeom prst="roundRect">
            <a:avLst>
              <a:gd name="adj" fmla="val 8000"/>
            </a:avLst>
          </a:prstGeom>
          <a:solidFill>
            <a:srgbClr val="0B3042"/>
          </a:solidFill>
          <a:ln w="12700">
            <a:solidFill>
              <a:srgbClr val="1F425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Wiring head 2"/>
          <p:cNvSpPr txBox="1"/>
          <p:nvPr/>
        </p:nvSpPr>
        <p:spPr>
          <a:xfrm>
            <a:off x="4660970" y="6100000"/>
            <a:ext cx="2870000" cy="200000"/>
          </a:xfrm>
          <a:prstGeom prst="rect">
            <a:avLst/>
          </a:prstGeom>
          <a:noFill/>
        </p:spPr>
        <p:txBody>
          <a:bodyPr wrap="square" lIns="0" tIns="0" rIns="0" bIns="0">
            <a:spAutoFit/>
          </a:bodyPr>
          <a:lstStyle/>
          <a:p>
            <a:r>
              <a:rPr sz="1200" b="0">
                <a:solidFill>
                  <a:srgbClr val="E8EEF4"/>
                </a:solidFill>
                <a:latin typeface="JetBrains Mono"/>
                <a:ea typeface="JetBrains Mono"/>
                <a:cs typeface="JetBrains Mono"/>
              </a:rPr>
              <a:t>tests/fit.test.ts</a:t>
            </a:r>
          </a:p>
        </p:txBody>
      </p:sp>
      <p:sp>
        <p:nvSpPr>
          <p:cNvPr id="28" name="Wiring note 2"/>
          <p:cNvSpPr txBox="1"/>
          <p:nvPr/>
        </p:nvSpPr>
        <p:spPr>
          <a:xfrm>
            <a:off x="4660970" y="6340000"/>
            <a:ext cx="2870000" cy="360000"/>
          </a:xfrm>
          <a:prstGeom prst="rect">
            <a:avLst/>
          </a:prstGeom>
          <a:noFill/>
        </p:spPr>
        <p:txBody>
          <a:bodyPr wrap="square" lIns="0" tIns="0" rIns="0" bIns="0">
            <a:spAutoFit/>
          </a:bodyPr>
          <a:lstStyle/>
          <a:p>
            <a:r>
              <a:rPr sz="1100" b="0">
                <a:solidFill>
                  <a:srgbClr val="B8C7D3"/>
                </a:solidFill>
                <a:latin typeface="Inter"/>
                <a:ea typeface="Inter"/>
                <a:cs typeface="Inter"/>
              </a:rPr>
              <a:t>npm run gates:build runs it alone, with coverage</a:t>
            </a:r>
          </a:p>
        </p:txBody>
      </p:sp>
      <p:sp>
        <p:nvSpPr>
          <p:cNvPr id="29" name="Wiring arrow 2"/>
          <p:cNvSpPr/>
          <p:nvPr/>
        </p:nvSpPr>
        <p:spPr>
          <a:xfrm>
            <a:off x="7790970" y="6300000"/>
            <a:ext cx="318195" cy="140000"/>
          </a:xfrm>
          <a:prstGeom prst="rightArrow">
            <a:avLst/>
          </a:prstGeom>
          <a:solidFill>
            <a:srgbClr val="C9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Wiring box 3"/>
          <p:cNvSpPr/>
          <p:nvPr/>
        </p:nvSpPr>
        <p:spPr>
          <a:xfrm>
            <a:off x="8229165" y="6010000"/>
            <a:ext cx="3150000" cy="720000"/>
          </a:xfrm>
          <a:prstGeom prst="roundRect">
            <a:avLst>
              <a:gd name="adj" fmla="val 8000"/>
            </a:avLst>
          </a:prstGeom>
          <a:solidFill>
            <a:srgbClr val="0B3042"/>
          </a:solidFill>
          <a:ln w="12700">
            <a:solidFill>
              <a:srgbClr val="C9682C"/>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Wiring head 3"/>
          <p:cNvSpPr txBox="1"/>
          <p:nvPr/>
        </p:nvSpPr>
        <p:spPr>
          <a:xfrm>
            <a:off x="8369165" y="6100000"/>
            <a:ext cx="2870000" cy="200000"/>
          </a:xfrm>
          <a:prstGeom prst="rect">
            <a:avLst/>
          </a:prstGeom>
          <a:noFill/>
        </p:spPr>
        <p:txBody>
          <a:bodyPr wrap="square" lIns="0" tIns="0" rIns="0" bIns="0">
            <a:spAutoFit/>
          </a:bodyPr>
          <a:lstStyle/>
          <a:p>
            <a:r>
              <a:rPr sz="1200" b="0">
                <a:solidFill>
                  <a:srgbClr val="C9682C"/>
                </a:solidFill>
                <a:latin typeface="JetBrains Mono"/>
                <a:ea typeface="JetBrains Mono"/>
                <a:cs typeface="JetBrains Mono"/>
              </a:rPr>
              <a:t>src/fit.ts › fitsHole</a:t>
            </a:r>
          </a:p>
        </p:txBody>
      </p:sp>
      <p:sp>
        <p:nvSpPr>
          <p:cNvPr id="32" name="Wiring note 3"/>
          <p:cNvSpPr txBox="1"/>
          <p:nvPr/>
        </p:nvSpPr>
        <p:spPr>
          <a:xfrm>
            <a:off x="8369165" y="6340000"/>
            <a:ext cx="2870000" cy="360000"/>
          </a:xfrm>
          <a:prstGeom prst="rect">
            <a:avLst/>
          </a:prstGeom>
          <a:noFill/>
        </p:spPr>
        <p:txBody>
          <a:bodyPr wrap="square" lIns="0" tIns="0" rIns="0" bIns="0">
            <a:spAutoFit/>
          </a:bodyPr>
          <a:lstStyle/>
          <a:p>
            <a:r>
              <a:rPr sz="1100" b="0">
                <a:solidFill>
                  <a:srgbClr val="B8C7D3"/>
                </a:solidFill>
                <a:latin typeface="Inter"/>
                <a:ea typeface="Inter"/>
                <a:cs typeface="Inter"/>
              </a:rPr>
              <a:t>the function that test ran through, saved in ontology/gates/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8"/>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HOLDING THE MODEL TO IT · 2 OF 4</a:t>
            </a:r>
            <a:endParaRPr lang="en-US" sz="1200" dirty="0"/>
          </a:p>
        </p:txBody>
      </p:sp>
      <p:sp>
        <p:nvSpPr>
          <p:cNvPr id="4" name="Text 1"/>
          <p:cNvSpPr>
            <a:spLocks noGrp="1"/>
          </p:cNvSpPr>
          <p:nvPr>
            <p:ph type="title"/>
          </p:nvPr>
        </p:nvSpPr>
        <p:spPr>
          <a:xfrm>
            <a:off x="812775" y="1102308"/>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A DOMAIN RULE IN A UNIT TEST</a:t>
            </a:r>
            <a:endParaRPr lang="en-US" sz="3200" dirty="0"/>
          </a:p>
        </p:txBody>
      </p:sp>
      <p:sp>
        <p:nvSpPr>
          <p:cNvPr id="5" name="Shape 2"/>
          <p:cNvSpPr/>
          <p:nvPr/>
        </p:nvSpPr>
        <p:spPr>
          <a:xfrm>
            <a:off x="819125" y="1911338"/>
            <a:ext cx="6337286" cy="2654293"/>
          </a:xfrm>
          <a:prstGeom prst="roundRect">
            <a:avLst>
              <a:gd name="adj" fmla="val 3589"/>
            </a:avLst>
          </a:prstGeom>
          <a:solidFill>
            <a:srgbClr val="0F1F2A"/>
          </a:solidFill>
          <a:ln w="12700">
            <a:solidFill>
              <a:srgbClr val="0B3042"/>
            </a:solidFill>
            <a:prstDash val="solid"/>
          </a:ln>
        </p:spPr>
        <p:txBody>
          <a:bodyPr/>
          <a:lstStyle/>
          <a:p>
            <a:endParaRPr lang="en-US"/>
          </a:p>
        </p:txBody>
      </p:sp>
      <p:sp>
        <p:nvSpPr>
          <p:cNvPr id="6" name="Text 3"/>
          <p:cNvSpPr/>
          <p:nvPr/>
        </p:nvSpPr>
        <p:spPr>
          <a:xfrm>
            <a:off x="1078836" y="2171043"/>
            <a:ext cx="5992400" cy="23875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8597"/>
                </a:solidFill>
                <a:latin typeface="JetBrains Mono" pitchFamily="49" charset="0"/>
                <a:ea typeface="JetBrains Mono" pitchFamily="49" charset="-122"/>
                <a:cs typeface="JetBrains Mono" pitchFamily="49" charset="-120"/>
              </a:rPr>
              <a:t>tests/fit.test.ts</a:t>
            </a:r>
            <a:endParaRPr lang="en-US" sz="1200" dirty="0"/>
          </a:p>
        </p:txBody>
      </p:sp>
      <p:sp>
        <p:nvSpPr>
          <p:cNvPr id="7" name="Text 4"/>
          <p:cNvSpPr/>
          <p:nvPr/>
        </p:nvSpPr>
        <p:spPr>
          <a:xfrm>
            <a:off x="1078836" y="2511388"/>
            <a:ext cx="5992400" cy="787353"/>
          </a:xfrm>
          <a:prstGeom prst="rect">
            <a:avLst/>
          </a:prstGeom>
          <a:noFill/>
          <a:ln/>
        </p:spPr>
        <p:txBody>
          <a:bodyPr wrap="square" lIns="0" tIns="0" rIns="0" bIns="0" rtlCol="0" anchor="t">
            <a:normAutofit/>
          </a:bodyPr>
          <a:lstStyle/>
          <a:p>
            <a:pPr marL="0" indent="0" algn="l">
              <a:lnSpc>
                <a:spcPts val="3000"/>
              </a:lnSpc>
              <a:buNone/>
            </a:pPr>
            <a:r>
              <a:rPr lang="en-US" sz="2000" dirty="0">
                <a:solidFill>
                  <a:srgbClr val="E8EEF4"/>
                </a:solidFill>
                <a:latin typeface="JetBrains Mono" pitchFamily="49" charset="0"/>
                <a:ea typeface="JetBrains Mono" pitchFamily="49" charset="-122"/>
                <a:cs typeface="JetBrains Mono" pitchFamily="49" charset="-120"/>
              </a:rPr>
              <a:t>expect(fitsHole(15, 15))</a:t>
            </a:r>
            <a:endParaRPr lang="en-US" sz="2000" dirty="0"/>
          </a:p>
          <a:p>
            <a:pPr marL="0" indent="0" algn="l">
              <a:lnSpc>
                <a:spcPts val="3000"/>
              </a:lnSpc>
              <a:buNone/>
            </a:pPr>
            <a:r>
              <a:rPr lang="en-US" sz="2000" dirty="0">
                <a:solidFill>
                  <a:srgbClr val="E8EEF4"/>
                </a:solidFill>
                <a:latin typeface="JetBrains Mono" pitchFamily="49" charset="0"/>
                <a:ea typeface="JetBrains Mono" pitchFamily="49" charset="-122"/>
                <a:cs typeface="JetBrains Mono" pitchFamily="49" charset="-120"/>
              </a:rPr>
              <a:t>  .toBe(</a:t>
            </a:r>
            <a:r>
              <a:rPr lang="en-US" sz="2000" dirty="0">
                <a:solidFill>
                  <a:srgbClr val="C9682C"/>
                </a:solidFill>
                <a:latin typeface="JetBrains Mono" pitchFamily="49" charset="0"/>
                <a:ea typeface="JetBrains Mono" pitchFamily="49" charset="-122"/>
                <a:cs typeface="JetBrains Mono" pitchFamily="49" charset="-120"/>
              </a:rPr>
              <a:t>false</a:t>
            </a:r>
            <a:r>
              <a:rPr lang="en-US" sz="2000" dirty="0">
                <a:solidFill>
                  <a:srgbClr val="E8EEF4"/>
                </a:solidFill>
                <a:latin typeface="JetBrains Mono" pitchFamily="49" charset="0"/>
                <a:ea typeface="JetBrains Mono" pitchFamily="49" charset="-122"/>
                <a:cs typeface="JetBrains Mono" pitchFamily="49" charset="-120"/>
              </a:rPr>
              <a:t>);</a:t>
            </a:r>
            <a:endParaRPr lang="en-US" sz="2000" dirty="0"/>
          </a:p>
        </p:txBody>
      </p:sp>
      <p:sp>
        <p:nvSpPr>
          <p:cNvPr id="8" name="Text 5"/>
          <p:cNvSpPr/>
          <p:nvPr/>
        </p:nvSpPr>
        <p:spPr>
          <a:xfrm>
            <a:off x="1078836" y="3400338"/>
            <a:ext cx="5992400" cy="4877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7D3"/>
                </a:solidFill>
                <a:latin typeface="Inter" pitchFamily="34" charset="0"/>
                <a:ea typeface="Inter" pitchFamily="34" charset="-122"/>
                <a:cs typeface="Inter" pitchFamily="34" charset="-120"/>
              </a:rPr>
              <a:t>Equal diameters do not fit. The expected answer is recorded independently of whatever the model writes.</a:t>
            </a:r>
            <a:endParaRPr lang="en-US" sz="1300" dirty="0"/>
          </a:p>
        </p:txBody>
      </p:sp>
      <p:sp>
        <p:nvSpPr>
          <p:cNvPr id="9" name="Shape 6"/>
          <p:cNvSpPr/>
          <p:nvPr/>
        </p:nvSpPr>
        <p:spPr>
          <a:xfrm>
            <a:off x="7569180" y="1904988"/>
            <a:ext cx="3809985" cy="2666993"/>
          </a:xfrm>
          <a:prstGeom prst="roundRect">
            <a:avLst>
              <a:gd name="adj" fmla="val 3810"/>
            </a:avLst>
          </a:prstGeom>
          <a:solidFill>
            <a:srgbClr val="0B3042"/>
          </a:solidFill>
          <a:ln/>
        </p:spPr>
        <p:txBody>
          <a:bodyPr/>
          <a:lstStyle/>
          <a:p>
            <a:endParaRPr lang="en-US"/>
          </a:p>
        </p:txBody>
      </p:sp>
      <p:sp>
        <p:nvSpPr>
          <p:cNvPr id="10" name="Shape 7"/>
          <p:cNvSpPr/>
          <p:nvPr/>
        </p:nvSpPr>
        <p:spPr>
          <a:xfrm>
            <a:off x="7569180" y="1904988"/>
            <a:ext cx="3809985" cy="2666993"/>
          </a:xfrm>
          <a:custGeom>
            <a:avLst/>
            <a:gdLst/>
            <a:ahLst/>
            <a:cxnLst/>
            <a:rect l="l" t="t" r="r" b="b"/>
            <a:pathLst>
              <a:path w="3809985" h="2666993">
                <a:moveTo>
                  <a:pt x="101600" y="2666993"/>
                </a:moveTo>
                <a:lnTo>
                  <a:pt x="101600" y="2666993"/>
                </a:lnTo>
                <a:arcTo wR="101600" hR="101600" stAng="5400000" swAng="5400000"/>
                <a:lnTo>
                  <a:pt x="0" y="101600"/>
                </a:lnTo>
                <a:arcTo wR="101600" hR="101600" stAng="10800000" swAng="5400000"/>
                <a:lnTo>
                  <a:pt x="101600" y="0"/>
                </a:lnTo>
                <a:arcTo wR="50800" hR="101600" stAng="16200000" swAng="-5400000"/>
                <a:lnTo>
                  <a:pt x="50800" y="2565393"/>
                </a:lnTo>
                <a:arcTo wR="50800" hR="101600" stAng="10800000" swAng="-5400000"/>
                <a:close/>
              </a:path>
            </a:pathLst>
          </a:custGeom>
          <a:solidFill>
            <a:srgbClr val="C9682C"/>
          </a:solidFill>
          <a:ln/>
        </p:spPr>
        <p:txBody>
          <a:bodyPr/>
          <a:lstStyle/>
          <a:p>
            <a:endParaRPr lang="en-US"/>
          </a:p>
        </p:txBody>
      </p:sp>
      <p:sp>
        <p:nvSpPr>
          <p:cNvPr id="11" name="Text 8"/>
          <p:cNvSpPr/>
          <p:nvPr/>
        </p:nvSpPr>
        <p:spPr>
          <a:xfrm>
            <a:off x="7873483" y="2569195"/>
            <a:ext cx="3349249"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RUN THE TEST</a:t>
            </a:r>
            <a:endParaRPr lang="en-US" sz="1100" dirty="0"/>
          </a:p>
        </p:txBody>
      </p:sp>
      <p:sp>
        <p:nvSpPr>
          <p:cNvPr id="12" name="Text 9"/>
          <p:cNvSpPr/>
          <p:nvPr/>
        </p:nvSpPr>
        <p:spPr>
          <a:xfrm>
            <a:off x="7873483" y="2891730"/>
            <a:ext cx="3349249" cy="452104"/>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E8EEF4"/>
                </a:solidFill>
                <a:latin typeface="JetBrains Mono" pitchFamily="49" charset="0"/>
                <a:ea typeface="JetBrains Mono" pitchFamily="49" charset="-122"/>
                <a:cs typeface="JetBrains Mono" pitchFamily="49" charset="-120"/>
              </a:rPr>
              <a:t>npm test</a:t>
            </a:r>
            <a:endParaRPr lang="en-US" sz="2400" dirty="0"/>
          </a:p>
        </p:txBody>
      </p:sp>
      <p:sp>
        <p:nvSpPr>
          <p:cNvPr id="13" name="Text 10"/>
          <p:cNvSpPr/>
          <p:nvPr/>
        </p:nvSpPr>
        <p:spPr>
          <a:xfrm>
            <a:off x="7873483" y="3445433"/>
            <a:ext cx="3349249" cy="4877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7D3"/>
                </a:solidFill>
                <a:latin typeface="Inter" pitchFamily="34" charset="0"/>
                <a:ea typeface="Inter" pitchFamily="34" charset="-122"/>
                <a:cs typeface="Inter" pitchFamily="34" charset="-120"/>
              </a:rPr>
              <a:t>Your coding agent can run it. So can you. Nothing exotic.</a:t>
            </a:r>
            <a:endParaRPr lang="en-US" sz="1300" dirty="0"/>
          </a:p>
        </p:txBody>
      </p:sp>
      <p:sp>
        <p:nvSpPr>
          <p:cNvPr id="14" name="Text 11"/>
          <p:cNvSpPr/>
          <p:nvPr/>
        </p:nvSpPr>
        <p:spPr>
          <a:xfrm>
            <a:off x="812775" y="4952988"/>
            <a:ext cx="10883382" cy="309859"/>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75"/>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HOLDING THE MODEL TO IT · 3 OF 4</a:t>
            </a:r>
            <a:endParaRPr lang="en-US" sz="1200" dirty="0"/>
          </a:p>
        </p:txBody>
      </p:sp>
      <p:sp>
        <p:nvSpPr>
          <p:cNvPr id="4" name="Text 1"/>
          <p:cNvSpPr>
            <a:spLocks noGrp="1"/>
          </p:cNvSpPr>
          <p:nvPr>
            <p:ph type="title"/>
          </p:nvPr>
        </p:nvSpPr>
        <p:spPr>
          <a:xfrm>
            <a:off x="812775" y="1102296"/>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THREE MOMENTS THE MODEL IS HELD TO IT</a:t>
            </a:r>
            <a:endParaRPr lang="en-US" sz="2800" dirty="0"/>
          </a:p>
        </p:txBody>
      </p:sp>
      <p:sp>
        <p:nvSpPr>
          <p:cNvPr id="5" name="Shape 2"/>
          <p:cNvSpPr/>
          <p:nvPr/>
        </p:nvSpPr>
        <p:spPr>
          <a:xfrm>
            <a:off x="812775" y="1777975"/>
            <a:ext cx="3403598" cy="2379421"/>
          </a:xfrm>
          <a:prstGeom prst="roundRect">
            <a:avLst>
              <a:gd name="adj" fmla="val 4270"/>
            </a:avLst>
          </a:prstGeom>
          <a:solidFill>
            <a:srgbClr val="0B3042"/>
          </a:solidFill>
          <a:ln/>
        </p:spPr>
        <p:txBody>
          <a:bodyPr/>
          <a:lstStyle/>
          <a:p>
            <a:endParaRPr lang="en-US"/>
          </a:p>
        </p:txBody>
      </p:sp>
      <p:sp>
        <p:nvSpPr>
          <p:cNvPr id="6" name="Shape 3"/>
          <p:cNvSpPr/>
          <p:nvPr/>
        </p:nvSpPr>
        <p:spPr>
          <a:xfrm>
            <a:off x="812775" y="1777975"/>
            <a:ext cx="3403598" cy="2379421"/>
          </a:xfrm>
          <a:custGeom>
            <a:avLst/>
            <a:gdLst/>
            <a:ahLst/>
            <a:cxnLst/>
            <a:rect l="l" t="t" r="r" b="b"/>
            <a:pathLst>
              <a:path w="3403598" h="2379421">
                <a:moveTo>
                  <a:pt x="0" y="101600"/>
                </a:moveTo>
                <a:lnTo>
                  <a:pt x="0" y="101600"/>
                </a:lnTo>
                <a:arcTo wR="101600" hR="101600" stAng="10800000" swAng="5400000"/>
                <a:lnTo>
                  <a:pt x="3301998" y="0"/>
                </a:lnTo>
                <a:arcTo wR="101600" hR="101600" stAng="16200000" swAng="5400000"/>
                <a:lnTo>
                  <a:pt x="3403598" y="101600"/>
                </a:lnTo>
                <a:arcTo wR="101600" hR="50800" stAng="0" swAng="-5400000"/>
                <a:lnTo>
                  <a:pt x="101600" y="50800"/>
                </a:lnTo>
                <a:arcTo wR="101600" hR="50800" stAng="16200000" swAng="-5400000"/>
                <a:close/>
              </a:path>
            </a:pathLst>
          </a:custGeom>
          <a:solidFill>
            <a:srgbClr val="6E8597"/>
          </a:solidFill>
          <a:ln/>
        </p:spPr>
        <p:txBody>
          <a:bodyPr/>
          <a:lstStyle/>
          <a:p>
            <a:endParaRPr lang="en-US"/>
          </a:p>
        </p:txBody>
      </p:sp>
      <p:sp>
        <p:nvSpPr>
          <p:cNvPr id="7" name="Text 4"/>
          <p:cNvSpPr/>
          <p:nvPr/>
        </p:nvSpPr>
        <p:spPr>
          <a:xfrm>
            <a:off x="1015969" y="2031492"/>
            <a:ext cx="3087127"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BEFORE THE FIRST EDIT</a:t>
            </a:r>
            <a:endParaRPr lang="en-US" sz="1200" dirty="0"/>
          </a:p>
        </p:txBody>
      </p:sp>
      <p:sp>
        <p:nvSpPr>
          <p:cNvPr id="8" name="Text 5"/>
          <p:cNvSpPr/>
          <p:nvPr/>
        </p:nvSpPr>
        <p:spPr>
          <a:xfrm>
            <a:off x="1015969" y="2333724"/>
            <a:ext cx="3087127" cy="330175"/>
          </a:xfrm>
          <a:prstGeom prst="rect">
            <a:avLst/>
          </a:prstGeom>
          <a:noFill/>
          <a:ln/>
        </p:spPr>
        <p:txBody>
          <a:bodyPr wrap="square" lIns="0" tIns="0" rIns="0" bIns="0" rtlCol="0" anchor="t">
            <a:normAutofit/>
          </a:bodyPr>
          <a:lstStyle/>
          <a:p>
            <a:pPr marL="0" indent="0" algn="l">
              <a:lnSpc>
                <a:spcPts val="2400"/>
              </a:lnSpc>
              <a:buNone/>
            </a:pPr>
            <a:r>
              <a:rPr lang="en-US" sz="2000" kern="0" spc="100" dirty="0">
                <a:solidFill>
                  <a:srgbClr val="E8EEF4"/>
                </a:solidFill>
                <a:latin typeface="Oswald" pitchFamily="34" charset="0"/>
                <a:ea typeface="Oswald" pitchFamily="34" charset="-122"/>
                <a:cs typeface="Oswald" pitchFamily="34" charset="-120"/>
              </a:rPr>
              <a:t>SESSIONSTART</a:t>
            </a:r>
            <a:endParaRPr lang="en-US" sz="2000" dirty="0"/>
          </a:p>
        </p:txBody>
      </p:sp>
      <p:sp>
        <p:nvSpPr>
          <p:cNvPr id="9" name="Text 6"/>
          <p:cNvSpPr/>
          <p:nvPr/>
        </p:nvSpPr>
        <p:spPr>
          <a:xfrm>
            <a:off x="1015969" y="2727375"/>
            <a:ext cx="3087127" cy="23875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682C"/>
                </a:solidFill>
                <a:latin typeface="JetBrains Mono" pitchFamily="49" charset="0"/>
                <a:ea typeface="JetBrains Mono" pitchFamily="49" charset="-122"/>
                <a:cs typeface="JetBrains Mono" pitchFamily="49" charset="-120"/>
              </a:rPr>
              <a:t>ontology_query.py summary</a:t>
            </a:r>
            <a:endParaRPr lang="en-US" sz="1200" dirty="0"/>
          </a:p>
        </p:txBody>
      </p:sp>
      <p:sp>
        <p:nvSpPr>
          <p:cNvPr id="10" name="Text 7"/>
          <p:cNvSpPr/>
          <p:nvPr/>
        </p:nvSpPr>
        <p:spPr>
          <a:xfrm>
            <a:off x="1015969" y="3029595"/>
            <a:ext cx="3087127" cy="71885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7D3"/>
                </a:solidFill>
                <a:latin typeface="Inter" pitchFamily="34" charset="0"/>
                <a:ea typeface="Inter" pitchFamily="34" charset="-122"/>
                <a:cs typeface="Inter" pitchFamily="34" charset="-120"/>
              </a:rPr>
              <a:t>Intent, entities and the rule count go into context. The model never starts from a blank page.</a:t>
            </a:r>
            <a:endParaRPr lang="en-US" sz="1300" dirty="0"/>
          </a:p>
        </p:txBody>
      </p:sp>
      <p:sp>
        <p:nvSpPr>
          <p:cNvPr id="11" name="Shape 8"/>
          <p:cNvSpPr/>
          <p:nvPr/>
        </p:nvSpPr>
        <p:spPr>
          <a:xfrm>
            <a:off x="4394155" y="1777975"/>
            <a:ext cx="3403598" cy="2379421"/>
          </a:xfrm>
          <a:prstGeom prst="roundRect">
            <a:avLst>
              <a:gd name="adj" fmla="val 4270"/>
            </a:avLst>
          </a:prstGeom>
          <a:solidFill>
            <a:srgbClr val="0B3042"/>
          </a:solidFill>
          <a:ln/>
        </p:spPr>
        <p:txBody>
          <a:bodyPr/>
          <a:lstStyle/>
          <a:p>
            <a:endParaRPr lang="en-US"/>
          </a:p>
        </p:txBody>
      </p:sp>
      <p:sp>
        <p:nvSpPr>
          <p:cNvPr id="12" name="Shape 9"/>
          <p:cNvSpPr/>
          <p:nvPr/>
        </p:nvSpPr>
        <p:spPr>
          <a:xfrm>
            <a:off x="4394155" y="1777975"/>
            <a:ext cx="3403598" cy="2379421"/>
          </a:xfrm>
          <a:custGeom>
            <a:avLst/>
            <a:gdLst/>
            <a:ahLst/>
            <a:cxnLst/>
            <a:rect l="l" t="t" r="r" b="b"/>
            <a:pathLst>
              <a:path w="3403598" h="2379421">
                <a:moveTo>
                  <a:pt x="0" y="101600"/>
                </a:moveTo>
                <a:lnTo>
                  <a:pt x="0" y="101600"/>
                </a:lnTo>
                <a:arcTo wR="101600" hR="101600" stAng="10800000" swAng="5400000"/>
                <a:lnTo>
                  <a:pt x="3301998" y="0"/>
                </a:lnTo>
                <a:arcTo wR="101600" hR="101600" stAng="16200000" swAng="5400000"/>
                <a:lnTo>
                  <a:pt x="3403598" y="101600"/>
                </a:lnTo>
                <a:arcTo wR="101600" hR="50800" stAng="0" swAng="-5400000"/>
                <a:lnTo>
                  <a:pt x="101600" y="50800"/>
                </a:lnTo>
                <a:arcTo wR="101600" hR="50800" stAng="16200000" swAng="-5400000"/>
                <a:close/>
              </a:path>
            </a:pathLst>
          </a:custGeom>
          <a:solidFill>
            <a:srgbClr val="B8C7D3"/>
          </a:solidFill>
          <a:ln/>
        </p:spPr>
        <p:txBody>
          <a:bodyPr/>
          <a:lstStyle/>
          <a:p>
            <a:endParaRPr lang="en-US"/>
          </a:p>
        </p:txBody>
      </p:sp>
      <p:sp>
        <p:nvSpPr>
          <p:cNvPr id="13" name="Text 10"/>
          <p:cNvSpPr/>
          <p:nvPr/>
        </p:nvSpPr>
        <p:spPr>
          <a:xfrm>
            <a:off x="4597349" y="2031492"/>
            <a:ext cx="3087127"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AFTER EVERY EDIT</a:t>
            </a:r>
            <a:endParaRPr lang="en-US" sz="1200" dirty="0"/>
          </a:p>
        </p:txBody>
      </p:sp>
      <p:sp>
        <p:nvSpPr>
          <p:cNvPr id="14" name="Text 11"/>
          <p:cNvSpPr/>
          <p:nvPr/>
        </p:nvSpPr>
        <p:spPr>
          <a:xfrm>
            <a:off x="4597349" y="2333724"/>
            <a:ext cx="3087127" cy="330175"/>
          </a:xfrm>
          <a:prstGeom prst="rect">
            <a:avLst/>
          </a:prstGeom>
          <a:noFill/>
          <a:ln/>
        </p:spPr>
        <p:txBody>
          <a:bodyPr wrap="square" lIns="0" tIns="0" rIns="0" bIns="0" rtlCol="0" anchor="t">
            <a:normAutofit/>
          </a:bodyPr>
          <a:lstStyle/>
          <a:p>
            <a:pPr marL="0" indent="0" algn="l">
              <a:lnSpc>
                <a:spcPts val="2400"/>
              </a:lnSpc>
              <a:buNone/>
            </a:pPr>
            <a:r>
              <a:rPr lang="en-US" sz="2000" kern="0" spc="100" dirty="0">
                <a:solidFill>
                  <a:srgbClr val="E8EEF4"/>
                </a:solidFill>
                <a:latin typeface="Oswald" pitchFamily="34" charset="0"/>
                <a:ea typeface="Oswald" pitchFamily="34" charset="-122"/>
                <a:cs typeface="Oswald" pitchFamily="34" charset="-120"/>
              </a:rPr>
              <a:t>POSTTOOLUSE</a:t>
            </a:r>
            <a:endParaRPr lang="en-US" sz="2000" dirty="0"/>
          </a:p>
        </p:txBody>
      </p:sp>
      <p:sp>
        <p:nvSpPr>
          <p:cNvPr id="15" name="Text 12"/>
          <p:cNvSpPr/>
          <p:nvPr/>
        </p:nvSpPr>
        <p:spPr>
          <a:xfrm>
            <a:off x="4597349" y="2727375"/>
            <a:ext cx="3087127" cy="23875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682C"/>
                </a:solidFill>
                <a:latin typeface="JetBrains Mono" pitchFamily="49" charset="0"/>
                <a:ea typeface="JetBrains Mono" pitchFamily="49" charset="-122"/>
                <a:cs typeface="JetBrains Mono" pitchFamily="49" charset="-120"/>
              </a:rPr>
              <a:t>ontology_check.py --touched</a:t>
            </a:r>
            <a:endParaRPr lang="en-US" sz="1200" dirty="0"/>
          </a:p>
        </p:txBody>
      </p:sp>
      <p:sp>
        <p:nvSpPr>
          <p:cNvPr id="16" name="Text 13"/>
          <p:cNvSpPr/>
          <p:nvPr/>
        </p:nvSpPr>
        <p:spPr>
          <a:xfrm>
            <a:off x="4597349" y="3029595"/>
            <a:ext cx="3087127" cy="95000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7D3"/>
                </a:solidFill>
                <a:latin typeface="Inter" pitchFamily="34" charset="0"/>
                <a:ea typeface="Inter" pitchFamily="34" charset="-122"/>
                <a:cs typeface="Inter" pitchFamily="34" charset="-120"/>
              </a:rPr>
              <a:t>Ungoverned file: silent. Touched a governed path: logged. Changed what a rule describes: the message goes back to the model.</a:t>
            </a:r>
            <a:endParaRPr lang="en-US" sz="1300" dirty="0"/>
          </a:p>
        </p:txBody>
      </p:sp>
      <p:sp>
        <p:nvSpPr>
          <p:cNvPr id="17" name="Shape 14"/>
          <p:cNvSpPr/>
          <p:nvPr/>
        </p:nvSpPr>
        <p:spPr>
          <a:xfrm>
            <a:off x="7975536" y="1777975"/>
            <a:ext cx="3403629" cy="2379421"/>
          </a:xfrm>
          <a:prstGeom prst="roundRect">
            <a:avLst>
              <a:gd name="adj" fmla="val 4270"/>
            </a:avLst>
          </a:prstGeom>
          <a:solidFill>
            <a:srgbClr val="0B3042"/>
          </a:solidFill>
          <a:ln/>
        </p:spPr>
        <p:txBody>
          <a:bodyPr/>
          <a:lstStyle/>
          <a:p>
            <a:endParaRPr lang="en-US"/>
          </a:p>
        </p:txBody>
      </p:sp>
      <p:sp>
        <p:nvSpPr>
          <p:cNvPr id="18" name="Shape 15"/>
          <p:cNvSpPr/>
          <p:nvPr/>
        </p:nvSpPr>
        <p:spPr>
          <a:xfrm>
            <a:off x="7975536" y="1777975"/>
            <a:ext cx="3403629" cy="2379421"/>
          </a:xfrm>
          <a:custGeom>
            <a:avLst/>
            <a:gdLst/>
            <a:ahLst/>
            <a:cxnLst/>
            <a:rect l="l" t="t" r="r" b="b"/>
            <a:pathLst>
              <a:path w="3403629" h="2379421">
                <a:moveTo>
                  <a:pt x="0" y="101600"/>
                </a:moveTo>
                <a:lnTo>
                  <a:pt x="0" y="101600"/>
                </a:lnTo>
                <a:arcTo wR="101600" hR="101600" stAng="10800000" swAng="5400000"/>
                <a:lnTo>
                  <a:pt x="3302029" y="0"/>
                </a:lnTo>
                <a:arcTo wR="101600" hR="101600" stAng="16200000" swAng="5400000"/>
                <a:lnTo>
                  <a:pt x="3403629"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sp>
        <p:nvSpPr>
          <p:cNvPr id="19" name="Text 16"/>
          <p:cNvSpPr/>
          <p:nvPr/>
        </p:nvSpPr>
        <p:spPr>
          <a:xfrm>
            <a:off x="8178729" y="2031492"/>
            <a:ext cx="3087159"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BEFORE THE TURN ENDS</a:t>
            </a:r>
            <a:endParaRPr lang="en-US" sz="1200" dirty="0"/>
          </a:p>
        </p:txBody>
      </p:sp>
      <p:sp>
        <p:nvSpPr>
          <p:cNvPr id="20" name="Text 17"/>
          <p:cNvSpPr/>
          <p:nvPr/>
        </p:nvSpPr>
        <p:spPr>
          <a:xfrm>
            <a:off x="8178729" y="2333724"/>
            <a:ext cx="3087159" cy="330175"/>
          </a:xfrm>
          <a:prstGeom prst="rect">
            <a:avLst/>
          </a:prstGeom>
          <a:noFill/>
          <a:ln/>
        </p:spPr>
        <p:txBody>
          <a:bodyPr wrap="square" lIns="0" tIns="0" rIns="0" bIns="0" rtlCol="0" anchor="t">
            <a:normAutofit/>
          </a:bodyPr>
          <a:lstStyle/>
          <a:p>
            <a:pPr marL="0" indent="0" algn="l">
              <a:lnSpc>
                <a:spcPts val="2400"/>
              </a:lnSpc>
              <a:buNone/>
            </a:pPr>
            <a:r>
              <a:rPr lang="en-US" sz="2000" kern="0" spc="100" dirty="0">
                <a:solidFill>
                  <a:srgbClr val="E8EEF4"/>
                </a:solidFill>
                <a:latin typeface="Oswald" pitchFamily="34" charset="0"/>
                <a:ea typeface="Oswald" pitchFamily="34" charset="-122"/>
                <a:cs typeface="Oswald" pitchFamily="34" charset="-120"/>
              </a:rPr>
              <a:t>STOP</a:t>
            </a:r>
            <a:endParaRPr lang="en-US" sz="2000" dirty="0"/>
          </a:p>
        </p:txBody>
      </p:sp>
      <p:sp>
        <p:nvSpPr>
          <p:cNvPr id="21" name="Text 18"/>
          <p:cNvSpPr/>
          <p:nvPr/>
        </p:nvSpPr>
        <p:spPr>
          <a:xfrm>
            <a:off x="8178729" y="2727375"/>
            <a:ext cx="3087159" cy="23875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682C"/>
                </a:solidFill>
                <a:latin typeface="JetBrains Mono" pitchFamily="49" charset="0"/>
                <a:ea typeface="JetBrains Mono" pitchFamily="49" charset="-122"/>
                <a:cs typeface="JetBrains Mono" pitchFamily="49" charset="-120"/>
              </a:rPr>
              <a:t>ontology_check.py --changed</a:t>
            </a:r>
            <a:endParaRPr lang="en-US" sz="1200" dirty="0"/>
          </a:p>
        </p:txBody>
      </p:sp>
      <p:sp>
        <p:nvSpPr>
          <p:cNvPr id="22" name="Text 19"/>
          <p:cNvSpPr/>
          <p:nvPr/>
        </p:nvSpPr>
        <p:spPr>
          <a:xfrm>
            <a:off x="8178729" y="3029595"/>
            <a:ext cx="3087159" cy="95000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7D3"/>
                </a:solidFill>
                <a:latin typeface="Inter" pitchFamily="34" charset="0"/>
                <a:ea typeface="Inter" pitchFamily="34" charset="-122"/>
                <a:cs typeface="Inter" pitchFamily="34" charset="-120"/>
              </a:rPr>
              <a:t>Runs the tests of every rule whose functions changed. Failed or not run: the turn is blocked. So is governed code that moved without the ontology.</a:t>
            </a:r>
            <a:endParaRPr lang="en-US" sz="1300" dirty="0"/>
          </a:p>
        </p:txBody>
      </p:sp>
      <p:sp>
        <p:nvSpPr>
          <p:cNvPr id="25" name="State log line"/>
          <p:cNvSpPr/>
          <p:nvPr/>
        </p:nvSpPr>
        <p:spPr>
          <a:xfrm>
            <a:off x="812775" y="4480000"/>
            <a:ext cx="10883382" cy="330000"/>
          </a:xfrm>
          <a:prstGeom prst="rect">
            <a:avLst/>
          </a:prstGeom>
          <a:noFill/>
          <a:ln/>
        </p:spPr>
        <p:txBody>
          <a:bodyPr wrap="square" lIns="0" tIns="0" rIns="0" bIns="0" rtlCol="0" anchor="t">
            <a:noAutofit/>
          </a:bodyPr>
          <a:lstStyle/>
          <a:p>
            <a:pPr marL="0" indent="0" algn="l">
              <a:lnSpc>
                <a:spcPts val="2100"/>
              </a:lnSpc>
              <a:buNone/>
            </a:pPr>
            <a:r>
              <a:rPr lang="en-US" sz="1500" dirty="0">
                <a:solidFill>
                  <a:srgbClr val="B8C7D3"/>
                </a:solidFill>
                <a:latin typeface="Inter" pitchFamily="34" charset="0"/>
                <a:ea typeface="Inter" pitchFamily="34" charset="-122"/>
                <a:cs typeface="Inter" pitchFamily="34" charset="-120"/>
              </a:rPr>
              <a:t>Every check writes a line to .claude/ontology-state.jsonl, test results included. The mod reads that file.</a:t>
            </a:r>
            <a:endParaRPr lang="en-US" sz="1500" dirty="0"/>
          </a:p>
        </p:txBody>
      </p:sp>
      <p:sp>
        <p:nvSpPr>
          <p:cNvPr id="23" name="Text 20"/>
          <p:cNvSpPr/>
          <p:nvPr/>
        </p:nvSpPr>
        <p:spPr>
          <a:xfrm>
            <a:off x="812775" y="5079963"/>
            <a:ext cx="10883382" cy="29205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7D3"/>
                </a:solidFill>
                <a:latin typeface="Inter" pitchFamily="34" charset="0"/>
                <a:ea typeface="Inter" pitchFamily="34" charset="-122"/>
                <a:cs typeface="Inter" pitchFamily="34" charset="-120"/>
              </a:rPr>
              <a:t>Mid-task, the model can ask: </a:t>
            </a:r>
            <a:r>
              <a:rPr lang="en-US" sz="1500" dirty="0">
                <a:solidFill>
                  <a:srgbClr val="E8EEF4"/>
                </a:solidFill>
                <a:latin typeface="Inter" pitchFamily="34" charset="0"/>
                <a:ea typeface="Inter" pitchFamily="34" charset="-122"/>
                <a:cs typeface="Inter" pitchFamily="34" charset="-120"/>
              </a:rPr>
              <a:t>entity · term · invariants · scope</a:t>
            </a:r>
            <a:r>
              <a:rPr lang="en-US" sz="1500" dirty="0">
                <a:solidFill>
                  <a:srgbClr val="B8C7D3"/>
                </a:solidFill>
                <a:latin typeface="Inter" pitchFamily="34" charset="0"/>
                <a:ea typeface="Inter" pitchFamily="34" charset="-122"/>
                <a:cs typeface="Inter" pitchFamily="34" charset="-120"/>
              </a:rPr>
              <a:t>.</a:t>
            </a:r>
            <a:endParaRPr lang="en-US" sz="1500" dirty="0"/>
          </a:p>
        </p:txBody>
      </p:sp>
      <p:sp>
        <p:nvSpPr>
          <p:cNvPr id="24" name="Text 21"/>
          <p:cNvSpPr/>
          <p:nvPr/>
        </p:nvSpPr>
        <p:spPr>
          <a:xfrm>
            <a:off x="812775" y="5460975"/>
            <a:ext cx="10883382" cy="309859"/>
          </a:xfrm>
          <a:prstGeom prst="rect">
            <a:avLst/>
          </a:prstGeom>
          <a:noFill/>
          <a:ln/>
        </p:spPr>
        <p:txBody>
          <a:bodyPr wrap="square" lIns="0" tIns="0" rIns="0" bIns="0" rtlCol="0" anchor="t">
            <a:normAutofit/>
          </a:bodyPr>
          <a:lstStyle/>
          <a:p>
            <a:pPr marL="0" indent="0" algn="l">
              <a:lnSpc>
                <a:spcPts val="2240"/>
              </a:lnSpc>
              <a:buNone/>
            </a:pPr>
            <a:r>
              <a:rPr lang="en-US" sz="1600" kern="0" spc="100" dirty="0">
                <a:solidFill>
                  <a:srgbClr val="C9682C"/>
                </a:solidFill>
                <a:latin typeface="Oswald" pitchFamily="34" charset="0"/>
                <a:ea typeface="Oswald" pitchFamily="34" charset="-122"/>
                <a:cs typeface="Oswald" pitchFamily="34" charset="-120"/>
              </a:rPr>
              <a:t>THE MODEL IS PERSUASIVE. THE GATE IS NOT.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75"/>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HOLDING THE MODEL TO IT · 4 OF 4</a:t>
            </a:r>
            <a:endParaRPr lang="en-US" sz="1200" dirty="0"/>
          </a:p>
        </p:txBody>
      </p:sp>
      <p:sp>
        <p:nvSpPr>
          <p:cNvPr id="4" name="Text 1"/>
          <p:cNvSpPr>
            <a:spLocks noGrp="1"/>
          </p:cNvSpPr>
          <p:nvPr>
            <p:ph type="title"/>
          </p:nvPr>
        </p:nvSpPr>
        <p:spPr>
          <a:xfrm>
            <a:off x="812775" y="1102296"/>
            <a:ext cx="10883414" cy="416535"/>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E8EEF4"/>
                </a:solidFill>
                <a:latin typeface="Oswald" pitchFamily="34" charset="0"/>
                <a:ea typeface="Oswald" pitchFamily="34" charset="-122"/>
                <a:cs typeface="Oswald" pitchFamily="34" charset="-120"/>
              </a:rPr>
              <a:t>WHAT THE MODEL SEES WHEN IT’S WRONG</a:t>
            </a:r>
            <a:endParaRPr lang="en-US" sz="2800" dirty="0"/>
          </a:p>
        </p:txBody>
      </p:sp>
      <p:sp>
        <p:nvSpPr>
          <p:cNvPr id="5" name="Shape 2"/>
          <p:cNvSpPr/>
          <p:nvPr/>
        </p:nvSpPr>
        <p:spPr>
          <a:xfrm>
            <a:off x="819125" y="1720838"/>
            <a:ext cx="6591271" cy="3924278"/>
          </a:xfrm>
          <a:prstGeom prst="roundRect">
            <a:avLst>
              <a:gd name="adj" fmla="val 2427"/>
            </a:avLst>
          </a:prstGeom>
          <a:solidFill>
            <a:srgbClr val="0F1F2A"/>
          </a:solidFill>
          <a:ln w="12700">
            <a:solidFill>
              <a:srgbClr val="0B3042"/>
            </a:solidFill>
            <a:prstDash val="solid"/>
          </a:ln>
        </p:spPr>
        <p:txBody>
          <a:bodyPr/>
          <a:lstStyle/>
          <a:p>
            <a:endParaRPr lang="en-US"/>
          </a:p>
        </p:txBody>
      </p:sp>
      <p:sp>
        <p:nvSpPr>
          <p:cNvPr id="6" name="Text 3"/>
          <p:cNvSpPr/>
          <p:nvPr/>
        </p:nvSpPr>
        <p:spPr>
          <a:xfrm>
            <a:off x="1053425" y="1904343"/>
            <a:ext cx="6306351"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AFTER THE EDIT · LOGGED, NOT SENT</a:t>
            </a:r>
            <a:endParaRPr lang="en-US" sz="1200" dirty="0"/>
          </a:p>
        </p:txBody>
      </p:sp>
      <p:sp>
        <p:nvSpPr>
          <p:cNvPr id="7" name="Text 4"/>
          <p:cNvSpPr/>
          <p:nvPr/>
        </p:nvSpPr>
        <p:spPr>
          <a:xfrm>
            <a:off x="1053425" y="2206575"/>
            <a:ext cx="6306351" cy="8788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EF4"/>
                </a:solidFill>
                <a:latin typeface="JetBrains Mono" pitchFamily="49" charset="0"/>
                <a:ea typeface="JetBrains Mono" pitchFamily="49" charset="-122"/>
                <a:cs typeface="JetBrains Mono" pitchFamily="49" charset="-120"/>
              </a:rPr>
              <a:t>The model changes </a:t>
            </a:r>
            <a:r>
              <a:rPr lang="en-US" sz="1200" dirty="0">
                <a:solidFill>
                  <a:srgbClr val="C9682C"/>
                </a:solidFill>
                <a:latin typeface="JetBrains Mono" pitchFamily="49" charset="0"/>
                <a:ea typeface="JetBrains Mono" pitchFamily="49" charset="-122"/>
                <a:cs typeface="JetBrains Mono" pitchFamily="49" charset="-120"/>
              </a:rPr>
              <a:t>casingOd &lt; holeId</a:t>
            </a:r>
            <a:r>
              <a:rPr lang="en-US" sz="1200" dirty="0">
                <a:solidFill>
                  <a:srgbClr val="E8EEF4"/>
                </a:solidFill>
                <a:latin typeface="JetBrains Mono" pitchFamily="49" charset="0"/>
                <a:ea typeface="JetBrains Mono" pitchFamily="49" charset="-122"/>
                <a:cs typeface="JetBrains Mono" pitchFamily="49" charset="-120"/>
              </a:rPr>
              <a:t> to &lt;=. src/fit.ts is governed, so the edit is logged. Nothing goes back to the model yet.</a:t>
            </a:r>
            <a:endParaRPr lang="en-US" sz="1200" dirty="0"/>
          </a:p>
        </p:txBody>
      </p:sp>
      <p:sp>
        <p:nvSpPr>
          <p:cNvPr id="8" name="Text 5"/>
          <p:cNvSpPr/>
          <p:nvPr/>
        </p:nvSpPr>
        <p:spPr>
          <a:xfrm>
            <a:off x="1053425" y="3148856"/>
            <a:ext cx="6306351"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AT STOP · THE RULE’S TEST RUNS, THE TURN IS BLOCKED</a:t>
            </a:r>
            <a:endParaRPr lang="en-US" sz="1200" dirty="0"/>
          </a:p>
        </p:txBody>
      </p:sp>
      <p:sp>
        <p:nvSpPr>
          <p:cNvPr id="9" name="Text 6"/>
          <p:cNvSpPr/>
          <p:nvPr/>
        </p:nvSpPr>
        <p:spPr>
          <a:xfrm>
            <a:off x="1053425" y="3451076"/>
            <a:ext cx="6306351" cy="15000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EF4"/>
                </a:solidFill>
                <a:latin typeface="JetBrains Mono" pitchFamily="49" charset="0"/>
                <a:ea typeface="JetBrains Mono" pitchFamily="49" charset="-122"/>
                <a:cs typeface="JetBrains Mono" pitchFamily="49" charset="-120"/>
              </a:rPr>
              <a:t>ERROR  </a:t>
            </a:r>
            <a:r>
              <a:rPr lang="en-US" sz="1200" dirty="0">
                <a:solidFill>
                  <a:srgbClr val="C9682C"/>
                </a:solidFill>
                <a:latin typeface="JetBrains Mono" pitchFamily="49" charset="0"/>
                <a:ea typeface="JetBrains Mono" pitchFamily="49" charset="-122"/>
                <a:cs typeface="JetBrains Mono" pitchFamily="49" charset="-120"/>
              </a:rPr>
              <a:t>Casing must be strictly smaller than the hole containing it. Equal diameters do not fit.</a:t>
            </a:r>
            <a:endParaRPr lang="en-US" sz="1200" dirty="0"/>
          </a:p>
          <a:p>
            <a:pPr marL="0" indent="0" algn="l">
              <a:lnSpc>
                <a:spcPts val="1680"/>
              </a:lnSpc>
              <a:buNone/>
            </a:pPr>
            <a:r>
              <a:rPr lang="en-US" sz="1200" dirty="0">
                <a:solidFill>
                  <a:srgbClr val="C9682C"/>
                </a:solidFill>
                <a:latin typeface="JetBrains Mono" pitchFamily="49" charset="0"/>
                <a:ea typeface="JetBrains Mono" pitchFamily="49" charset="-122"/>
                <a:cs typeface="JetBrains Mono" pitchFamily="49" charset="-120"/>
              </a:rPr>
              <a:t>       fit.test.ts: fail</a:t>
            </a:r>
            <a:endParaRPr lang="en-US" sz="1200" dirty="0"/>
          </a:p>
          <a:p>
            <a:pPr marL="0" indent="0" algn="l">
              <a:lnSpc>
                <a:spcPts val="1680"/>
              </a:lnSpc>
              <a:buNone/>
            </a:pPr>
            <a:r>
              <a:rPr lang="en-US" sz="1200" dirty="0">
                <a:solidFill>
                  <a:srgbClr val="E8EEF4"/>
                </a:solidFill>
                <a:latin typeface="JetBrains Mono" pitchFamily="49" charset="0"/>
                <a:ea typeface="JetBrains Mono" pitchFamily="49" charset="-122"/>
                <a:cs typeface="JetBrains Mono" pitchFamily="49" charset="-120"/>
              </a:rPr>
              <a:t>A rule’s test fails or could not run after this change:</a:t>
            </a:r>
            <a:endParaRPr lang="en-US" sz="1200" dirty="0"/>
          </a:p>
          <a:p>
            <a:pPr marL="0" indent="0" algn="l">
              <a:lnSpc>
                <a:spcPts val="1680"/>
              </a:lnSpc>
              <a:buNone/>
            </a:pPr>
            <a:r>
              <a:rPr lang="en-US" sz="1200" dirty="0">
                <a:solidFill>
                  <a:srgbClr val="E8EEF4"/>
                </a:solidFill>
                <a:latin typeface="JetBrains Mono" pitchFamily="49" charset="0"/>
                <a:ea typeface="JetBrains Mono" pitchFamily="49" charset="-122"/>
                <a:cs typeface="JetBrains Mono" pitchFamily="49" charset="-120"/>
              </a:rPr>
              <a:t>  rule broken: … </a:t>
            </a:r>
            <a:r>
              <a:rPr lang="en-US" sz="1200" dirty="0">
                <a:solidFill>
                  <a:srgbClr val="C9682C"/>
                </a:solidFill>
                <a:latin typeface="JetBrains Mono" pitchFamily="49" charset="0"/>
                <a:ea typeface="JetBrains Mono" pitchFamily="49" charset="-122"/>
                <a:cs typeface="JetBrains Mono" pitchFamily="49" charset="-120"/>
              </a:rPr>
              <a:t>(fit.test.ts: fail)</a:t>
            </a:r>
            <a:endParaRPr lang="en-US" sz="1200" dirty="0"/>
          </a:p>
        </p:txBody>
      </p:sp>
      <p:sp>
        <p:nvSpPr>
          <p:cNvPr id="10" name="Shape 7"/>
          <p:cNvSpPr/>
          <p:nvPr/>
        </p:nvSpPr>
        <p:spPr>
          <a:xfrm>
            <a:off x="7721583" y="1714488"/>
            <a:ext cx="3657582" cy="2712720"/>
          </a:xfrm>
          <a:prstGeom prst="roundRect">
            <a:avLst>
              <a:gd name="adj" fmla="val 3745"/>
            </a:avLst>
          </a:prstGeom>
          <a:solidFill>
            <a:srgbClr val="0B3042"/>
          </a:solidFill>
          <a:ln/>
        </p:spPr>
        <p:txBody>
          <a:bodyPr/>
          <a:lstStyle/>
          <a:p>
            <a:endParaRPr lang="en-US"/>
          </a:p>
        </p:txBody>
      </p:sp>
      <p:sp>
        <p:nvSpPr>
          <p:cNvPr id="11" name="Shape 8"/>
          <p:cNvSpPr/>
          <p:nvPr/>
        </p:nvSpPr>
        <p:spPr>
          <a:xfrm>
            <a:off x="7721583" y="1714488"/>
            <a:ext cx="3657582" cy="2712720"/>
          </a:xfrm>
          <a:custGeom>
            <a:avLst/>
            <a:gdLst/>
            <a:ahLst/>
            <a:cxnLst/>
            <a:rect l="l" t="t" r="r" b="b"/>
            <a:pathLst>
              <a:path w="3657582" h="2712720">
                <a:moveTo>
                  <a:pt x="101600" y="2712720"/>
                </a:moveTo>
                <a:lnTo>
                  <a:pt x="101600" y="2712720"/>
                </a:lnTo>
                <a:arcTo wR="101600" hR="101600" stAng="5400000" swAng="5400000"/>
                <a:lnTo>
                  <a:pt x="0" y="101600"/>
                </a:lnTo>
                <a:arcTo wR="101600" hR="101600" stAng="10800000" swAng="5400000"/>
                <a:lnTo>
                  <a:pt x="101600" y="0"/>
                </a:lnTo>
                <a:arcTo wR="50800" hR="101600" stAng="16200000" swAng="-5400000"/>
                <a:lnTo>
                  <a:pt x="50800" y="2611120"/>
                </a:lnTo>
                <a:arcTo wR="50800" hR="101600" stAng="10800000" swAng="-5400000"/>
                <a:close/>
              </a:path>
            </a:pathLst>
          </a:custGeom>
          <a:solidFill>
            <a:srgbClr val="C9682C"/>
          </a:solidFill>
          <a:ln/>
        </p:spPr>
        <p:txBody>
          <a:bodyPr/>
          <a:lstStyle/>
          <a:p>
            <a:endParaRPr lang="en-US"/>
          </a:p>
        </p:txBody>
      </p:sp>
      <p:sp>
        <p:nvSpPr>
          <p:cNvPr id="12" name="Text 9"/>
          <p:cNvSpPr/>
          <p:nvPr/>
        </p:nvSpPr>
        <p:spPr>
          <a:xfrm>
            <a:off x="7975095" y="1917675"/>
            <a:ext cx="3296902" cy="23875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E8597"/>
                </a:solidFill>
                <a:latin typeface="Oswald" pitchFamily="34" charset="0"/>
                <a:ea typeface="Oswald" pitchFamily="34" charset="-122"/>
                <a:cs typeface="Oswald" pitchFamily="34" charset="-120"/>
              </a:rPr>
              <a:t>TWO WAYS OUT</a:t>
            </a:r>
            <a:endParaRPr lang="en-US" sz="1200" dirty="0"/>
          </a:p>
        </p:txBody>
      </p:sp>
      <p:sp>
        <p:nvSpPr>
          <p:cNvPr id="13" name="Text 10"/>
          <p:cNvSpPr/>
          <p:nvPr/>
        </p:nvSpPr>
        <p:spPr>
          <a:xfrm>
            <a:off x="7975095" y="2245320"/>
            <a:ext cx="3296902" cy="4877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682C"/>
                </a:solidFill>
                <a:latin typeface="Inter" pitchFamily="34" charset="0"/>
                <a:ea typeface="Inter" pitchFamily="34" charset="-122"/>
                <a:cs typeface="Inter" pitchFamily="34" charset="-120"/>
              </a:rPr>
              <a:t>1</a:t>
            </a:r>
            <a:r>
              <a:rPr lang="en-US" sz="1300" dirty="0">
                <a:solidFill>
                  <a:srgbClr val="E8EEF4"/>
                </a:solidFill>
                <a:latin typeface="Inter" pitchFamily="34" charset="0"/>
                <a:ea typeface="Inter" pitchFamily="34" charset="-122"/>
                <a:cs typeface="Inter" pitchFamily="34" charset="-120"/>
              </a:rPr>
              <a:t> Fix the code until the rule’s test passes.</a:t>
            </a:r>
            <a:endParaRPr lang="en-US" sz="1300" dirty="0"/>
          </a:p>
        </p:txBody>
      </p:sp>
      <p:sp>
        <p:nvSpPr>
          <p:cNvPr id="14" name="Text 11"/>
          <p:cNvSpPr/>
          <p:nvPr/>
        </p:nvSpPr>
        <p:spPr>
          <a:xfrm>
            <a:off x="7975095" y="2821905"/>
            <a:ext cx="3296902" cy="4877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682C"/>
                </a:solidFill>
                <a:latin typeface="Inter" pitchFamily="34" charset="0"/>
                <a:ea typeface="Inter" pitchFamily="34" charset="-122"/>
                <a:cs typeface="Inter" pitchFamily="34" charset="-120"/>
              </a:rPr>
              <a:t>2</a:t>
            </a:r>
            <a:r>
              <a:rPr lang="en-US" sz="1300" dirty="0">
                <a:solidFill>
                  <a:srgbClr val="E8EEF4"/>
                </a:solidFill>
                <a:latin typeface="Inter" pitchFamily="34" charset="0"/>
                <a:ea typeface="Inter" pitchFamily="34" charset="-122"/>
                <a:cs typeface="Inter" pitchFamily="34" charset="-120"/>
              </a:rPr>
              <a:t> Rule wrong? Change the rule, its test and a Changelog line, together.</a:t>
            </a:r>
            <a:endParaRPr lang="en-US" sz="1300" dirty="0"/>
          </a:p>
        </p:txBody>
      </p:sp>
      <p:sp>
        <p:nvSpPr>
          <p:cNvPr id="15" name="Text 12"/>
          <p:cNvSpPr/>
          <p:nvPr/>
        </p:nvSpPr>
        <p:spPr>
          <a:xfrm>
            <a:off x="7975095" y="3398503"/>
            <a:ext cx="3296902" cy="4877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8EEF4"/>
                </a:solidFill>
                <a:latin typeface="Inter" pitchFamily="34" charset="0"/>
                <a:ea typeface="Inter" pitchFamily="34" charset="-122"/>
                <a:cs typeface="Inter" pitchFamily="34" charset="-120"/>
              </a:rPr>
              <a:t>A broken rule can’t be skipped.</a:t>
            </a:r>
            <a:endParaRPr lang="en-US" sz="1300" dirty="0"/>
          </a:p>
        </p:txBody>
      </p:sp>
      <p:sp>
        <p:nvSpPr>
          <p:cNvPr id="16" name="Text 13"/>
          <p:cNvSpPr/>
          <p:nvPr/>
        </p:nvSpPr>
        <p:spPr>
          <a:xfrm>
            <a:off x="7975095" y="3760000"/>
            <a:ext cx="3296902" cy="420000"/>
          </a:xfrm>
          <a:prstGeom prst="rect">
            <a:avLst/>
          </a:prstGeom>
          <a:noFill/>
          <a:ln/>
        </p:spPr>
        <p:txBody>
          <a:bodyPr wrap="square" lIns="0" tIns="0" rIns="0" bIns="0" rtlCol="0" anchor="t"/>
          <a:lstStyle/>
          <a:p>
            <a:pPr marL="0" indent="0" algn="l">
              <a:lnSpc>
                <a:spcPts val="1960"/>
              </a:lnSpc>
              <a:buNone/>
            </a:pPr>
            <a:r>
              <a:rPr lang="en-US" sz="1100" kern="0" spc="50" dirty="0">
                <a:solidFill>
                  <a:srgbClr val="C9682C"/>
                </a:solidFill>
                <a:latin typeface="Oswald" pitchFamily="34" charset="0"/>
                <a:ea typeface="Oswald" pitchFamily="34" charset="-122"/>
                <a:cs typeface="Oswald" pitchFamily="34" charset="-120"/>
              </a:rPr>
              <a:t>NEVER EDIT THE HOOK OR THE TEST TO MAKE IT PASS.</a:t>
            </a:r>
            <a:endParaRPr lang="en-US" sz="1400" dirty="0"/>
          </a:p>
        </p:txBody>
      </p:sp>
      <p:sp>
        <p:nvSpPr>
          <p:cNvPr id="17" name="Text 14"/>
          <p:cNvSpPr/>
          <p:nvPr/>
        </p:nvSpPr>
        <p:spPr>
          <a:xfrm>
            <a:off x="7721583" y="5016463"/>
            <a:ext cx="3767310" cy="487704"/>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8"/>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WHAT STOPPED THE MISTAKE?</a:t>
            </a:r>
            <a:endParaRPr lang="en-US" sz="1200" dirty="0"/>
          </a:p>
        </p:txBody>
      </p:sp>
      <p:sp>
        <p:nvSpPr>
          <p:cNvPr id="4" name="Text 1"/>
          <p:cNvSpPr>
            <a:spLocks noGrp="1"/>
          </p:cNvSpPr>
          <p:nvPr>
            <p:ph type="title"/>
          </p:nvPr>
        </p:nvSpPr>
        <p:spPr>
          <a:xfrm>
            <a:off x="812775" y="1102296"/>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WHAT ACTUALLY PROTECTED THE RULE?</a:t>
            </a:r>
            <a:endParaRPr lang="en-US" sz="3200" dirty="0"/>
          </a:p>
        </p:txBody>
      </p:sp>
      <p:sp>
        <p:nvSpPr>
          <p:cNvPr id="5" name="Shape 2"/>
          <p:cNvSpPr/>
          <p:nvPr/>
        </p:nvSpPr>
        <p:spPr>
          <a:xfrm>
            <a:off x="812775" y="2031975"/>
            <a:ext cx="10566390" cy="660340"/>
          </a:xfrm>
          <a:prstGeom prst="roundRect">
            <a:avLst>
              <a:gd name="adj" fmla="val 15386"/>
            </a:avLst>
          </a:prstGeom>
          <a:solidFill>
            <a:srgbClr val="0B3042"/>
          </a:solidFill>
          <a:ln/>
        </p:spPr>
        <p:txBody>
          <a:bodyPr/>
          <a:lstStyle/>
          <a:p>
            <a:endParaRPr lang="en-US"/>
          </a:p>
        </p:txBody>
      </p:sp>
      <p:sp>
        <p:nvSpPr>
          <p:cNvPr id="6" name="Shape 3"/>
          <p:cNvSpPr/>
          <p:nvPr/>
        </p:nvSpPr>
        <p:spPr>
          <a:xfrm>
            <a:off x="812775" y="2031975"/>
            <a:ext cx="10566390" cy="660340"/>
          </a:xfrm>
          <a:custGeom>
            <a:avLst/>
            <a:gdLst/>
            <a:ahLst/>
            <a:cxnLst/>
            <a:rect l="l" t="t" r="r" b="b"/>
            <a:pathLst>
              <a:path w="10566390" h="660340">
                <a:moveTo>
                  <a:pt x="101600" y="660340"/>
                </a:moveTo>
                <a:lnTo>
                  <a:pt x="101600" y="660340"/>
                </a:lnTo>
                <a:arcTo wR="101600" hR="101600" stAng="5400000" swAng="5400000"/>
                <a:lnTo>
                  <a:pt x="0" y="101600"/>
                </a:lnTo>
                <a:arcTo wR="101600" hR="101600" stAng="10800000" swAng="5400000"/>
                <a:lnTo>
                  <a:pt x="101600" y="0"/>
                </a:lnTo>
                <a:arcTo wR="50800" hR="101600" stAng="16200000" swAng="-5400000"/>
                <a:lnTo>
                  <a:pt x="50800" y="558740"/>
                </a:lnTo>
                <a:arcTo wR="50800" hR="101600" stAng="10800000" swAng="-5400000"/>
                <a:close/>
              </a:path>
            </a:pathLst>
          </a:custGeom>
          <a:solidFill>
            <a:srgbClr val="6E8597"/>
          </a:solidFill>
          <a:ln/>
        </p:spPr>
        <p:txBody>
          <a:bodyPr/>
          <a:lstStyle/>
          <a:p>
            <a:endParaRPr lang="en-US"/>
          </a:p>
        </p:txBody>
      </p:sp>
      <p:pic>
        <p:nvPicPr>
          <p:cNvPr id="7" name="Image 1" descr="Book"/>
          <p:cNvPicPr>
            <a:picLocks noChangeAspect="1"/>
          </p:cNvPicPr>
          <p:nvPr/>
        </p:nvPicPr>
        <p:blipFill>
          <a:blip r:embed="rId4"/>
          <a:srcRect/>
          <a:stretch/>
        </p:blipFill>
        <p:spPr>
          <a:xfrm>
            <a:off x="1091667" y="2209750"/>
            <a:ext cx="304775" cy="304775"/>
          </a:xfrm>
          <a:prstGeom prst="rect">
            <a:avLst/>
          </a:prstGeom>
        </p:spPr>
      </p:pic>
      <p:sp>
        <p:nvSpPr>
          <p:cNvPr id="8" name="Text 4"/>
          <p:cNvSpPr/>
          <p:nvPr/>
        </p:nvSpPr>
        <p:spPr>
          <a:xfrm>
            <a:off x="1599636" y="2224980"/>
            <a:ext cx="4158739" cy="299701"/>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E8EEF4"/>
                </a:solidFill>
                <a:latin typeface="Oswald" pitchFamily="34" charset="0"/>
                <a:ea typeface="Oswald" pitchFamily="34" charset="-122"/>
                <a:cs typeface="Oswald" pitchFamily="34" charset="-120"/>
              </a:rPr>
              <a:t>THE MODEL HAD THE DOMAIN CONTEXT.</a:t>
            </a:r>
            <a:endParaRPr lang="en-US" sz="1800" dirty="0"/>
          </a:p>
        </p:txBody>
      </p:sp>
      <p:sp>
        <p:nvSpPr>
          <p:cNvPr id="9" name="Shape 5"/>
          <p:cNvSpPr/>
          <p:nvPr/>
        </p:nvSpPr>
        <p:spPr>
          <a:xfrm>
            <a:off x="812775" y="2819301"/>
            <a:ext cx="10566390" cy="660340"/>
          </a:xfrm>
          <a:prstGeom prst="roundRect">
            <a:avLst>
              <a:gd name="adj" fmla="val 15386"/>
            </a:avLst>
          </a:prstGeom>
          <a:solidFill>
            <a:srgbClr val="0B3042"/>
          </a:solidFill>
          <a:ln/>
        </p:spPr>
        <p:txBody>
          <a:bodyPr/>
          <a:lstStyle/>
          <a:p>
            <a:endParaRPr lang="en-US"/>
          </a:p>
        </p:txBody>
      </p:sp>
      <p:sp>
        <p:nvSpPr>
          <p:cNvPr id="10" name="Shape 6"/>
          <p:cNvSpPr/>
          <p:nvPr/>
        </p:nvSpPr>
        <p:spPr>
          <a:xfrm>
            <a:off x="812775" y="2819301"/>
            <a:ext cx="10566390" cy="660340"/>
          </a:xfrm>
          <a:custGeom>
            <a:avLst/>
            <a:gdLst/>
            <a:ahLst/>
            <a:cxnLst/>
            <a:rect l="l" t="t" r="r" b="b"/>
            <a:pathLst>
              <a:path w="10566390" h="660340">
                <a:moveTo>
                  <a:pt x="101600" y="660340"/>
                </a:moveTo>
                <a:lnTo>
                  <a:pt x="101600" y="660340"/>
                </a:lnTo>
                <a:arcTo wR="101600" hR="101600" stAng="5400000" swAng="5400000"/>
                <a:lnTo>
                  <a:pt x="0" y="101600"/>
                </a:lnTo>
                <a:arcTo wR="101600" hR="101600" stAng="10800000" swAng="5400000"/>
                <a:lnTo>
                  <a:pt x="101600" y="0"/>
                </a:lnTo>
                <a:arcTo wR="50800" hR="101600" stAng="16200000" swAng="-5400000"/>
                <a:lnTo>
                  <a:pt x="50800" y="558740"/>
                </a:lnTo>
                <a:arcTo wR="50800" hR="101600" stAng="10800000" swAng="-5400000"/>
                <a:close/>
              </a:path>
            </a:pathLst>
          </a:custGeom>
          <a:solidFill>
            <a:srgbClr val="B8C7D3"/>
          </a:solidFill>
          <a:ln/>
        </p:spPr>
        <p:txBody>
          <a:bodyPr/>
          <a:lstStyle/>
          <a:p>
            <a:endParaRPr lang="en-US"/>
          </a:p>
        </p:txBody>
      </p:sp>
      <p:pic>
        <p:nvPicPr>
          <p:cNvPr id="11" name="Image 2" descr="Check"/>
          <p:cNvPicPr>
            <a:picLocks noChangeAspect="1"/>
          </p:cNvPicPr>
          <p:nvPr/>
        </p:nvPicPr>
        <p:blipFill>
          <a:blip r:embed="rId5"/>
          <a:srcRect/>
          <a:stretch/>
        </p:blipFill>
        <p:spPr>
          <a:xfrm>
            <a:off x="1091667" y="2997088"/>
            <a:ext cx="304775" cy="304775"/>
          </a:xfrm>
          <a:prstGeom prst="rect">
            <a:avLst/>
          </a:prstGeom>
        </p:spPr>
      </p:pic>
      <p:sp>
        <p:nvSpPr>
          <p:cNvPr id="12" name="Text 7"/>
          <p:cNvSpPr/>
          <p:nvPr/>
        </p:nvSpPr>
        <p:spPr>
          <a:xfrm>
            <a:off x="1599636" y="3012306"/>
            <a:ext cx="4594097" cy="299701"/>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E8EEF4"/>
                </a:solidFill>
                <a:latin typeface="Oswald" pitchFamily="34" charset="0"/>
                <a:ea typeface="Oswald" pitchFamily="34" charset="-122"/>
                <a:cs typeface="Oswald" pitchFamily="34" charset="-120"/>
              </a:rPr>
              <a:t>THE TEST EXPOSED THE BROKEN BEHAVIOR.</a:t>
            </a:r>
            <a:endParaRPr lang="en-US" sz="1800" dirty="0"/>
          </a:p>
        </p:txBody>
      </p:sp>
      <p:sp>
        <p:nvSpPr>
          <p:cNvPr id="13" name="Shape 8"/>
          <p:cNvSpPr/>
          <p:nvPr/>
        </p:nvSpPr>
        <p:spPr>
          <a:xfrm>
            <a:off x="812775" y="3606639"/>
            <a:ext cx="10566390" cy="660340"/>
          </a:xfrm>
          <a:prstGeom prst="roundRect">
            <a:avLst>
              <a:gd name="adj" fmla="val 15386"/>
            </a:avLst>
          </a:prstGeom>
          <a:solidFill>
            <a:srgbClr val="0B3042"/>
          </a:solidFill>
          <a:ln/>
        </p:spPr>
        <p:txBody>
          <a:bodyPr/>
          <a:lstStyle/>
          <a:p>
            <a:endParaRPr lang="en-US"/>
          </a:p>
        </p:txBody>
      </p:sp>
      <p:sp>
        <p:nvSpPr>
          <p:cNvPr id="14" name="Shape 9"/>
          <p:cNvSpPr/>
          <p:nvPr/>
        </p:nvSpPr>
        <p:spPr>
          <a:xfrm>
            <a:off x="812775" y="3606639"/>
            <a:ext cx="10566390" cy="660340"/>
          </a:xfrm>
          <a:custGeom>
            <a:avLst/>
            <a:gdLst/>
            <a:ahLst/>
            <a:cxnLst/>
            <a:rect l="l" t="t" r="r" b="b"/>
            <a:pathLst>
              <a:path w="10566390" h="660340">
                <a:moveTo>
                  <a:pt x="101600" y="660340"/>
                </a:moveTo>
                <a:lnTo>
                  <a:pt x="101600" y="660340"/>
                </a:lnTo>
                <a:arcTo wR="101600" hR="101600" stAng="5400000" swAng="5400000"/>
                <a:lnTo>
                  <a:pt x="0" y="101600"/>
                </a:lnTo>
                <a:arcTo wR="101600" hR="101600" stAng="10800000" swAng="5400000"/>
                <a:lnTo>
                  <a:pt x="101600" y="0"/>
                </a:lnTo>
                <a:arcTo wR="50800" hR="101600" stAng="16200000" swAng="-5400000"/>
                <a:lnTo>
                  <a:pt x="50800" y="558740"/>
                </a:lnTo>
                <a:arcTo wR="50800" hR="101600" stAng="10800000" swAng="-5400000"/>
                <a:close/>
              </a:path>
            </a:pathLst>
          </a:custGeom>
          <a:solidFill>
            <a:srgbClr val="C9682C"/>
          </a:solidFill>
          <a:ln/>
        </p:spPr>
        <p:txBody>
          <a:bodyPr/>
          <a:lstStyle/>
          <a:p>
            <a:endParaRPr lang="en-US"/>
          </a:p>
        </p:txBody>
      </p:sp>
      <p:pic>
        <p:nvPicPr>
          <p:cNvPr id="15" name="Image 3" descr="Lock"/>
          <p:cNvPicPr>
            <a:picLocks noChangeAspect="1"/>
          </p:cNvPicPr>
          <p:nvPr/>
        </p:nvPicPr>
        <p:blipFill>
          <a:blip r:embed="rId6"/>
          <a:srcRect/>
          <a:stretch/>
        </p:blipFill>
        <p:spPr>
          <a:xfrm>
            <a:off x="1091667" y="3784414"/>
            <a:ext cx="304775" cy="304775"/>
          </a:xfrm>
          <a:prstGeom prst="rect">
            <a:avLst/>
          </a:prstGeom>
        </p:spPr>
      </p:pic>
      <p:sp>
        <p:nvSpPr>
          <p:cNvPr id="16" name="Text 10"/>
          <p:cNvSpPr/>
          <p:nvPr/>
        </p:nvSpPr>
        <p:spPr>
          <a:xfrm>
            <a:off x="1599636" y="3799644"/>
            <a:ext cx="4811965" cy="299701"/>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C9682C"/>
                </a:solidFill>
                <a:latin typeface="Oswald" pitchFamily="34" charset="0"/>
                <a:ea typeface="Oswald" pitchFamily="34" charset="-122"/>
                <a:cs typeface="Oswald" pitchFamily="34" charset="-120"/>
              </a:rPr>
              <a:t>THE REQUIRED GATE CONTROLS ACCEPTANCE.</a:t>
            </a:r>
            <a:endParaRPr lang="en-US" sz="1800" dirty="0"/>
          </a:p>
        </p:txBody>
      </p:sp>
      <p:sp>
        <p:nvSpPr>
          <p:cNvPr id="17" name="Text 11"/>
          <p:cNvSpPr/>
          <p:nvPr/>
        </p:nvSpPr>
        <p:spPr>
          <a:xfrm>
            <a:off x="812775" y="5016475"/>
            <a:ext cx="10883382" cy="55871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7D3"/>
                </a:solidFill>
                <a:latin typeface="Inter" pitchFamily="34" charset="0"/>
                <a:ea typeface="Inter" pitchFamily="34" charset="-122"/>
                <a:cs typeface="Inter" pitchFamily="34" charset="-120"/>
              </a:rPr>
              <a:t>If the model changes the test to get green, nothing was solved. Rules and tests get reviewed as carefully as the implementation.</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5"/>
          <a:srcRect l="-58" r="-58"/>
          <a:stretch/>
        </p:blipFill>
        <p:spPr>
          <a:xfrm>
            <a:off x="10413987" y="177788"/>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CODIFIED · THE MOD · VIDEO · 1:00</a:t>
            </a:r>
            <a:endParaRPr lang="en-US" sz="1200" dirty="0"/>
          </a:p>
        </p:txBody>
      </p:sp>
      <p:sp>
        <p:nvSpPr>
          <p:cNvPr id="4" name="Text 1"/>
          <p:cNvSpPr>
            <a:spLocks noGrp="1"/>
          </p:cNvSpPr>
          <p:nvPr>
            <p:ph type="title"/>
          </p:nvPr>
        </p:nvSpPr>
        <p:spPr>
          <a:xfrm>
            <a:off x="812775" y="1102296"/>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THE CHECK INSIDE CLAUDE CODE</a:t>
            </a:r>
            <a:endParaRPr lang="en-US" sz="3200" dirty="0"/>
          </a:p>
        </p:txBody>
      </p:sp>
      <p:sp>
        <p:nvSpPr>
          <p:cNvPr id="5" name="Shape 2"/>
          <p:cNvSpPr/>
          <p:nvPr/>
        </p:nvSpPr>
        <p:spPr>
          <a:xfrm>
            <a:off x="2482826" y="1904975"/>
            <a:ext cx="7226288" cy="4063970"/>
          </a:xfrm>
          <a:prstGeom prst="roundRect">
            <a:avLst>
              <a:gd name="adj" fmla="val 2500"/>
            </a:avLst>
          </a:prstGeom>
          <a:solidFill>
            <a:srgbClr val="0F1F2A"/>
          </a:solidFill>
          <a:ln/>
        </p:spPr>
        <p:txBody>
          <a:bodyPr/>
          <a:lstStyle/>
          <a:p>
            <a:endParaRPr lang="en-US"/>
          </a:p>
        </p:txBody>
      </p:sp>
      <p:pic>
        <p:nvPicPr>
          <p:cNvPr id="8" name="Video · The check inside Claude Code" descr="The ontology observer mod catching an oversized casing, then the fix">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501876" y="1924025"/>
            <a:ext cx="7188188" cy="4025870"/>
          </a:xfrm>
          <a:prstGeom prst="roundRect">
            <a:avLst>
              <a:gd name="adj" fmla="val 2050"/>
            </a:avLst>
          </a:prstGeom>
        </p:spPr>
      </p:pic>
      <p:sp>
        <p:nvSpPr>
          <p:cNvPr id="7" name="Shape 3"/>
          <p:cNvSpPr/>
          <p:nvPr/>
        </p:nvSpPr>
        <p:spPr>
          <a:xfrm>
            <a:off x="2492351" y="1914500"/>
            <a:ext cx="7207238" cy="4044920"/>
          </a:xfrm>
          <a:prstGeom prst="roundRect">
            <a:avLst>
              <a:gd name="adj" fmla="val 2276"/>
            </a:avLst>
          </a:prstGeom>
          <a:noFill/>
          <a:ln w="19050">
            <a:solidFill>
              <a:srgbClr val="C9682C"/>
            </a:solidFill>
            <a:prstDash val="solid"/>
          </a:ln>
        </p:spPr>
        <p:txBody>
          <a:bodyPr/>
          <a:lstStyle/>
          <a:p>
            <a:endParaRPr lang="en-US"/>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75"/>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WHAT I LEARNED</a:t>
            </a:r>
            <a:endParaRPr lang="en-US" sz="1200" dirty="0"/>
          </a:p>
        </p:txBody>
      </p:sp>
      <p:sp>
        <p:nvSpPr>
          <p:cNvPr id="4" name="Text 1"/>
          <p:cNvSpPr>
            <a:spLocks noGrp="1"/>
          </p:cNvSpPr>
          <p:nvPr>
            <p:ph type="title"/>
          </p:nvPr>
        </p:nvSpPr>
        <p:spPr>
          <a:xfrm>
            <a:off x="812775" y="1102296"/>
            <a:ext cx="10883414" cy="528305"/>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E8EEF4"/>
                </a:solidFill>
                <a:latin typeface="Oswald" pitchFamily="34" charset="0"/>
                <a:ea typeface="Oswald" pitchFamily="34" charset="-122"/>
                <a:cs typeface="Oswald" pitchFamily="34" charset="-120"/>
              </a:rPr>
              <a:t>CONTEXT IS THE TEAM.</a:t>
            </a:r>
            <a:endParaRPr lang="en-US" sz="3600" dirty="0"/>
          </a:p>
        </p:txBody>
      </p:sp>
      <p:sp>
        <p:nvSpPr>
          <p:cNvPr id="5" name="Shape 2"/>
          <p:cNvSpPr/>
          <p:nvPr/>
        </p:nvSpPr>
        <p:spPr>
          <a:xfrm>
            <a:off x="812775" y="2031963"/>
            <a:ext cx="3174993" cy="2158993"/>
          </a:xfrm>
          <a:prstGeom prst="roundRect">
            <a:avLst>
              <a:gd name="adj" fmla="val 4706"/>
            </a:avLst>
          </a:prstGeom>
          <a:solidFill>
            <a:srgbClr val="0B3042"/>
          </a:solidFill>
          <a:ln/>
        </p:spPr>
        <p:txBody>
          <a:bodyPr/>
          <a:lstStyle/>
          <a:p>
            <a:endParaRPr lang="en-US"/>
          </a:p>
        </p:txBody>
      </p:sp>
      <p:sp>
        <p:nvSpPr>
          <p:cNvPr id="6" name="Shape 3"/>
          <p:cNvSpPr/>
          <p:nvPr/>
        </p:nvSpPr>
        <p:spPr>
          <a:xfrm>
            <a:off x="812775" y="2031963"/>
            <a:ext cx="3174993" cy="2158993"/>
          </a:xfrm>
          <a:custGeom>
            <a:avLst/>
            <a:gdLst/>
            <a:ahLst/>
            <a:cxnLst/>
            <a:rect l="l" t="t" r="r" b="b"/>
            <a:pathLst>
              <a:path w="3174993" h="2158993">
                <a:moveTo>
                  <a:pt x="101600" y="2158993"/>
                </a:moveTo>
                <a:lnTo>
                  <a:pt x="101600" y="2158993"/>
                </a:lnTo>
                <a:arcTo wR="101600" hR="101600" stAng="5400000" swAng="5400000"/>
                <a:lnTo>
                  <a:pt x="0" y="101600"/>
                </a:lnTo>
                <a:arcTo wR="101600" hR="101600" stAng="10800000" swAng="5400000"/>
                <a:lnTo>
                  <a:pt x="101600" y="0"/>
                </a:lnTo>
                <a:arcTo wR="50800" hR="101600" stAng="16200000" swAng="-5400000"/>
                <a:lnTo>
                  <a:pt x="50800" y="2057393"/>
                </a:lnTo>
                <a:arcTo wR="50800" hR="101600" stAng="10800000" swAng="-5400000"/>
                <a:close/>
              </a:path>
            </a:pathLst>
          </a:custGeom>
          <a:solidFill>
            <a:srgbClr val="C9682C"/>
          </a:solidFill>
          <a:ln/>
        </p:spPr>
        <p:txBody>
          <a:bodyPr/>
          <a:lstStyle/>
          <a:p>
            <a:endParaRPr lang="en-US"/>
          </a:p>
        </p:txBody>
      </p:sp>
      <p:sp>
        <p:nvSpPr>
          <p:cNvPr id="7" name="Text 4"/>
          <p:cNvSpPr/>
          <p:nvPr/>
        </p:nvSpPr>
        <p:spPr>
          <a:xfrm>
            <a:off x="1066288" y="2235163"/>
            <a:ext cx="2799835"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DOMAIN KNOWLEDGE</a:t>
            </a:r>
            <a:endParaRPr lang="en-US" sz="1100" dirty="0"/>
          </a:p>
        </p:txBody>
      </p:sp>
      <p:sp>
        <p:nvSpPr>
          <p:cNvPr id="8" name="Text 5"/>
          <p:cNvSpPr/>
          <p:nvPr/>
        </p:nvSpPr>
        <p:spPr>
          <a:xfrm>
            <a:off x="1066288" y="2506886"/>
            <a:ext cx="2799835" cy="574001"/>
          </a:xfrm>
          <a:prstGeom prst="rect">
            <a:avLst/>
          </a:prstGeom>
          <a:noFill/>
          <a:ln/>
        </p:spPr>
        <p:txBody>
          <a:bodyPr wrap="square" lIns="0" tIns="0" rIns="0" bIns="0" rtlCol="0" anchor="t">
            <a:normAutofit/>
          </a:bodyPr>
          <a:lstStyle/>
          <a:p>
            <a:pPr marL="0" indent="0" algn="l">
              <a:lnSpc>
                <a:spcPts val="2160"/>
              </a:lnSpc>
              <a:buNone/>
            </a:pPr>
            <a:r>
              <a:rPr lang="en-US" sz="1800" kern="0" spc="100" dirty="0">
                <a:solidFill>
                  <a:srgbClr val="E8EEF4"/>
                </a:solidFill>
                <a:latin typeface="Oswald" pitchFamily="34" charset="0"/>
                <a:ea typeface="Oswald" pitchFamily="34" charset="-122"/>
                <a:cs typeface="Oswald" pitchFamily="34" charset="-120"/>
              </a:rPr>
              <a:t>LEARN WHAT THE WORK MEANS.</a:t>
            </a:r>
            <a:endParaRPr lang="en-US" sz="1800" dirty="0"/>
          </a:p>
        </p:txBody>
      </p:sp>
      <p:sp>
        <p:nvSpPr>
          <p:cNvPr id="9" name="Text 6"/>
          <p:cNvSpPr/>
          <p:nvPr/>
        </p:nvSpPr>
        <p:spPr>
          <a:xfrm>
            <a:off x="1066288" y="3131654"/>
            <a:ext cx="2799835" cy="23875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The river, the landman, the school.</a:t>
            </a:r>
            <a:endParaRPr lang="en-US" sz="1200" dirty="0"/>
          </a:p>
        </p:txBody>
      </p:sp>
      <p:pic>
        <p:nvPicPr>
          <p:cNvPr id="10" name="Image 1" descr="connector"/>
          <p:cNvPicPr>
            <a:picLocks noChangeAspect="1"/>
          </p:cNvPicPr>
          <p:nvPr/>
        </p:nvPicPr>
        <p:blipFill>
          <a:blip r:embed="rId4"/>
          <a:srcRect l="-3" r="-3"/>
          <a:stretch/>
        </p:blipFill>
        <p:spPr>
          <a:xfrm>
            <a:off x="3924272" y="3047963"/>
            <a:ext cx="647698" cy="126992"/>
          </a:xfrm>
          <a:prstGeom prst="rect">
            <a:avLst/>
          </a:prstGeom>
        </p:spPr>
      </p:pic>
      <p:sp>
        <p:nvSpPr>
          <p:cNvPr id="11" name="Shape 7"/>
          <p:cNvSpPr/>
          <p:nvPr/>
        </p:nvSpPr>
        <p:spPr>
          <a:xfrm>
            <a:off x="4508474" y="2031963"/>
            <a:ext cx="3174993" cy="2158993"/>
          </a:xfrm>
          <a:prstGeom prst="roundRect">
            <a:avLst>
              <a:gd name="adj" fmla="val 4706"/>
            </a:avLst>
          </a:prstGeom>
          <a:solidFill>
            <a:srgbClr val="0B3042"/>
          </a:solidFill>
          <a:ln/>
        </p:spPr>
        <p:txBody>
          <a:bodyPr/>
          <a:lstStyle/>
          <a:p>
            <a:endParaRPr lang="en-US"/>
          </a:p>
        </p:txBody>
      </p:sp>
      <p:sp>
        <p:nvSpPr>
          <p:cNvPr id="12" name="Shape 8"/>
          <p:cNvSpPr/>
          <p:nvPr/>
        </p:nvSpPr>
        <p:spPr>
          <a:xfrm>
            <a:off x="4508474" y="2031963"/>
            <a:ext cx="3174993" cy="2158993"/>
          </a:xfrm>
          <a:custGeom>
            <a:avLst/>
            <a:gdLst/>
            <a:ahLst/>
            <a:cxnLst/>
            <a:rect l="l" t="t" r="r" b="b"/>
            <a:pathLst>
              <a:path w="3174993" h="2158993">
                <a:moveTo>
                  <a:pt x="101600" y="2158993"/>
                </a:moveTo>
                <a:lnTo>
                  <a:pt x="101600" y="2158993"/>
                </a:lnTo>
                <a:arcTo wR="101600" hR="101600" stAng="5400000" swAng="5400000"/>
                <a:lnTo>
                  <a:pt x="0" y="101600"/>
                </a:lnTo>
                <a:arcTo wR="101600" hR="101600" stAng="10800000" swAng="5400000"/>
                <a:lnTo>
                  <a:pt x="101600" y="0"/>
                </a:lnTo>
                <a:arcTo wR="50800" hR="101600" stAng="16200000" swAng="-5400000"/>
                <a:lnTo>
                  <a:pt x="50800" y="2057393"/>
                </a:lnTo>
                <a:arcTo wR="50800" hR="101600" stAng="10800000" swAng="-5400000"/>
                <a:close/>
              </a:path>
            </a:pathLst>
          </a:custGeom>
          <a:solidFill>
            <a:srgbClr val="C9682C"/>
          </a:solidFill>
          <a:ln/>
        </p:spPr>
        <p:txBody>
          <a:bodyPr/>
          <a:lstStyle/>
          <a:p>
            <a:endParaRPr lang="en-US"/>
          </a:p>
        </p:txBody>
      </p:sp>
      <p:sp>
        <p:nvSpPr>
          <p:cNvPr id="13" name="Text 9"/>
          <p:cNvSpPr/>
          <p:nvPr/>
        </p:nvSpPr>
        <p:spPr>
          <a:xfrm>
            <a:off x="4761986" y="2235163"/>
            <a:ext cx="2799835"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ONTOLOGY</a:t>
            </a:r>
            <a:endParaRPr lang="en-US" sz="1100" dirty="0"/>
          </a:p>
        </p:txBody>
      </p:sp>
      <p:sp>
        <p:nvSpPr>
          <p:cNvPr id="14" name="Text 10"/>
          <p:cNvSpPr/>
          <p:nvPr/>
        </p:nvSpPr>
        <p:spPr>
          <a:xfrm>
            <a:off x="4761986" y="2506886"/>
            <a:ext cx="2799835" cy="848302"/>
          </a:xfrm>
          <a:prstGeom prst="rect">
            <a:avLst/>
          </a:prstGeom>
          <a:noFill/>
          <a:ln/>
        </p:spPr>
        <p:txBody>
          <a:bodyPr wrap="square" lIns="0" tIns="0" rIns="0" bIns="0" rtlCol="0" anchor="t">
            <a:normAutofit/>
          </a:bodyPr>
          <a:lstStyle/>
          <a:p>
            <a:pPr marL="0" indent="0" algn="l">
              <a:lnSpc>
                <a:spcPts val="2160"/>
              </a:lnSpc>
              <a:buNone/>
            </a:pPr>
            <a:r>
              <a:rPr lang="en-US" sz="1800" kern="0" spc="100" dirty="0">
                <a:solidFill>
                  <a:srgbClr val="E8EEF4"/>
                </a:solidFill>
                <a:latin typeface="Oswald" pitchFamily="34" charset="0"/>
                <a:ea typeface="Oswald" pitchFamily="34" charset="-122"/>
                <a:cs typeface="Oswald" pitchFamily="34" charset="-120"/>
              </a:rPr>
              <a:t>NAME THE THINGS, RELATIONSHIPS AND RULES.</a:t>
            </a:r>
            <a:endParaRPr lang="en-US" sz="1800" dirty="0"/>
          </a:p>
        </p:txBody>
      </p:sp>
      <p:sp>
        <p:nvSpPr>
          <p:cNvPr id="15" name="Text 11"/>
          <p:cNvSpPr/>
          <p:nvPr/>
        </p:nvSpPr>
        <p:spPr>
          <a:xfrm>
            <a:off x="4761986" y="3405956"/>
            <a:ext cx="2799835" cy="4521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What the senior hand did: correct the understanding before the work starts.</a:t>
            </a:r>
            <a:endParaRPr lang="en-US" sz="1200" dirty="0"/>
          </a:p>
        </p:txBody>
      </p:sp>
      <p:pic>
        <p:nvPicPr>
          <p:cNvPr id="16" name="Image 2" descr="connector"/>
          <p:cNvPicPr>
            <a:picLocks noChangeAspect="1"/>
          </p:cNvPicPr>
          <p:nvPr/>
        </p:nvPicPr>
        <p:blipFill>
          <a:blip r:embed="rId4"/>
          <a:srcRect l="-3" r="-3"/>
          <a:stretch/>
        </p:blipFill>
        <p:spPr>
          <a:xfrm>
            <a:off x="7619971" y="3047963"/>
            <a:ext cx="647698" cy="126992"/>
          </a:xfrm>
          <a:prstGeom prst="rect">
            <a:avLst/>
          </a:prstGeom>
        </p:spPr>
      </p:pic>
      <p:sp>
        <p:nvSpPr>
          <p:cNvPr id="17" name="Shape 12"/>
          <p:cNvSpPr/>
          <p:nvPr/>
        </p:nvSpPr>
        <p:spPr>
          <a:xfrm>
            <a:off x="8204172" y="2031963"/>
            <a:ext cx="3174993" cy="2158993"/>
          </a:xfrm>
          <a:prstGeom prst="roundRect">
            <a:avLst>
              <a:gd name="adj" fmla="val 4706"/>
            </a:avLst>
          </a:prstGeom>
          <a:solidFill>
            <a:srgbClr val="0B3042"/>
          </a:solidFill>
          <a:ln/>
        </p:spPr>
        <p:txBody>
          <a:bodyPr/>
          <a:lstStyle/>
          <a:p>
            <a:endParaRPr lang="en-US"/>
          </a:p>
        </p:txBody>
      </p:sp>
      <p:sp>
        <p:nvSpPr>
          <p:cNvPr id="18" name="Shape 13"/>
          <p:cNvSpPr/>
          <p:nvPr/>
        </p:nvSpPr>
        <p:spPr>
          <a:xfrm>
            <a:off x="8204172" y="2031963"/>
            <a:ext cx="3174993" cy="2158993"/>
          </a:xfrm>
          <a:custGeom>
            <a:avLst/>
            <a:gdLst/>
            <a:ahLst/>
            <a:cxnLst/>
            <a:rect l="l" t="t" r="r" b="b"/>
            <a:pathLst>
              <a:path w="3174993" h="2158993">
                <a:moveTo>
                  <a:pt x="101600" y="2158993"/>
                </a:moveTo>
                <a:lnTo>
                  <a:pt x="101600" y="2158993"/>
                </a:lnTo>
                <a:arcTo wR="101600" hR="101600" stAng="5400000" swAng="5400000"/>
                <a:lnTo>
                  <a:pt x="0" y="101600"/>
                </a:lnTo>
                <a:arcTo wR="101600" hR="101600" stAng="10800000" swAng="5400000"/>
                <a:lnTo>
                  <a:pt x="101600" y="0"/>
                </a:lnTo>
                <a:arcTo wR="50800" hR="101600" stAng="16200000" swAng="-5400000"/>
                <a:lnTo>
                  <a:pt x="50800" y="2057393"/>
                </a:lnTo>
                <a:arcTo wR="50800" hR="101600" stAng="10800000" swAng="-5400000"/>
                <a:close/>
              </a:path>
            </a:pathLst>
          </a:custGeom>
          <a:solidFill>
            <a:srgbClr val="C9682C"/>
          </a:solidFill>
          <a:ln/>
        </p:spPr>
        <p:txBody>
          <a:bodyPr/>
          <a:lstStyle/>
          <a:p>
            <a:endParaRPr lang="en-US"/>
          </a:p>
        </p:txBody>
      </p:sp>
      <p:sp>
        <p:nvSpPr>
          <p:cNvPr id="19" name="Text 14"/>
          <p:cNvSpPr/>
          <p:nvPr/>
        </p:nvSpPr>
        <p:spPr>
          <a:xfrm>
            <a:off x="8457685" y="2235163"/>
            <a:ext cx="2799835" cy="220952"/>
          </a:xfrm>
          <a:prstGeom prst="rect">
            <a:avLst/>
          </a:prstGeom>
          <a:noFill/>
          <a:ln/>
        </p:spPr>
        <p:txBody>
          <a:bodyPr wrap="square" lIns="0" tIns="0" rIns="0" bIns="0" rtlCol="0" anchor="t">
            <a:normAutofit/>
          </a:bodyPr>
          <a:lstStyle/>
          <a:p>
            <a:pPr marL="0" indent="0" algn="l">
              <a:lnSpc>
                <a:spcPts val="1540"/>
              </a:lnSpc>
              <a:buNone/>
            </a:pPr>
            <a:r>
              <a:rPr lang="en-US" sz="1100" kern="0" spc="150" dirty="0">
                <a:solidFill>
                  <a:srgbClr val="6E8597"/>
                </a:solidFill>
                <a:latin typeface="Oswald" pitchFamily="34" charset="0"/>
                <a:ea typeface="Oswald" pitchFamily="34" charset="-122"/>
                <a:cs typeface="Oswald" pitchFamily="34" charset="-120"/>
              </a:rPr>
              <a:t>IMPLEMENTATION + GATE</a:t>
            </a:r>
            <a:endParaRPr lang="en-US" sz="1100" dirty="0"/>
          </a:p>
        </p:txBody>
      </p:sp>
      <p:sp>
        <p:nvSpPr>
          <p:cNvPr id="20" name="Text 15"/>
          <p:cNvSpPr/>
          <p:nvPr/>
        </p:nvSpPr>
        <p:spPr>
          <a:xfrm>
            <a:off x="8457685" y="2506886"/>
            <a:ext cx="2799835" cy="574001"/>
          </a:xfrm>
          <a:prstGeom prst="rect">
            <a:avLst/>
          </a:prstGeom>
          <a:noFill/>
          <a:ln/>
        </p:spPr>
        <p:txBody>
          <a:bodyPr wrap="square" lIns="0" tIns="0" rIns="0" bIns="0" rtlCol="0" anchor="t">
            <a:normAutofit/>
          </a:bodyPr>
          <a:lstStyle/>
          <a:p>
            <a:pPr marL="0" indent="0" algn="l">
              <a:lnSpc>
                <a:spcPts val="2160"/>
              </a:lnSpc>
              <a:buNone/>
            </a:pPr>
            <a:r>
              <a:rPr lang="en-US" sz="1800" kern="0" spc="100" dirty="0">
                <a:solidFill>
                  <a:srgbClr val="E8EEF4"/>
                </a:solidFill>
                <a:latin typeface="Oswald" pitchFamily="34" charset="0"/>
                <a:ea typeface="Oswald" pitchFamily="34" charset="-122"/>
                <a:cs typeface="Oswald" pitchFamily="34" charset="-120"/>
              </a:rPr>
              <a:t>USE THAT MEANING TO WRITE AND CHECK CODE.</a:t>
            </a:r>
            <a:endParaRPr lang="en-US" sz="1800" dirty="0"/>
          </a:p>
        </p:txBody>
      </p:sp>
      <p:sp>
        <p:nvSpPr>
          <p:cNvPr id="21" name="Text 16"/>
          <p:cNvSpPr/>
          <p:nvPr/>
        </p:nvSpPr>
        <p:spPr>
          <a:xfrm>
            <a:off x="8457685" y="3131654"/>
            <a:ext cx="2799835" cy="4521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7D3"/>
                </a:solidFill>
                <a:latin typeface="Inter" pitchFamily="34" charset="0"/>
                <a:ea typeface="Inter" pitchFamily="34" charset="-122"/>
                <a:cs typeface="Inter" pitchFamily="34" charset="-120"/>
              </a:rPr>
              <a:t>What the lock did: catch the mistake when nobody’s looking.</a:t>
            </a:r>
            <a:endParaRPr lang="en-US" sz="1200" dirty="0"/>
          </a:p>
        </p:txBody>
      </p:sp>
      <p:sp>
        <p:nvSpPr>
          <p:cNvPr id="22" name="Text 17"/>
          <p:cNvSpPr/>
          <p:nvPr/>
        </p:nvSpPr>
        <p:spPr>
          <a:xfrm>
            <a:off x="812775" y="4571963"/>
            <a:ext cx="10883382" cy="330175"/>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C9682C"/>
                </a:solidFill>
                <a:latin typeface="Oswald" pitchFamily="34" charset="0"/>
                <a:ea typeface="Oswald" pitchFamily="34" charset="-122"/>
                <a:cs typeface="Oswald" pitchFamily="34" charset="-120"/>
              </a:rPr>
              <a:t>THAT’S WHAT REPLACED THE CREW.</a:t>
            </a:r>
            <a:endParaRPr lang="en-US" sz="2000" dirty="0"/>
          </a:p>
        </p:txBody>
      </p:sp>
      <p:sp>
        <p:nvSpPr>
          <p:cNvPr id="23" name="Text 18"/>
          <p:cNvSpPr/>
          <p:nvPr/>
        </p:nvSpPr>
        <p:spPr>
          <a:xfrm>
            <a:off x="812775" y="5143500"/>
            <a:ext cx="10883382" cy="30985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EF4"/>
                </a:solidFill>
                <a:latin typeface="Inter" pitchFamily="34" charset="0"/>
                <a:ea typeface="Inter" pitchFamily="34" charset="-122"/>
                <a:cs typeface="Inter" pitchFamily="34" charset="-120"/>
              </a:rPr>
              <a:t>I still define the work and review the result. That part doesn’t get delegated.</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75"/>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TAKE IT INTO YOUR PROJECT</a:t>
            </a:r>
            <a:endParaRPr lang="en-US" sz="1200" dirty="0"/>
          </a:p>
        </p:txBody>
      </p:sp>
      <p:sp>
        <p:nvSpPr>
          <p:cNvPr id="4" name="Text 1"/>
          <p:cNvSpPr>
            <a:spLocks noGrp="1"/>
          </p:cNvSpPr>
          <p:nvPr>
            <p:ph type="title"/>
          </p:nvPr>
        </p:nvSpPr>
        <p:spPr>
          <a:xfrm>
            <a:off x="812775" y="1102296"/>
            <a:ext cx="1088341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EF4"/>
                </a:solidFill>
                <a:latin typeface="Oswald" pitchFamily="34" charset="0"/>
                <a:ea typeface="Oswald" pitchFamily="34" charset="-122"/>
                <a:cs typeface="Oswald" pitchFamily="34" charset="-120"/>
              </a:rPr>
              <a:t>ONE REPEATED CORRECTION</a:t>
            </a:r>
            <a:endParaRPr lang="en-US" sz="3200" dirty="0"/>
          </a:p>
        </p:txBody>
      </p:sp>
      <p:sp>
        <p:nvSpPr>
          <p:cNvPr id="5" name="Text 2"/>
          <p:cNvSpPr/>
          <p:nvPr/>
        </p:nvSpPr>
        <p:spPr>
          <a:xfrm>
            <a:off x="812775" y="1904975"/>
            <a:ext cx="10883382" cy="360649"/>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C9682C"/>
                </a:solidFill>
                <a:latin typeface="Oswald" pitchFamily="34" charset="0"/>
                <a:ea typeface="Oswald" pitchFamily="34" charset="-122"/>
                <a:cs typeface="Oswald" pitchFamily="34" charset="-120"/>
              </a:rPr>
              <a:t>WHAT MUST STAY TRUE IN YOUR PROJECT?</a:t>
            </a:r>
            <a:endParaRPr lang="en-US" sz="2200" dirty="0"/>
          </a:p>
        </p:txBody>
      </p:sp>
      <p:sp>
        <p:nvSpPr>
          <p:cNvPr id="6" name="Shape 3"/>
          <p:cNvSpPr/>
          <p:nvPr/>
        </p:nvSpPr>
        <p:spPr>
          <a:xfrm>
            <a:off x="812775" y="2539963"/>
            <a:ext cx="3420549" cy="1150572"/>
          </a:xfrm>
          <a:prstGeom prst="roundRect">
            <a:avLst>
              <a:gd name="adj" fmla="val 8830"/>
            </a:avLst>
          </a:prstGeom>
          <a:solidFill>
            <a:srgbClr val="0B3042"/>
          </a:solidFill>
          <a:ln/>
        </p:spPr>
        <p:txBody>
          <a:bodyPr/>
          <a:lstStyle/>
          <a:p>
            <a:endParaRPr lang="en-US"/>
          </a:p>
        </p:txBody>
      </p:sp>
      <p:sp>
        <p:nvSpPr>
          <p:cNvPr id="7" name="Text 4"/>
          <p:cNvSpPr/>
          <p:nvPr/>
        </p:nvSpPr>
        <p:spPr>
          <a:xfrm>
            <a:off x="1015969" y="2743163"/>
            <a:ext cx="3104586" cy="431788"/>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9682C"/>
                </a:solidFill>
                <a:latin typeface="Oswald" pitchFamily="34" charset="0"/>
                <a:ea typeface="Oswald" pitchFamily="34" charset="-122"/>
                <a:cs typeface="Oswald" pitchFamily="34" charset="-120"/>
              </a:rPr>
              <a:t>1</a:t>
            </a:r>
            <a:endParaRPr lang="en-US" sz="3200" dirty="0"/>
          </a:p>
        </p:txBody>
      </p:sp>
      <p:sp>
        <p:nvSpPr>
          <p:cNvPr id="8" name="Text 5"/>
          <p:cNvSpPr/>
          <p:nvPr/>
        </p:nvSpPr>
        <p:spPr>
          <a:xfrm>
            <a:off x="1015969" y="3238426"/>
            <a:ext cx="3104586" cy="27432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EEF4"/>
                </a:solidFill>
                <a:latin typeface="Inter" pitchFamily="34" charset="0"/>
                <a:ea typeface="Inter" pitchFamily="34" charset="-122"/>
                <a:cs typeface="Inter" pitchFamily="34" charset="-120"/>
              </a:rPr>
              <a:t>Write the rule and why it matters.</a:t>
            </a:r>
            <a:endParaRPr lang="en-US" sz="1400" dirty="0"/>
          </a:p>
        </p:txBody>
      </p:sp>
      <p:sp>
        <p:nvSpPr>
          <p:cNvPr id="9" name="Shape 6"/>
          <p:cNvSpPr/>
          <p:nvPr/>
        </p:nvSpPr>
        <p:spPr>
          <a:xfrm>
            <a:off x="4385696" y="2539963"/>
            <a:ext cx="3420549" cy="1150572"/>
          </a:xfrm>
          <a:prstGeom prst="roundRect">
            <a:avLst>
              <a:gd name="adj" fmla="val 8830"/>
            </a:avLst>
          </a:prstGeom>
          <a:solidFill>
            <a:srgbClr val="0B3042"/>
          </a:solidFill>
          <a:ln/>
        </p:spPr>
        <p:txBody>
          <a:bodyPr/>
          <a:lstStyle/>
          <a:p>
            <a:endParaRPr lang="en-US"/>
          </a:p>
        </p:txBody>
      </p:sp>
      <p:sp>
        <p:nvSpPr>
          <p:cNvPr id="10" name="Text 7"/>
          <p:cNvSpPr/>
          <p:nvPr/>
        </p:nvSpPr>
        <p:spPr>
          <a:xfrm>
            <a:off x="4588889" y="2743163"/>
            <a:ext cx="3104586" cy="431788"/>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9682C"/>
                </a:solidFill>
                <a:latin typeface="Oswald" pitchFamily="34" charset="0"/>
                <a:ea typeface="Oswald" pitchFamily="34" charset="-122"/>
                <a:cs typeface="Oswald" pitchFamily="34" charset="-120"/>
              </a:rPr>
              <a:t>2</a:t>
            </a:r>
            <a:endParaRPr lang="en-US" sz="3200" dirty="0"/>
          </a:p>
        </p:txBody>
      </p:sp>
      <p:sp>
        <p:nvSpPr>
          <p:cNvPr id="11" name="Text 8"/>
          <p:cNvSpPr/>
          <p:nvPr/>
        </p:nvSpPr>
        <p:spPr>
          <a:xfrm>
            <a:off x="4588889" y="3238426"/>
            <a:ext cx="3104586" cy="27432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EEF4"/>
                </a:solidFill>
                <a:latin typeface="Inter" pitchFamily="34" charset="0"/>
                <a:ea typeface="Inter" pitchFamily="34" charset="-122"/>
                <a:cs typeface="Inter" pitchFamily="34" charset="-120"/>
              </a:rPr>
              <a:t>Find an example that breaks it.</a:t>
            </a:r>
            <a:endParaRPr lang="en-US" sz="1400" dirty="0"/>
          </a:p>
        </p:txBody>
      </p:sp>
      <p:sp>
        <p:nvSpPr>
          <p:cNvPr id="12" name="Shape 9"/>
          <p:cNvSpPr/>
          <p:nvPr/>
        </p:nvSpPr>
        <p:spPr>
          <a:xfrm>
            <a:off x="7958617" y="2539963"/>
            <a:ext cx="3420549" cy="1150572"/>
          </a:xfrm>
          <a:prstGeom prst="roundRect">
            <a:avLst>
              <a:gd name="adj" fmla="val 8830"/>
            </a:avLst>
          </a:prstGeom>
          <a:solidFill>
            <a:srgbClr val="0B3042"/>
          </a:solidFill>
          <a:ln/>
        </p:spPr>
        <p:txBody>
          <a:bodyPr/>
          <a:lstStyle/>
          <a:p>
            <a:endParaRPr lang="en-US"/>
          </a:p>
        </p:txBody>
      </p:sp>
      <p:sp>
        <p:nvSpPr>
          <p:cNvPr id="13" name="Text 10"/>
          <p:cNvSpPr/>
          <p:nvPr/>
        </p:nvSpPr>
        <p:spPr>
          <a:xfrm>
            <a:off x="8161810" y="2743163"/>
            <a:ext cx="3104586" cy="431788"/>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9682C"/>
                </a:solidFill>
                <a:latin typeface="Oswald" pitchFamily="34" charset="0"/>
                <a:ea typeface="Oswald" pitchFamily="34" charset="-122"/>
                <a:cs typeface="Oswald" pitchFamily="34" charset="-120"/>
              </a:rPr>
              <a:t>3</a:t>
            </a:r>
            <a:endParaRPr lang="en-US" sz="3200" dirty="0"/>
          </a:p>
        </p:txBody>
      </p:sp>
      <p:sp>
        <p:nvSpPr>
          <p:cNvPr id="14" name="Text 11"/>
          <p:cNvSpPr/>
          <p:nvPr/>
        </p:nvSpPr>
        <p:spPr>
          <a:xfrm>
            <a:off x="8161810" y="3238426"/>
            <a:ext cx="3104586" cy="27432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EEF4"/>
                </a:solidFill>
                <a:latin typeface="Inter" pitchFamily="34" charset="0"/>
                <a:ea typeface="Inter" pitchFamily="34" charset="-122"/>
                <a:cs typeface="Inter" pitchFamily="34" charset="-120"/>
              </a:rPr>
              <a:t>Choose where its check must run.</a:t>
            </a:r>
            <a:endParaRPr lang="en-US" sz="1400" dirty="0"/>
          </a:p>
        </p:txBody>
      </p:sp>
      <p:sp>
        <p:nvSpPr>
          <p:cNvPr id="15" name="Text 12"/>
          <p:cNvSpPr/>
          <p:nvPr/>
        </p:nvSpPr>
        <p:spPr>
          <a:xfrm>
            <a:off x="812775" y="4825975"/>
            <a:ext cx="10883382" cy="327659"/>
          </a:xfrm>
          <a:prstGeom prst="rect">
            <a:avLst/>
          </a:prstGeom>
          <a:noFill/>
          <a:ln/>
        </p:spPr>
        <p:txBody>
          <a:bodyPr wrap="square" lIns="0" tIns="0" rIns="0" bIns="0" rtlCol="0" anchor="t">
            <a:normAutofit/>
          </a:bodyPr>
          <a:lstStyle/>
          <a:p>
            <a:pPr marL="0" indent="0" algn="l">
              <a:lnSpc>
                <a:spcPts val="2380"/>
              </a:lnSpc>
              <a:buNone/>
            </a:pP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
    <p:bg>
      <p:bgPr>
        <a:solidFill>
          <a:srgbClr val="000000"/>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83"/>
            <a:ext cx="1396977" cy="609581"/>
          </a:xfrm>
          <a:prstGeom prst="rect">
            <a:avLst/>
          </a:prstGeom>
        </p:spPr>
      </p:pic>
      <p:sp>
        <p:nvSpPr>
          <p:cNvPr id="3" name="Text 0"/>
          <p:cNvSpPr/>
          <p:nvPr/>
        </p:nvSpPr>
        <p:spPr>
          <a:xfrm>
            <a:off x="812775" y="812775"/>
            <a:ext cx="10883414" cy="238752"/>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C9682C"/>
                </a:solidFill>
                <a:latin typeface="Oswald" pitchFamily="34" charset="0"/>
                <a:ea typeface="Oswald" pitchFamily="34" charset="-122"/>
                <a:cs typeface="Oswald" pitchFamily="34" charset="-120"/>
              </a:rPr>
              <a:t>ONE LEVEL DOWN, ONE VERTICAL AT A TIME</a:t>
            </a:r>
            <a:endParaRPr lang="en-US" sz="1200" dirty="0"/>
          </a:p>
        </p:txBody>
      </p:sp>
      <p:sp>
        <p:nvSpPr>
          <p:cNvPr id="4" name="Text 1"/>
          <p:cNvSpPr>
            <a:spLocks noGrp="1"/>
          </p:cNvSpPr>
          <p:nvPr>
            <p:ph type="title"/>
          </p:nvPr>
        </p:nvSpPr>
        <p:spPr>
          <a:xfrm>
            <a:off x="812775" y="1102297"/>
            <a:ext cx="10883414" cy="1549369"/>
          </a:xfrm>
          <a:prstGeom prst="rect">
            <a:avLst/>
          </a:prstGeom>
          <a:noFill/>
          <a:ln/>
        </p:spPr>
        <p:txBody>
          <a:bodyPr wrap="square" lIns="0" tIns="0" rIns="0" bIns="0" rtlCol="0" anchor="t">
            <a:normAutofit/>
          </a:bodyPr>
          <a:lstStyle/>
          <a:p>
            <a:pPr marL="0" indent="0" algn="l">
              <a:lnSpc>
                <a:spcPts val="6000"/>
              </a:lnSpc>
              <a:buNone/>
            </a:pPr>
            <a:r>
              <a:rPr lang="en-US" sz="6000" b="1" i="0" dirty="0">
                <a:solidFill>
                  <a:srgbClr val="C9682C"/>
                </a:solidFill>
                <a:latin typeface="Oswald" pitchFamily="34" charset="0"/>
                <a:ea typeface="Oswald" pitchFamily="34" charset="-122"/>
                <a:cs typeface="Oswald" pitchFamily="34" charset="-120"/>
              </a:rPr>
              <a:t>HARD JOBS DESERVE</a:t>
            </a:r>
            <a:endParaRPr lang="en-US" sz="6000" dirty="0"/>
          </a:p>
          <a:p>
            <a:pPr marL="0" indent="0" algn="l">
              <a:lnSpc>
                <a:spcPts val="6000"/>
              </a:lnSpc>
              <a:buNone/>
            </a:pPr>
            <a:r>
              <a:rPr lang="en-US" sz="6000" b="1" i="0" dirty="0">
                <a:solidFill>
                  <a:srgbClr val="C9682C"/>
                </a:solidFill>
                <a:latin typeface="Oswald" pitchFamily="34" charset="0"/>
                <a:ea typeface="Oswald" pitchFamily="34" charset="-122"/>
                <a:cs typeface="Oswald" pitchFamily="34" charset="-120"/>
              </a:rPr>
              <a:t>BETTER TOOLS.</a:t>
            </a:r>
            <a:endParaRPr lang="en-US" sz="6000" dirty="0"/>
          </a:p>
        </p:txBody>
      </p:sp>
      <p:sp>
        <p:nvSpPr>
          <p:cNvPr id="101" name="Card 1 bg"/>
          <p:cNvSpPr/>
          <p:nvPr/>
        </p:nvSpPr>
        <p:spPr>
          <a:xfrm>
            <a:off x="812800" y="2860000"/>
            <a:ext cx="3384550" cy="2230000"/>
          </a:xfrm>
          <a:prstGeom prst="roundRect">
            <a:avLst>
              <a:gd name="adj" fmla="val 5052"/>
            </a:avLst>
          </a:prstGeom>
          <a:solidFill>
            <a:srgbClr val="0B3042"/>
          </a:solidFill>
          <a:ln/>
        </p:spPr>
        <p:txBody>
          <a:bodyPr/>
          <a:lstStyle/>
          <a:p>
            <a:endParaRPr lang="en-US"/>
          </a:p>
        </p:txBody>
      </p:sp>
      <p:sp>
        <p:nvSpPr>
          <p:cNvPr id="102" name="Card 1 bar"/>
          <p:cNvSpPr/>
          <p:nvPr/>
        </p:nvSpPr>
        <p:spPr>
          <a:xfrm>
            <a:off x="812800" y="2860000"/>
            <a:ext cx="3384550" cy="2230000"/>
          </a:xfrm>
          <a:custGeom>
            <a:avLst/>
            <a:gdLst/>
            <a:ahLst/>
            <a:cxnLst/>
            <a:rect l="l" t="t" r="r" b="b"/>
            <a:pathLst>
              <a:path w="2527295" h="2011087">
                <a:moveTo>
                  <a:pt x="0" y="101600"/>
                </a:moveTo>
                <a:lnTo>
                  <a:pt x="0" y="101600"/>
                </a:lnTo>
                <a:arcTo wR="101600" hR="101600" stAng="10800000" swAng="5400000"/>
                <a:lnTo>
                  <a:pt x="2425695" y="0"/>
                </a:lnTo>
                <a:arcTo wR="101600" hR="101600" stAng="16200000" swAng="5400000"/>
                <a:lnTo>
                  <a:pt x="2527295"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pic>
        <p:nvPicPr>
          <p:cNvPr id="103" name="Card 1 icon" descr="Water level gauge over waves"/>
          <p:cNvPicPr>
            <a:picLocks noChangeAspect="1"/>
          </p:cNvPicPr>
          <p:nvPr/>
        </p:nvPicPr>
        <p:blipFill>
          <a:blip r:embed="rId4"/>
          <a:stretch>
            <a:fillRect/>
          </a:stretch>
        </p:blipFill>
        <p:spPr>
          <a:xfrm>
            <a:off x="1066800" y="3114000"/>
            <a:ext cx="812800" cy="812800"/>
          </a:xfrm>
          <a:prstGeom prst="rect">
            <a:avLst/>
          </a:prstGeom>
        </p:spPr>
      </p:pic>
      <p:sp>
        <p:nvSpPr>
          <p:cNvPr id="104" name="TextBox 103"/>
          <p:cNvSpPr txBox="1"/>
          <p:nvPr/>
        </p:nvSpPr>
        <p:spPr>
          <a:xfrm>
            <a:off x="1066800" y="4066800"/>
            <a:ext cx="2876550" cy="330000"/>
          </a:xfrm>
          <a:prstGeom prst="rect">
            <a:avLst/>
          </a:prstGeom>
          <a:noFill/>
        </p:spPr>
        <p:txBody>
          <a:bodyPr wrap="square" lIns="0" tIns="0" rIns="0" bIns="0">
            <a:spAutoFit/>
          </a:bodyPr>
          <a:lstStyle/>
          <a:p>
            <a:r>
              <a:rPr sz="2000" spc="150">
                <a:solidFill>
                  <a:srgbClr val="E8EEF4"/>
                </a:solidFill>
                <a:latin typeface="Oswald"/>
                <a:ea typeface="Oswald"/>
                <a:cs typeface="Oswald"/>
              </a:rPr>
              <a:t>FLOOD MONITORING</a:t>
            </a:r>
          </a:p>
        </p:txBody>
      </p:sp>
      <p:sp>
        <p:nvSpPr>
          <p:cNvPr id="105" name="TextBox 104"/>
          <p:cNvSpPr txBox="1"/>
          <p:nvPr/>
        </p:nvSpPr>
        <p:spPr>
          <a:xfrm>
            <a:off x="1066800" y="4426800"/>
            <a:ext cx="2876550" cy="480000"/>
          </a:xfrm>
          <a:prstGeom prst="rect">
            <a:avLst/>
          </a:prstGeom>
          <a:noFill/>
        </p:spPr>
        <p:txBody>
          <a:bodyPr wrap="square" lIns="0" tIns="0" rIns="0" bIns="0">
            <a:spAutoFit/>
          </a:bodyPr>
          <a:lstStyle/>
          <a:p>
            <a:r>
              <a:rPr sz="1300">
                <a:solidFill>
                  <a:srgbClr val="B8C7D3"/>
                </a:solidFill>
                <a:latin typeface="Inter"/>
                <a:ea typeface="Inter"/>
                <a:cs typeface="Inter"/>
              </a:rPr>
              <a:t>Remote monitoring of equipment and dams.</a:t>
            </a:r>
          </a:p>
        </p:txBody>
      </p:sp>
      <p:sp>
        <p:nvSpPr>
          <p:cNvPr id="5" name="Card 2 bg"/>
          <p:cNvSpPr/>
          <p:nvPr/>
        </p:nvSpPr>
        <p:spPr>
          <a:xfrm>
            <a:off x="4400550" y="2860000"/>
            <a:ext cx="3384550" cy="2230000"/>
          </a:xfrm>
          <a:prstGeom prst="roundRect">
            <a:avLst>
              <a:gd name="adj" fmla="val 5052"/>
            </a:avLst>
          </a:prstGeom>
          <a:solidFill>
            <a:srgbClr val="0B3042"/>
          </a:solidFill>
          <a:ln/>
        </p:spPr>
        <p:txBody>
          <a:bodyPr/>
          <a:lstStyle/>
          <a:p>
            <a:endParaRPr lang="en-US"/>
          </a:p>
        </p:txBody>
      </p:sp>
      <p:sp>
        <p:nvSpPr>
          <p:cNvPr id="6" name="Card 2 bar"/>
          <p:cNvSpPr/>
          <p:nvPr/>
        </p:nvSpPr>
        <p:spPr>
          <a:xfrm>
            <a:off x="4400550" y="2860000"/>
            <a:ext cx="3384550" cy="2230000"/>
          </a:xfrm>
          <a:custGeom>
            <a:avLst/>
            <a:gdLst/>
            <a:ahLst/>
            <a:cxnLst/>
            <a:rect l="l" t="t" r="r" b="b"/>
            <a:pathLst>
              <a:path w="2527295" h="2011087">
                <a:moveTo>
                  <a:pt x="0" y="101600"/>
                </a:moveTo>
                <a:lnTo>
                  <a:pt x="0" y="101600"/>
                </a:lnTo>
                <a:arcTo wR="101600" hR="101600" stAng="10800000" swAng="5400000"/>
                <a:lnTo>
                  <a:pt x="2425695" y="0"/>
                </a:lnTo>
                <a:arcTo wR="101600" hR="101600" stAng="16200000" swAng="5400000"/>
                <a:lnTo>
                  <a:pt x="2527295"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pic>
        <p:nvPicPr>
          <p:cNvPr id="106" name="Card 2 icon" descr="Oil pump jack"/>
          <p:cNvPicPr>
            <a:picLocks noChangeAspect="1"/>
          </p:cNvPicPr>
          <p:nvPr/>
        </p:nvPicPr>
        <p:blipFill>
          <a:blip r:embed="rId5"/>
          <a:stretch>
            <a:fillRect/>
          </a:stretch>
        </p:blipFill>
        <p:spPr>
          <a:xfrm>
            <a:off x="4654550" y="3114000"/>
            <a:ext cx="812800" cy="812800"/>
          </a:xfrm>
          <a:prstGeom prst="rect">
            <a:avLst/>
          </a:prstGeom>
        </p:spPr>
      </p:pic>
      <p:sp>
        <p:nvSpPr>
          <p:cNvPr id="107" name="TextBox 106"/>
          <p:cNvSpPr txBox="1"/>
          <p:nvPr/>
        </p:nvSpPr>
        <p:spPr>
          <a:xfrm>
            <a:off x="4654550" y="4066800"/>
            <a:ext cx="2876550" cy="330000"/>
          </a:xfrm>
          <a:prstGeom prst="rect">
            <a:avLst/>
          </a:prstGeom>
          <a:noFill/>
        </p:spPr>
        <p:txBody>
          <a:bodyPr wrap="square" lIns="0" tIns="0" rIns="0" bIns="0">
            <a:spAutoFit/>
          </a:bodyPr>
          <a:lstStyle/>
          <a:p>
            <a:r>
              <a:rPr sz="2000" spc="150">
                <a:solidFill>
                  <a:srgbClr val="E8EEF4"/>
                </a:solidFill>
                <a:latin typeface="Oswald"/>
                <a:ea typeface="Oswald"/>
                <a:cs typeface="Oswald"/>
              </a:rPr>
              <a:t>OIL &amp; GAS</a:t>
            </a:r>
          </a:p>
        </p:txBody>
      </p:sp>
      <p:sp>
        <p:nvSpPr>
          <p:cNvPr id="108" name="TextBox 107"/>
          <p:cNvSpPr txBox="1"/>
          <p:nvPr/>
        </p:nvSpPr>
        <p:spPr>
          <a:xfrm>
            <a:off x="4654550" y="4426800"/>
            <a:ext cx="2876550" cy="600164"/>
          </a:xfrm>
          <a:prstGeom prst="rect">
            <a:avLst/>
          </a:prstGeom>
          <a:noFill/>
        </p:spPr>
        <p:txBody>
          <a:bodyPr wrap="square" lIns="0" tIns="0" rIns="0" bIns="0">
            <a:spAutoFit/>
          </a:bodyPr>
          <a:lstStyle/>
          <a:p>
            <a:r>
              <a:rPr sz="1300" dirty="0">
                <a:solidFill>
                  <a:srgbClr val="B8C7D3"/>
                </a:solidFill>
                <a:latin typeface="Inter"/>
                <a:ea typeface="Inter"/>
                <a:cs typeface="Inter"/>
              </a:rPr>
              <a:t>Land and </a:t>
            </a:r>
            <a:r>
              <a:rPr lang="en-US" sz="1300" dirty="0">
                <a:solidFill>
                  <a:srgbClr val="B8C7D3"/>
                </a:solidFill>
                <a:latin typeface="Inter"/>
                <a:ea typeface="Inter"/>
                <a:cs typeface="Inter"/>
              </a:rPr>
              <a:t>mineral rights, Drilling Engineering.</a:t>
            </a:r>
          </a:p>
          <a:p>
            <a:endParaRPr sz="1300" dirty="0">
              <a:solidFill>
                <a:srgbClr val="B8C7D3"/>
              </a:solidFill>
              <a:latin typeface="Inter"/>
              <a:ea typeface="Inter"/>
              <a:cs typeface="Inter"/>
            </a:endParaRPr>
          </a:p>
        </p:txBody>
      </p:sp>
      <p:sp>
        <p:nvSpPr>
          <p:cNvPr id="7" name="Card 3 bg"/>
          <p:cNvSpPr/>
          <p:nvPr/>
        </p:nvSpPr>
        <p:spPr>
          <a:xfrm>
            <a:off x="7988300" y="2860000"/>
            <a:ext cx="3384550" cy="2230000"/>
          </a:xfrm>
          <a:prstGeom prst="roundRect">
            <a:avLst>
              <a:gd name="adj" fmla="val 5052"/>
            </a:avLst>
          </a:prstGeom>
          <a:solidFill>
            <a:srgbClr val="0B3042"/>
          </a:solidFill>
          <a:ln/>
        </p:spPr>
        <p:txBody>
          <a:bodyPr/>
          <a:lstStyle/>
          <a:p>
            <a:endParaRPr lang="en-US"/>
          </a:p>
        </p:txBody>
      </p:sp>
      <p:sp>
        <p:nvSpPr>
          <p:cNvPr id="8" name="Card 3 bar"/>
          <p:cNvSpPr/>
          <p:nvPr/>
        </p:nvSpPr>
        <p:spPr>
          <a:xfrm>
            <a:off x="7988300" y="2860000"/>
            <a:ext cx="3384550" cy="2230000"/>
          </a:xfrm>
          <a:custGeom>
            <a:avLst/>
            <a:gdLst/>
            <a:ahLst/>
            <a:cxnLst/>
            <a:rect l="l" t="t" r="r" b="b"/>
            <a:pathLst>
              <a:path w="2527295" h="2011087">
                <a:moveTo>
                  <a:pt x="0" y="101600"/>
                </a:moveTo>
                <a:lnTo>
                  <a:pt x="0" y="101600"/>
                </a:lnTo>
                <a:arcTo wR="101600" hR="101600" stAng="10800000" swAng="5400000"/>
                <a:lnTo>
                  <a:pt x="2425695" y="0"/>
                </a:lnTo>
                <a:arcTo wR="101600" hR="101600" stAng="16200000" swAng="5400000"/>
                <a:lnTo>
                  <a:pt x="2527295" y="101600"/>
                </a:lnTo>
                <a:arcTo wR="101600" hR="50800" stAng="0" swAng="-5400000"/>
                <a:lnTo>
                  <a:pt x="101600" y="50800"/>
                </a:lnTo>
                <a:arcTo wR="101600" hR="50800" stAng="16200000" swAng="-5400000"/>
                <a:close/>
              </a:path>
            </a:pathLst>
          </a:custGeom>
          <a:solidFill>
            <a:srgbClr val="C9682C"/>
          </a:solidFill>
          <a:ln/>
        </p:spPr>
        <p:txBody>
          <a:bodyPr/>
          <a:lstStyle/>
          <a:p>
            <a:endParaRPr lang="en-US"/>
          </a:p>
        </p:txBody>
      </p:sp>
      <p:pic>
        <p:nvPicPr>
          <p:cNvPr id="109" name="Card 3 icon" descr="Graduation cap"/>
          <p:cNvPicPr>
            <a:picLocks noChangeAspect="1"/>
          </p:cNvPicPr>
          <p:nvPr/>
        </p:nvPicPr>
        <p:blipFill>
          <a:blip r:embed="rId6"/>
          <a:stretch>
            <a:fillRect/>
          </a:stretch>
        </p:blipFill>
        <p:spPr>
          <a:xfrm>
            <a:off x="8242300" y="3114000"/>
            <a:ext cx="812800" cy="812800"/>
          </a:xfrm>
          <a:prstGeom prst="rect">
            <a:avLst/>
          </a:prstGeom>
        </p:spPr>
      </p:pic>
      <p:sp>
        <p:nvSpPr>
          <p:cNvPr id="110" name="TextBox 109"/>
          <p:cNvSpPr txBox="1"/>
          <p:nvPr/>
        </p:nvSpPr>
        <p:spPr>
          <a:xfrm>
            <a:off x="8242300" y="4066800"/>
            <a:ext cx="2876550" cy="330000"/>
          </a:xfrm>
          <a:prstGeom prst="rect">
            <a:avLst/>
          </a:prstGeom>
          <a:noFill/>
        </p:spPr>
        <p:txBody>
          <a:bodyPr wrap="square" lIns="0" tIns="0" rIns="0" bIns="0">
            <a:spAutoFit/>
          </a:bodyPr>
          <a:lstStyle/>
          <a:p>
            <a:r>
              <a:rPr sz="2000" spc="150">
                <a:solidFill>
                  <a:srgbClr val="E8EEF4"/>
                </a:solidFill>
                <a:latin typeface="Oswald"/>
                <a:ea typeface="Oswald"/>
                <a:cs typeface="Oswald"/>
              </a:rPr>
              <a:t>HIGHER EDUCATION</a:t>
            </a:r>
          </a:p>
        </p:txBody>
      </p:sp>
      <p:sp>
        <p:nvSpPr>
          <p:cNvPr id="111" name="TextBox 110"/>
          <p:cNvSpPr txBox="1"/>
          <p:nvPr/>
        </p:nvSpPr>
        <p:spPr>
          <a:xfrm>
            <a:off x="8242300" y="4426800"/>
            <a:ext cx="2876550" cy="480000"/>
          </a:xfrm>
          <a:prstGeom prst="rect">
            <a:avLst/>
          </a:prstGeom>
          <a:noFill/>
        </p:spPr>
        <p:txBody>
          <a:bodyPr wrap="square" lIns="0" tIns="0" rIns="0" bIns="0">
            <a:spAutoFit/>
          </a:bodyPr>
          <a:lstStyle/>
          <a:p>
            <a:r>
              <a:rPr sz="1300">
                <a:solidFill>
                  <a:srgbClr val="B8C7D3"/>
                </a:solidFill>
                <a:latin typeface="Inter"/>
                <a:ea typeface="Inter"/>
                <a:cs typeface="Inter"/>
              </a:rPr>
              <a:t>Alumni outcomes analytics.</a:t>
            </a:r>
          </a:p>
        </p:txBody>
      </p:sp>
      <p:sp>
        <p:nvSpPr>
          <p:cNvPr id="14" name="Text 8"/>
          <p:cNvSpPr/>
          <p:nvPr/>
        </p:nvSpPr>
        <p:spPr>
          <a:xfrm>
            <a:off x="812775" y="5320000"/>
            <a:ext cx="10560050" cy="760000"/>
          </a:xfrm>
          <a:prstGeom prst="rect">
            <a:avLst/>
          </a:prstGeom>
          <a:noFill/>
          <a:ln/>
        </p:spPr>
        <p:txBody>
          <a:bodyPr wrap="square" lIns="0" tIns="0" rIns="0" bIns="0" rtlCol="0" anchor="t">
            <a:normAutofit/>
          </a:bodyPr>
          <a:lstStyle/>
          <a:p>
            <a:pPr marL="0" indent="0" algn="l">
              <a:lnSpc>
                <a:spcPts val="2520"/>
              </a:lnSpc>
              <a:buNone/>
            </a:pP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0B3042"/>
        </a:solidFill>
        <a:effectLst/>
      </p:bgPr>
    </p:bg>
    <p:spTree>
      <p:nvGrpSpPr>
        <p:cNvPr id="1" name=""/>
        <p:cNvGrpSpPr/>
        <p:nvPr/>
      </p:nvGrpSpPr>
      <p:grpSpPr>
        <a:xfrm>
          <a:off x="0" y="0"/>
          <a:ext cx="0" cy="0"/>
          <a:chOff x="0" y="0"/>
          <a:chExt cx="0" cy="0"/>
        </a:xfrm>
      </p:grpSpPr>
      <p:pic>
        <p:nvPicPr>
          <p:cNvPr id="2" name="Image 0" descr="ODSC AI West 2026"/>
          <p:cNvPicPr>
            <a:picLocks noChangeAspect="1"/>
          </p:cNvPicPr>
          <p:nvPr/>
        </p:nvPicPr>
        <p:blipFill>
          <a:blip r:embed="rId3"/>
          <a:srcRect l="-58" r="-58"/>
          <a:stretch/>
        </p:blipFill>
        <p:spPr>
          <a:xfrm>
            <a:off x="10413987" y="177775"/>
            <a:ext cx="1396977" cy="609581"/>
          </a:xfrm>
          <a:prstGeom prst="rect">
            <a:avLst/>
          </a:prstGeom>
        </p:spPr>
      </p:pic>
      <p:sp>
        <p:nvSpPr>
          <p:cNvPr id="3" name="Text 0"/>
          <p:cNvSpPr/>
          <p:nvPr/>
        </p:nvSpPr>
        <p:spPr>
          <a:xfrm>
            <a:off x="812775" y="812775"/>
            <a:ext cx="10883414" cy="274321"/>
          </a:xfrm>
          <a:prstGeom prst="rect">
            <a:avLst/>
          </a:prstGeom>
          <a:noFill/>
          <a:ln/>
        </p:spPr>
        <p:txBody>
          <a:bodyPr wrap="square" lIns="0" tIns="0" rIns="0" bIns="0" rtlCol="0" anchor="t">
            <a:normAutofit/>
          </a:bodyPr>
          <a:lstStyle/>
          <a:p>
            <a:pPr marL="0" indent="0" algn="l">
              <a:lnSpc>
                <a:spcPts val="1960"/>
              </a:lnSpc>
              <a:buNone/>
            </a:pPr>
            <a:r>
              <a:rPr lang="en-US" sz="1400" kern="0" spc="400" dirty="0">
                <a:solidFill>
                  <a:srgbClr val="C9682C"/>
                </a:solidFill>
                <a:latin typeface="Oswald" pitchFamily="34" charset="0"/>
                <a:ea typeface="Oswald" pitchFamily="34" charset="-122"/>
                <a:cs typeface="Oswald" pitchFamily="34" charset="-120"/>
              </a:rPr>
              <a:t>QUESTIONS AND DISCUSSION</a:t>
            </a:r>
            <a:endParaRPr lang="en-US" sz="1400" dirty="0"/>
          </a:p>
        </p:txBody>
      </p:sp>
      <p:sp>
        <p:nvSpPr>
          <p:cNvPr id="4" name="Text 1"/>
          <p:cNvSpPr>
            <a:spLocks noGrp="1"/>
          </p:cNvSpPr>
          <p:nvPr>
            <p:ph type="title"/>
          </p:nvPr>
        </p:nvSpPr>
        <p:spPr>
          <a:xfrm>
            <a:off x="812775" y="1239478"/>
            <a:ext cx="10883414" cy="1447788"/>
          </a:xfrm>
          <a:prstGeom prst="rect">
            <a:avLst/>
          </a:prstGeom>
          <a:noFill/>
          <a:ln/>
        </p:spPr>
        <p:txBody>
          <a:bodyPr wrap="square" lIns="0" tIns="0" rIns="0" bIns="0" rtlCol="0" anchor="t">
            <a:normAutofit/>
          </a:bodyPr>
          <a:lstStyle/>
          <a:p>
            <a:pPr marL="0" indent="0" algn="l">
              <a:lnSpc>
                <a:spcPts val="5600"/>
              </a:lnSpc>
              <a:buNone/>
            </a:pPr>
            <a:r>
              <a:rPr lang="en-US" sz="5600" b="1" i="0" dirty="0">
                <a:solidFill>
                  <a:srgbClr val="E8EEF4"/>
                </a:solidFill>
                <a:latin typeface="Oswald" pitchFamily="34" charset="0"/>
                <a:ea typeface="Oswald" pitchFamily="34" charset="-122"/>
                <a:cs typeface="Oswald" pitchFamily="34" charset="-120"/>
              </a:rPr>
              <a:t>LET’S TALK ABOUT</a:t>
            </a:r>
            <a:endParaRPr lang="en-US" sz="5600" dirty="0"/>
          </a:p>
          <a:p>
            <a:pPr marL="0" indent="0" algn="l">
              <a:lnSpc>
                <a:spcPts val="5600"/>
              </a:lnSpc>
              <a:buNone/>
            </a:pPr>
            <a:r>
              <a:rPr lang="en-US" sz="5600" b="1" i="0" dirty="0">
                <a:solidFill>
                  <a:srgbClr val="E8EEF4"/>
                </a:solidFill>
                <a:latin typeface="Oswald" pitchFamily="34" charset="0"/>
                <a:ea typeface="Oswald" pitchFamily="34" charset="-122"/>
                <a:cs typeface="Oswald" pitchFamily="34" charset="-120"/>
              </a:rPr>
              <a:t>YOUR DOMAIN.</a:t>
            </a:r>
            <a:endParaRPr lang="en-US" sz="5600" dirty="0"/>
          </a:p>
        </p:txBody>
      </p:sp>
      <p:sp>
        <p:nvSpPr>
          <p:cNvPr id="5" name="Text 2"/>
          <p:cNvSpPr/>
          <p:nvPr/>
        </p:nvSpPr>
        <p:spPr>
          <a:xfrm>
            <a:off x="812775" y="2839641"/>
            <a:ext cx="10883414" cy="665456"/>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8C7D3"/>
                </a:solidFill>
                <a:latin typeface="Inter" pitchFamily="34" charset="0"/>
                <a:ea typeface="Inter" pitchFamily="34" charset="-122"/>
                <a:cs typeface="Inter" pitchFamily="34" charset="-120"/>
              </a:rPr>
              <a:t>What do you keep correcting?</a:t>
            </a:r>
            <a:endParaRPr lang="en-US" sz="1800" dirty="0"/>
          </a:p>
          <a:p>
            <a:pPr marL="0" indent="0" algn="l">
              <a:lnSpc>
                <a:spcPts val="2520"/>
              </a:lnSpc>
              <a:buNone/>
            </a:pPr>
            <a:r>
              <a:rPr lang="en-US" sz="1800" dirty="0">
                <a:solidFill>
                  <a:srgbClr val="B8C7D3"/>
                </a:solidFill>
                <a:latin typeface="Inter" pitchFamily="34" charset="0"/>
                <a:ea typeface="Inter" pitchFamily="34" charset="-122"/>
                <a:cs typeface="Inter" pitchFamily="34" charset="-120"/>
              </a:rPr>
              <a:t>What would a useful gate look like?</a:t>
            </a:r>
            <a:endParaRPr lang="en-US" sz="1800" dirty="0"/>
          </a:p>
        </p:txBody>
      </p:sp>
      <p:sp>
        <p:nvSpPr>
          <p:cNvPr id="6" name="Text 3"/>
          <p:cNvSpPr/>
          <p:nvPr/>
        </p:nvSpPr>
        <p:spPr>
          <a:xfrm>
            <a:off x="812775" y="5077544"/>
            <a:ext cx="10883414" cy="345428"/>
          </a:xfrm>
          <a:prstGeom prst="rect">
            <a:avLst/>
          </a:prstGeom>
          <a:noFill/>
          <a:ln/>
        </p:spPr>
        <p:txBody>
          <a:bodyPr wrap="square" lIns="0" tIns="0" rIns="0" bIns="0" rtlCol="0" anchor="t">
            <a:normAutofit/>
          </a:bodyPr>
          <a:lstStyle/>
          <a:p>
            <a:pPr marL="0" indent="0" algn="l">
              <a:lnSpc>
                <a:spcPts val="2520"/>
              </a:lnSpc>
              <a:buNone/>
            </a:pPr>
            <a:r>
              <a:rPr lang="en-US" sz="1800" kern="0" spc="100" dirty="0">
                <a:solidFill>
                  <a:srgbClr val="E8EEF4"/>
                </a:solidFill>
                <a:latin typeface="Oswald" pitchFamily="34" charset="0"/>
                <a:ea typeface="Oswald" pitchFamily="34" charset="-122"/>
                <a:cs typeface="Oswald" pitchFamily="34" charset="-120"/>
              </a:rPr>
              <a:t>MICHAEL PORTER · MUDDY BOOTS CODE</a:t>
            </a:r>
            <a:endParaRPr lang="en-US" sz="1800" dirty="0"/>
          </a:p>
        </p:txBody>
      </p:sp>
      <p:sp>
        <p:nvSpPr>
          <p:cNvPr id="7" name="Text 4"/>
          <p:cNvSpPr/>
          <p:nvPr/>
        </p:nvSpPr>
        <p:spPr>
          <a:xfrm>
            <a:off x="812775" y="5575350"/>
            <a:ext cx="10883414" cy="29205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682C"/>
                </a:solidFill>
                <a:latin typeface="Inter" pitchFamily="34" charset="0"/>
                <a:ea typeface="Inter" pitchFamily="34" charset="-122"/>
                <a:cs typeface="Inter" pitchFamily="34" charset="-120"/>
              </a:rPr>
              <a:t>muddybootscode.io</a:t>
            </a:r>
            <a:endParaRPr lang="en-US" sz="1500" dirty="0"/>
          </a:p>
        </p:txBody>
      </p:sp>
    </p:spTree>
  </p:cSld>
  <p:clrMapOvr>
    <a:masterClrMapping/>
  </p:clrMapOvr>
</p:sld>
</file>

<file path=ppt/theme/theme1.xml><?xml version="1.0" encoding="utf-8"?>
<a:theme xmlns:a="http://schemas.openxmlformats.org/drawingml/2006/main" name="Context Is the Team — Workshop (V5)">
  <a:themeElements>
    <a:clrScheme name="Context Is the Team — Workshop (V5)">
      <a:dk1>
        <a:srgbClr val="000000"/>
      </a:dk1>
      <a:lt1>
        <a:srgbClr val="E8EEF4"/>
      </a:lt1>
      <a:dk2>
        <a:srgbClr val="171818"/>
      </a:dk2>
      <a:lt2>
        <a:srgbClr val="AEB3B7"/>
      </a:lt2>
      <a:accent1>
        <a:srgbClr val="C9682C"/>
      </a:accent1>
      <a:accent2>
        <a:srgbClr val="6E8597"/>
      </a:accent2>
      <a:accent3>
        <a:srgbClr val="0B3042"/>
      </a:accent3>
      <a:accent4>
        <a:srgbClr val="B8C7D3"/>
      </a:accent4>
      <a:accent5>
        <a:srgbClr val="0F1F2A"/>
      </a:accent5>
      <a:accent6>
        <a:srgbClr val="3A2419"/>
      </a:accent6>
      <a:hlink>
        <a:srgbClr val="0563C1"/>
      </a:hlink>
      <a:folHlink>
        <a:srgbClr val="954F72"/>
      </a:folHlink>
    </a:clrScheme>
    <a:fontScheme name="Context Is the Team — Workshop (V5)">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swal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1336</TotalTime>
  <Words>6577</Words>
  <Application>Microsoft Macintosh PowerPoint</Application>
  <PresentationFormat>Widescreen</PresentationFormat>
  <Paragraphs>376</Paragraphs>
  <Slides>28</Slides>
  <Notes>28</Notes>
  <HiddenSlides>3</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JetBrains Mono</vt:lpstr>
      <vt:lpstr>Oswald</vt:lpstr>
      <vt:lpstr>Inter</vt:lpstr>
      <vt:lpstr>Arial</vt:lpstr>
      <vt:lpstr>Context Is the Team — Workshop (V5)</vt:lpstr>
      <vt:lpstr>PowerPoint Presentation</vt:lpstr>
      <vt:lpstr>HOW MUCH WARNING DO WE HAVE?</vt:lpstr>
      <vt:lpstr>THE LANGUAGE OF FLOOD MANAGEMENT</vt:lpstr>
      <vt:lpstr>THE LANGUAGE OF FLOOD MANAGEMENT</vt:lpstr>
      <vt:lpstr>SAME READING. TWO ANSWERS.</vt:lpstr>
      <vt:lpstr>THE FIELD TAUGHT ME THE PROBLEM. THE CODE CAME LATER.</vt:lpstr>
      <vt:lpstr>CRAYONS AND GLUE</vt:lpstr>
      <vt:lpstr>CONTEXT IS THE TEAM.</vt:lpstr>
      <vt:lpstr>I KEPT CORRECTING. I THOUGHT IT WAS MEMORY.</vt:lpstr>
      <vt:lpstr>THE LANDMAN’S GRAPH</vt:lpstr>
      <vt:lpstr>THIS IS A LOT TO KEEP STRAIGHT.</vt:lpstr>
      <vt:lpstr>THE LANDMAN’S LANGUAGE</vt:lpstr>
      <vt:lpstr>THE LANGUAGE BECOMES SHARED CONTEXT.</vt:lpstr>
      <vt:lpstr>HOLD THE MODEL TO IT.</vt:lpstr>
      <vt:lpstr>EVEN THE SMARTEST PEOPLE MAKE MISTAKES.</vt:lpstr>
      <vt:lpstr>A WELL IS A SERIES OF HOLES.</vt:lpstr>
      <vt:lpstr>ONTOLOGY-DRIVEN DEVELOPMENT</vt:lpstr>
      <vt:lpstr>HOW A CHANGE FINDS ITS RULE</vt:lpstr>
      <vt:lpstr>ANATOMY OF AN ONTOLOGY FILE</vt:lpstr>
      <vt:lpstr>A DOMAIN RULE IN A UNIT TEST</vt:lpstr>
      <vt:lpstr>THREE MOMENTS THE MODEL IS HELD TO IT</vt:lpstr>
      <vt:lpstr>WHAT THE MODEL SEES WHEN IT’S WRONG</vt:lpstr>
      <vt:lpstr>WHAT ACTUALLY PROTECTED THE RULE?</vt:lpstr>
      <vt:lpstr>THE CHECK INSIDE CLAUDE CODE</vt:lpstr>
      <vt:lpstr>CONTEXT IS THE TEAM.</vt:lpstr>
      <vt:lpstr>ONE REPEATED CORRECTION</vt:lpstr>
      <vt:lpstr>HARD JOBS DESERVE BETTER TOOLS.</vt:lpstr>
      <vt:lpstr>LET’S TALK ABOUT YOUR DOMAIN.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Is the Team — Workshop (V5)</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muddybootscode</cp:lastModifiedBy>
  <cp:revision>22</cp:revision>
  <dcterms:created xsi:type="dcterms:W3CDTF">2026-10-27T13:20:58Z</dcterms:created>
  <dcterms:modified xsi:type="dcterms:W3CDTF">2026-10-29T12:35:07Z</dcterms:modified>
</cp:coreProperties>
</file>